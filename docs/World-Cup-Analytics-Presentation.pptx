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app already running, not with this slide.
One line: I built an analytics platform over 49,547 real international football matches from 1872 to 2026. It analyses every World Cup, ranks all 337 national teams using an Elo rating engine I implemented, and predicts match outcomes at 60% accuracy against a held-out test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is the foundation, so I checked it before building anything. I picked three finals I already knew and confirmed the archive had them right — including 2022, which was a 3-3 draw decided on penalties, so it tests that the shootout table is wired up correctly too.
Source: martj42/international_results, a public archive. Credited in the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tiers. The ETL is offline and does the heavy lifting once. The service layer holds all the analysis. The routes only gather and render.
The rule about layering is not decoration — it is what makes the project testable. Because elo.py takes numbers and returns numbers, I can test the most important logic in the project without spinning up a database or a web server. That is why 40 of my 91 tests run on a fresh checkout before the database even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`python -m app.etl` live here. It takes five seconds and prints each stage, including the model evaluation.
The 1950 bug is the best answer you can give to "what was the hardest problem". It shows you validated against reality rather than trusting your own code, and that you turned the fix into a regression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no ORM? Because in this project the queries are the analysis. An ORM would hide the most interesting code behind generated SQL, and add a dependency I would then have to explain.
Why SQLite? 13 MB, single user, ships with Python, and the whole database is one file. A server would add operational cost for zero benefit. If this became multi-user with concurrent writes, Postgres would be the move.
The view is the neatest trick in the schema — point at how short team_record ends up being.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the two formulas on the board if you can.
E is what the ratings expected, S is what happened, and the rating moves by the difference. Beat a much stronger side and you gain a lot; beat a much weaker one and you gain almost nothing.
The 400 is the defining constant of Elo: a 400-point gap means ten-to-one odds. I have a unit test that asserts exactly that property, rather than testing a hard-coded number.
Good sanity check to mention: Germany's peak rating lands on the day of the 2014 final. Nobody told the model that was an important match — it fell out of the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question you are most likely to be asked, so have the answer ready.
Elo gives one number, E, which blends wins and draws. To get three probabilities I need to know how often draws happen. Rather than assume a fixed 25%, I measured it: because I stored each team's rating as it stood before every match, I could bucket all 49,000 matches by the rating gap at kick-off and count the real draw rate in each bucket.
Then, since E equals P(win) plus half of P(draw), the algebra gives me the other two.
The chart is a genuine finding, not decoration: draw rate falls from 27% to under 2% as the mismatch grows.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two panels are what turn a toy into something defensible.
Tuning: I did not guess the constants. The script sweeps 96 combinations, replays the full history for each, and scores them on held-out matches. Be honest that the first hand-picked value was bad — it shows you validated.
Evaluation: the draw model is fitted only on pre-2015 matches and scored on the 11,130 since. 60.1% against a 47.7% baseline.
If asked what a Brier score is: the mean squared error of the probabilities. Say 70% and it happens, you are penalised 0.09; say 70% and it does not, 0.49. It rewards being confident AND right. Uninformed guessing is 0.667; mine is 0.516.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order: dashboard, then a team page (Argentina is good — peak on the day they won in 2022), then the predictor, then curl the API, then run the tests.
On the predictor page, point at the 'How this number is produced' panel. Showing the model's own accuracy inside the product, rather than hiding it in a report, is a deliberate choice — anyone using it can see how much to trust it.
Why server-rendered rather than React: these pages are documents, not an application. No build step means no node_modules and nothing to break in a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pyramid shape is a consequence of the architecture, not an accident: because the rating engine is pure, the cheapest tests cover the riskiest code.
Techniques used, if asked: equivalence partitioning on match outcomes, boundary values at bucket edges 0/49/50, property-based reasoning for symmetry and zero-sum, regression testing for the 1950 champion, negative testing for unknown teams and missing parameters.
The hindsight test is worth calling out explicitly — it is the difference between an honest 60% and a meaningless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goals chart to make one point: football genuinely changed. 1954 averaged 5.38 goals a match — the highest ever. Nothing since 1962 has reached 3.0.
The host advantage number is the one that justifies a design decision: 61% against 37% is exactly why the Elo model carries a home-advantage term. The data motivated the model, not the other way round.
The draw-rate finding is the same story — I did not assume a draw model, the data told me what it should 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volunteering the limits — it reads as confidence, not weakness.
The key line: Elo uses only results. No squad strength, no injuries, no rest days. That is precisely why 60% is the realistic ceiling and why a model claiming 90% would be a model with a bug.
If asked whether the work is your own: Elo is a published rating system from chess. The implementation, the tournament weighting, the margin cap, the calibrated draw model, the hyper-parameter search and the evaluation methodology are all mine — about 200 lines across elo.py, predictor.py and tune_elo.py.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p:bgPr>
    </p:bg>
    <p:spTree>
      <p:nvGrpSpPr>
        <p:cNvPr id="1" name=""/>
        <p:cNvGrpSpPr/>
        <p:nvPr/>
      </p:nvGrpSpPr>
      <p:grpSpPr>
        <a:xfrm>
          <a:off x="0" y="0"/>
          <a:ext cx="0" cy="0"/>
          <a:chOff x="0" y="0"/>
          <a:chExt cx="0" cy="0"/>
        </a:xfrm>
      </p:grpSpPr>
      <p:sp>
        <p:nvSpPr>
          <p:cNvPr id="2" name="Text 0"/>
          <p:cNvSpPr txBox="1"/>
          <p:nvPr/>
        </p:nvSpPr>
        <p:spPr>
          <a:xfrm>
            <a:off x="640080" y="1051560"/>
            <a:ext cx="5669280" cy="274320"/>
          </a:xfrm>
          <a:prstGeom prst="rect">
            <a:avLst/>
          </a:prstGeom>
          <a:noFill/>
          <a:ln/>
        </p:spPr>
        <p:txBody>
          <a:bodyPr wrap="square" lIns="0" tIns="0" rIns="0" bIns="0" rtlCol="0" anchor="ctr"/>
          <a:lstStyle/>
          <a:p>
            <a:pPr indent="0" marL="0">
              <a:buNone/>
            </a:pPr>
            <a:r>
              <a:rPr lang="en-US" sz="1150" b="1" spc="220" kern="0" dirty="0">
                <a:solidFill>
                  <a:srgbClr val="2DD4A7"/>
                </a:solidFill>
                <a:latin typeface="Calibri" pitchFamily="34" charset="0"/>
                <a:ea typeface="Calibri" pitchFamily="34" charset="-122"/>
                <a:cs typeface="Calibri" pitchFamily="34" charset="-120"/>
              </a:rPr>
              <a:t>SOFTWARE ENGINEERING  ·  PROJECT #11</a:t>
            </a:r>
            <a:endParaRPr lang="en-US" sz="1150" dirty="0"/>
          </a:p>
        </p:txBody>
      </p:sp>
      <p:sp>
        <p:nvSpPr>
          <p:cNvPr id="3" name="Text 1"/>
          <p:cNvSpPr txBox="1"/>
          <p:nvPr/>
        </p:nvSpPr>
        <p:spPr>
          <a:xfrm>
            <a:off x="640080" y="1371600"/>
            <a:ext cx="5669280" cy="1737360"/>
          </a:xfrm>
          <a:prstGeom prst="rect">
            <a:avLst/>
          </a:prstGeom>
          <a:noFill/>
          <a:ln/>
        </p:spPr>
        <p:txBody>
          <a:bodyPr wrap="square" lIns="0" tIns="0" rIns="0" bIns="0" rtlCol="0" anchor="ctr"/>
          <a:lstStyle/>
          <a:p>
            <a:pPr indent="0" marL="0">
              <a:lnSpc>
                <a:spcPct val="92000"/>
              </a:lnSpc>
              <a:buNone/>
            </a:pPr>
            <a:r>
              <a:rPr lang="en-US" sz="5000" b="1" dirty="0">
                <a:solidFill>
                  <a:srgbClr val="E6EDF3"/>
                </a:solidFill>
                <a:latin typeface="Arial" pitchFamily="34" charset="0"/>
                <a:ea typeface="Arial" pitchFamily="34" charset="-122"/>
                <a:cs typeface="Arial" pitchFamily="34" charset="-120"/>
              </a:rPr>
              <a:t>World Cup</a:t>
            </a:r>
            <a:endParaRPr lang="en-US" sz="5000" dirty="0"/>
          </a:p>
          <a:p>
            <a:pPr indent="0" marL="0">
              <a:lnSpc>
                <a:spcPct val="92000"/>
              </a:lnSpc>
              <a:buNone/>
            </a:pPr>
            <a:r>
              <a:rPr lang="en-US" sz="5000" b="1" dirty="0">
                <a:solidFill>
                  <a:srgbClr val="E6EDF3"/>
                </a:solidFill>
                <a:latin typeface="Arial" pitchFamily="34" charset="0"/>
                <a:ea typeface="Arial" pitchFamily="34" charset="-122"/>
                <a:cs typeface="Arial" pitchFamily="34" charset="-120"/>
              </a:rPr>
              <a:t>Analytics</a:t>
            </a:r>
            <a:endParaRPr lang="en-US" sz="5000" dirty="0"/>
          </a:p>
        </p:txBody>
      </p:sp>
      <p:sp>
        <p:nvSpPr>
          <p:cNvPr id="4" name="Text 2"/>
          <p:cNvSpPr txBox="1"/>
          <p:nvPr/>
        </p:nvSpPr>
        <p:spPr>
          <a:xfrm>
            <a:off x="640080" y="3200400"/>
            <a:ext cx="5394960" cy="868680"/>
          </a:xfrm>
          <a:prstGeom prst="rect">
            <a:avLst/>
          </a:prstGeom>
          <a:noFill/>
          <a:ln/>
        </p:spPr>
        <p:txBody>
          <a:bodyPr wrap="square" lIns="0" tIns="0" rIns="0" bIns="0" rtlCol="0" anchor="ctr"/>
          <a:lstStyle/>
          <a:p>
            <a:pPr indent="0" marL="0">
              <a:lnSpc>
                <a:spcPct val="120000"/>
              </a:lnSpc>
              <a:buNone/>
            </a:pPr>
            <a:r>
              <a:rPr lang="en-US" sz="1500" dirty="0">
                <a:solidFill>
                  <a:srgbClr val="8B98A9"/>
                </a:solidFill>
                <a:latin typeface="Calibri" pitchFamily="34" charset="0"/>
                <a:ea typeface="Calibri" pitchFamily="34" charset="-122"/>
                <a:cs typeface="Calibri" pitchFamily="34" charset="-120"/>
              </a:rPr>
              <a:t>An Elo rating engine and match predictor built over 49,547 international football matches played between 1872 and 2026.</a:t>
            </a:r>
            <a:endParaRPr lang="en-US" sz="1500" dirty="0"/>
          </a:p>
        </p:txBody>
      </p:sp>
      <p:sp>
        <p:nvSpPr>
          <p:cNvPr id="5" name="Text 3"/>
          <p:cNvSpPr txBox="1"/>
          <p:nvPr/>
        </p:nvSpPr>
        <p:spPr>
          <a:xfrm>
            <a:off x="640080" y="4315968"/>
            <a:ext cx="1737360" cy="475488"/>
          </a:xfrm>
          <a:prstGeom prst="rect">
            <a:avLst/>
          </a:prstGeom>
          <a:noFill/>
          <a:ln/>
        </p:spPr>
        <p:txBody>
          <a:bodyPr wrap="square" lIns="0" tIns="0" rIns="0" bIns="0" rtlCol="0" anchor="ctr"/>
          <a:lstStyle/>
          <a:p>
            <a:pPr indent="0" marL="0">
              <a:buNone/>
            </a:pPr>
            <a:r>
              <a:rPr lang="en-US" sz="2600" b="1" dirty="0">
                <a:solidFill>
                  <a:srgbClr val="2DD4A7"/>
                </a:solidFill>
                <a:latin typeface="Arial" pitchFamily="34" charset="0"/>
                <a:ea typeface="Arial" pitchFamily="34" charset="-122"/>
                <a:cs typeface="Arial" pitchFamily="34" charset="-120"/>
              </a:rPr>
              <a:t>49,547</a:t>
            </a:r>
            <a:endParaRPr lang="en-US" sz="2600" dirty="0"/>
          </a:p>
        </p:txBody>
      </p:sp>
      <p:sp>
        <p:nvSpPr>
          <p:cNvPr id="6" name="Text 4"/>
          <p:cNvSpPr txBox="1"/>
          <p:nvPr/>
        </p:nvSpPr>
        <p:spPr>
          <a:xfrm>
            <a:off x="640080" y="4791456"/>
            <a:ext cx="1737360" cy="237744"/>
          </a:xfrm>
          <a:prstGeom prst="rect">
            <a:avLst/>
          </a:prstGeom>
          <a:noFill/>
          <a:ln/>
        </p:spPr>
        <p:txBody>
          <a:bodyPr wrap="square" lIns="0" tIns="0" rIns="0" bIns="0" rtlCol="0" anchor="ctr"/>
          <a:lstStyle/>
          <a:p>
            <a:pPr indent="0" marL="0">
              <a:buNone/>
            </a:pPr>
            <a:r>
              <a:rPr lang="en-US" sz="1050" b="1" spc="110" kern="0" dirty="0">
                <a:solidFill>
                  <a:srgbClr val="8B98A9"/>
                </a:solidFill>
                <a:latin typeface="Calibri" pitchFamily="34" charset="0"/>
                <a:ea typeface="Calibri" pitchFamily="34" charset="-122"/>
                <a:cs typeface="Calibri" pitchFamily="34" charset="-120"/>
              </a:rPr>
              <a:t>MATCHES</a:t>
            </a:r>
            <a:endParaRPr lang="en-US" sz="1050" dirty="0"/>
          </a:p>
        </p:txBody>
      </p:sp>
      <p:sp>
        <p:nvSpPr>
          <p:cNvPr id="7" name="Text 5"/>
          <p:cNvSpPr txBox="1"/>
          <p:nvPr/>
        </p:nvSpPr>
        <p:spPr>
          <a:xfrm>
            <a:off x="2514600" y="4315968"/>
            <a:ext cx="1737360" cy="475488"/>
          </a:xfrm>
          <a:prstGeom prst="rect">
            <a:avLst/>
          </a:prstGeom>
          <a:noFill/>
          <a:ln/>
        </p:spPr>
        <p:txBody>
          <a:bodyPr wrap="square" lIns="0" tIns="0" rIns="0" bIns="0" rtlCol="0" anchor="ctr"/>
          <a:lstStyle/>
          <a:p>
            <a:pPr indent="0" marL="0">
              <a:buNone/>
            </a:pPr>
            <a:r>
              <a:rPr lang="en-US" sz="2600" b="1" dirty="0">
                <a:solidFill>
                  <a:srgbClr val="F5C451"/>
                </a:solidFill>
                <a:latin typeface="Arial" pitchFamily="34" charset="0"/>
                <a:ea typeface="Arial" pitchFamily="34" charset="-122"/>
                <a:cs typeface="Arial" pitchFamily="34" charset="-120"/>
              </a:rPr>
              <a:t>60.1%</a:t>
            </a:r>
            <a:endParaRPr lang="en-US" sz="2600" dirty="0"/>
          </a:p>
        </p:txBody>
      </p:sp>
      <p:sp>
        <p:nvSpPr>
          <p:cNvPr id="8" name="Text 6"/>
          <p:cNvSpPr txBox="1"/>
          <p:nvPr/>
        </p:nvSpPr>
        <p:spPr>
          <a:xfrm>
            <a:off x="2514600" y="4791456"/>
            <a:ext cx="1737360" cy="237744"/>
          </a:xfrm>
          <a:prstGeom prst="rect">
            <a:avLst/>
          </a:prstGeom>
          <a:noFill/>
          <a:ln/>
        </p:spPr>
        <p:txBody>
          <a:bodyPr wrap="square" lIns="0" tIns="0" rIns="0" bIns="0" rtlCol="0" anchor="ctr"/>
          <a:lstStyle/>
          <a:p>
            <a:pPr indent="0" marL="0">
              <a:buNone/>
            </a:pPr>
            <a:r>
              <a:rPr lang="en-US" sz="1050" b="1" spc="110" kern="0" dirty="0">
                <a:solidFill>
                  <a:srgbClr val="8B98A9"/>
                </a:solidFill>
                <a:latin typeface="Calibri" pitchFamily="34" charset="0"/>
                <a:ea typeface="Calibri" pitchFamily="34" charset="-122"/>
                <a:cs typeface="Calibri" pitchFamily="34" charset="-120"/>
              </a:rPr>
              <a:t>ACCURACY</a:t>
            </a:r>
            <a:endParaRPr lang="en-US" sz="1050" dirty="0"/>
          </a:p>
        </p:txBody>
      </p:sp>
      <p:sp>
        <p:nvSpPr>
          <p:cNvPr id="9" name="Text 7"/>
          <p:cNvSpPr txBox="1"/>
          <p:nvPr/>
        </p:nvSpPr>
        <p:spPr>
          <a:xfrm>
            <a:off x="4389120" y="4315968"/>
            <a:ext cx="1737360" cy="475488"/>
          </a:xfrm>
          <a:prstGeom prst="rect">
            <a:avLst/>
          </a:prstGeom>
          <a:noFill/>
          <a:ln/>
        </p:spPr>
        <p:txBody>
          <a:bodyPr wrap="square" lIns="0" tIns="0" rIns="0" bIns="0" rtlCol="0" anchor="ctr"/>
          <a:lstStyle/>
          <a:p>
            <a:pPr indent="0" marL="0">
              <a:buNone/>
            </a:pPr>
            <a:r>
              <a:rPr lang="en-US" sz="2600" b="1" dirty="0">
                <a:solidFill>
                  <a:srgbClr val="E6EDF3"/>
                </a:solidFill>
                <a:latin typeface="Arial" pitchFamily="34" charset="0"/>
                <a:ea typeface="Arial" pitchFamily="34" charset="-122"/>
                <a:cs typeface="Arial" pitchFamily="34" charset="-120"/>
              </a:rPr>
              <a:t>91</a:t>
            </a:r>
            <a:endParaRPr lang="en-US" sz="2600" dirty="0"/>
          </a:p>
        </p:txBody>
      </p:sp>
      <p:sp>
        <p:nvSpPr>
          <p:cNvPr id="10" name="Text 8"/>
          <p:cNvSpPr txBox="1"/>
          <p:nvPr/>
        </p:nvSpPr>
        <p:spPr>
          <a:xfrm>
            <a:off x="4389120" y="4791456"/>
            <a:ext cx="1737360" cy="237744"/>
          </a:xfrm>
          <a:prstGeom prst="rect">
            <a:avLst/>
          </a:prstGeom>
          <a:noFill/>
          <a:ln/>
        </p:spPr>
        <p:txBody>
          <a:bodyPr wrap="square" lIns="0" tIns="0" rIns="0" bIns="0" rtlCol="0" anchor="ctr"/>
          <a:lstStyle/>
          <a:p>
            <a:pPr indent="0" marL="0">
              <a:buNone/>
            </a:pPr>
            <a:r>
              <a:rPr lang="en-US" sz="1050" b="1" spc="110" kern="0" dirty="0">
                <a:solidFill>
                  <a:srgbClr val="8B98A9"/>
                </a:solidFill>
                <a:latin typeface="Calibri" pitchFamily="34" charset="0"/>
                <a:ea typeface="Calibri" pitchFamily="34" charset="-122"/>
                <a:cs typeface="Calibri" pitchFamily="34" charset="-120"/>
              </a:rPr>
              <a:t>TESTS</a:t>
            </a:r>
            <a:endParaRPr lang="en-US" sz="1050" dirty="0"/>
          </a:p>
        </p:txBody>
      </p:sp>
      <p:sp>
        <p:nvSpPr>
          <p:cNvPr id="11" name="Text 9"/>
          <p:cNvSpPr txBox="1"/>
          <p:nvPr/>
        </p:nvSpPr>
        <p:spPr>
          <a:xfrm>
            <a:off x="640080" y="5806440"/>
            <a:ext cx="5669280" cy="274320"/>
          </a:xfrm>
          <a:prstGeom prst="rect">
            <a:avLst/>
          </a:prstGeom>
          <a:noFill/>
          <a:ln/>
        </p:spPr>
        <p:txBody>
          <a:bodyPr wrap="square" lIns="0" tIns="0" rIns="0" bIns="0" rtlCol="0" anchor="ctr"/>
          <a:lstStyle/>
          <a:p>
            <a:pPr indent="0" marL="0">
              <a:buNone/>
            </a:pPr>
            <a:r>
              <a:rPr lang="en-US" sz="1250" dirty="0">
                <a:solidFill>
                  <a:srgbClr val="6B7A8C"/>
                </a:solidFill>
                <a:latin typeface="Calibri" pitchFamily="34" charset="0"/>
                <a:ea typeface="Calibri" pitchFamily="34" charset="-122"/>
                <a:cs typeface="Calibri" pitchFamily="34" charset="-120"/>
              </a:rPr>
              <a:t>Mohammed Majeed Khan   ·   SE23UMCS071</a:t>
            </a:r>
            <a:endParaRPr lang="en-US" sz="1250" dirty="0"/>
          </a:p>
        </p:txBody>
      </p:sp>
      <p:sp>
        <p:nvSpPr>
          <p:cNvPr id="12" name="Text 10"/>
          <p:cNvSpPr txBox="1"/>
          <p:nvPr/>
        </p:nvSpPr>
        <p:spPr>
          <a:xfrm>
            <a:off x="640080" y="6089904"/>
            <a:ext cx="5669280" cy="274320"/>
          </a:xfrm>
          <a:prstGeom prst="rect">
            <a:avLst/>
          </a:prstGeom>
          <a:noFill/>
          <a:ln/>
        </p:spPr>
        <p:txBody>
          <a:bodyPr wrap="square" lIns="0" tIns="0" rIns="0" bIns="0" rtlCol="0" anchor="ctr"/>
          <a:lstStyle/>
          <a:p>
            <a:pPr indent="0" marL="0">
              <a:buNone/>
            </a:pPr>
            <a:r>
              <a:rPr lang="en-US" sz="1050" dirty="0">
                <a:solidFill>
                  <a:srgbClr val="2DD4A7"/>
                </a:solidFill>
                <a:latin typeface="Courier New" pitchFamily="34" charset="0"/>
                <a:ea typeface="Courier New" pitchFamily="34" charset="-122"/>
                <a:cs typeface="Courier New" pitchFamily="34" charset="-120"/>
              </a:rPr>
              <a:t>github.com/Majeedkhan05/world-cup-analytics</a:t>
            </a:r>
            <a:endParaRPr lang="en-US" sz="1050" dirty="0"/>
          </a:p>
        </p:txBody>
      </p:sp>
      <p:pic>
        <p:nvPicPr>
          <p:cNvPr id="13" name="Image 0" descr="/private/tmp/claude-501/-Users-majeedkhan2005-SWE-Endsem-Project/f280e148-7bbf-440e-bf6e-8ea00252318d/scratchpad/shots/dashboard.png">    </p:cNvPr>
          <p:cNvPicPr>
            <a:picLocks noChangeAspect="1"/>
          </p:cNvPicPr>
          <p:nvPr/>
        </p:nvPicPr>
        <p:blipFill>
          <a:blip r:embed="rId1"/>
          <a:stretch>
            <a:fillRect/>
          </a:stretch>
        </p:blipFill>
        <p:spPr>
          <a:xfrm>
            <a:off x="6537960" y="1051560"/>
            <a:ext cx="5029200" cy="3666744"/>
          </a:xfrm>
          <a:prstGeom prst="rect">
            <a:avLst/>
          </a:prstGeom>
          <a:effectLst>
            <a:outerShdw sx="100000" sy="100000" kx="0" ky="0" algn="bl" rotWithShape="0" blurRad="279400" dist="76200" dir="5400000">
              <a:srgbClr val="000000">
                <a:alpha val="55000"/>
              </a:srgbClr>
            </a:outerShdw>
          </a:effectLst>
        </p:spPr>
      </p:pic>
      <p:sp>
        <p:nvSpPr>
          <p:cNvPr id="14" name="Text 11"/>
          <p:cNvSpPr txBox="1"/>
          <p:nvPr/>
        </p:nvSpPr>
        <p:spPr>
          <a:xfrm>
            <a:off x="6537960" y="4828032"/>
            <a:ext cx="5029200" cy="274320"/>
          </a:xfrm>
          <a:prstGeom prst="rect">
            <a:avLst/>
          </a:prstGeom>
          <a:noFill/>
          <a:ln/>
        </p:spPr>
        <p:txBody>
          <a:bodyPr wrap="square" lIns="0" tIns="0" rIns="0" bIns="0" rtlCol="0" anchor="ctr"/>
          <a:lstStyle/>
          <a:p>
            <a:pPr indent="0" marL="0">
              <a:buNone/>
            </a:pPr>
            <a:r>
              <a:rPr lang="en-US" sz="1050" i="1" dirty="0">
                <a:solidFill>
                  <a:srgbClr val="6B7A8C"/>
                </a:solidFill>
                <a:latin typeface="Calibri" pitchFamily="34" charset="0"/>
                <a:ea typeface="Calibri" pitchFamily="34" charset="-122"/>
                <a:cs typeface="Calibri" pitchFamily="34" charset="-120"/>
              </a:rPr>
              <a:t>The dashboard: 23 World Cups, 1,068 matches, 3,028 goals</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117"/>
        </a:solidFill>
      </p:bgPr>
    </p:bg>
    <p:spTree>
      <p:nvGrpSpPr>
        <p:cNvPr id="1" name=""/>
        <p:cNvGrpSpPr/>
        <p:nvPr/>
      </p:nvGrpSpPr>
      <p:grpSpPr>
        <a:xfrm>
          <a:off x="0" y="0"/>
          <a:ext cx="0" cy="0"/>
          <a:chOff x="0" y="0"/>
          <a:chExt cx="0" cy="0"/>
        </a:xfrm>
      </p:grpSpPr>
      <p:sp>
        <p:nvSpPr>
          <p:cNvPr id="2" name="Text 0"/>
          <p:cNvSpPr txBox="1"/>
          <p:nvPr/>
        </p:nvSpPr>
        <p:spPr>
          <a:xfrm>
            <a:off x="640080" y="384048"/>
            <a:ext cx="10058400" cy="256032"/>
          </a:xfrm>
          <a:prstGeom prst="rect">
            <a:avLst/>
          </a:prstGeom>
          <a:noFill/>
          <a:ln/>
        </p:spPr>
        <p:txBody>
          <a:bodyPr wrap="square" lIns="0" tIns="0" rIns="0" bIns="0" rtlCol="0" anchor="ctr"/>
          <a:lstStyle/>
          <a:p>
            <a:pPr indent="0" marL="0">
              <a:buNone/>
            </a:pPr>
            <a:r>
              <a:rPr lang="en-US" sz="1100" b="1" spc="200" kern="0" dirty="0">
                <a:solidFill>
                  <a:srgbClr val="2DD4A7"/>
                </a:solidFill>
                <a:latin typeface="Calibri" pitchFamily="34" charset="0"/>
                <a:ea typeface="Calibri" pitchFamily="34" charset="-122"/>
                <a:cs typeface="Calibri" pitchFamily="34" charset="-120"/>
              </a:rPr>
              <a:t>THE BRIEF</a:t>
            </a:r>
            <a:endParaRPr lang="en-US" sz="1100" dirty="0"/>
          </a:p>
        </p:txBody>
      </p:sp>
      <p:sp>
        <p:nvSpPr>
          <p:cNvPr id="3" name="Text 1"/>
          <p:cNvSpPr txBox="1"/>
          <p:nvPr/>
        </p:nvSpPr>
        <p:spPr>
          <a:xfrm>
            <a:off x="640080" y="658368"/>
            <a:ext cx="10881360" cy="566928"/>
          </a:xfrm>
          <a:prstGeom prst="rect">
            <a:avLst/>
          </a:prstGeom>
          <a:noFill/>
          <a:ln/>
        </p:spPr>
        <p:txBody>
          <a:bodyPr wrap="square" lIns="0" tIns="0" rIns="0" bIns="0" rtlCol="0" anchor="ctr"/>
          <a:lstStyle/>
          <a:p>
            <a:pPr indent="0" marL="0">
              <a:buNone/>
            </a:pPr>
            <a:r>
              <a:rPr lang="en-US" sz="3200" b="1" dirty="0">
                <a:solidFill>
                  <a:srgbClr val="E6EDF3"/>
                </a:solidFill>
                <a:latin typeface="Arial" pitchFamily="34" charset="0"/>
                <a:ea typeface="Arial" pitchFamily="34" charset="-122"/>
                <a:cs typeface="Arial" pitchFamily="34" charset="-120"/>
              </a:rPr>
              <a:t>Real data, verified before a line of code</a:t>
            </a:r>
            <a:endParaRPr lang="en-US" sz="3200" dirty="0"/>
          </a:p>
        </p:txBody>
      </p:sp>
      <p:sp>
        <p:nvSpPr>
          <p:cNvPr id="4" name="Text 2"/>
          <p:cNvSpPr txBox="1"/>
          <p:nvPr/>
        </p:nvSpPr>
        <p:spPr>
          <a:xfrm>
            <a:off x="640080" y="1243584"/>
            <a:ext cx="10881360" cy="310896"/>
          </a:xfrm>
          <a:prstGeom prst="rect">
            <a:avLst/>
          </a:prstGeom>
          <a:noFill/>
          <a:ln/>
        </p:spPr>
        <p:txBody>
          <a:bodyPr wrap="square" lIns="0" tIns="0" rIns="0" bIns="0" rtlCol="0" anchor="ctr"/>
          <a:lstStyle/>
          <a:p>
            <a:pPr indent="0" marL="0">
              <a:buNone/>
            </a:pPr>
            <a:r>
              <a:rPr lang="en-US" sz="1350" dirty="0">
                <a:solidFill>
                  <a:srgbClr val="8B98A9"/>
                </a:solidFill>
                <a:latin typeface="Calibri" pitchFamily="34" charset="0"/>
                <a:ea typeface="Calibri" pitchFamily="34" charset="-122"/>
                <a:cs typeface="Calibri" pitchFamily="34" charset="-120"/>
              </a:rPr>
              <a:t>Project #11 asked for World Cup analytics. The first decision was where the data comes from — and whether it can be trusted.</a:t>
            </a:r>
            <a:endParaRPr lang="en-US" sz="1350" dirty="0"/>
          </a:p>
        </p:txBody>
      </p:sp>
      <p:sp>
        <p:nvSpPr>
          <p:cNvPr id="5" name="Shape 3"/>
          <p:cNvSpPr/>
          <p:nvPr/>
        </p:nvSpPr>
        <p:spPr>
          <a:xfrm>
            <a:off x="640080" y="1828800"/>
            <a:ext cx="5349240" cy="2286000"/>
          </a:xfrm>
          <a:prstGeom prst="roundRect">
            <a:avLst>
              <a:gd name="adj" fmla="val 2400"/>
            </a:avLst>
          </a:prstGeom>
          <a:solidFill>
            <a:srgbClr val="161D27"/>
          </a:solidFill>
          <a:ln w="9525">
            <a:solidFill>
              <a:srgbClr val="2A3542"/>
            </a:solidFill>
            <a:prstDash val="solid"/>
          </a:ln>
        </p:spPr>
      </p:sp>
      <p:sp>
        <p:nvSpPr>
          <p:cNvPr id="6" name="Text 4"/>
          <p:cNvSpPr txBox="1"/>
          <p:nvPr/>
        </p:nvSpPr>
        <p:spPr>
          <a:xfrm>
            <a:off x="932688" y="2011680"/>
            <a:ext cx="2743200" cy="274320"/>
          </a:xfrm>
          <a:prstGeom prst="rect">
            <a:avLst/>
          </a:prstGeom>
          <a:noFill/>
          <a:ln/>
        </p:spPr>
        <p:txBody>
          <a:bodyPr wrap="square" lIns="0" tIns="0" rIns="0" bIns="0" rtlCol="0" anchor="ctr"/>
          <a:lstStyle/>
          <a:p>
            <a:pPr indent="0" marL="0">
              <a:buNone/>
            </a:pPr>
            <a:r>
              <a:rPr lang="en-US" sz="1500" b="1" dirty="0">
                <a:solidFill>
                  <a:srgbClr val="E6EDF3"/>
                </a:solidFill>
                <a:latin typeface="Arial" pitchFamily="34" charset="0"/>
                <a:ea typeface="Arial" pitchFamily="34" charset="-122"/>
                <a:cs typeface="Arial" pitchFamily="34" charset="-120"/>
              </a:rPr>
              <a:t>The dataset</a:t>
            </a:r>
            <a:endParaRPr lang="en-US" sz="1500" dirty="0"/>
          </a:p>
        </p:txBody>
      </p:sp>
      <p:sp>
        <p:nvSpPr>
          <p:cNvPr id="7" name="Text 5"/>
          <p:cNvSpPr txBox="1"/>
          <p:nvPr/>
        </p:nvSpPr>
        <p:spPr>
          <a:xfrm>
            <a:off x="932688" y="2432304"/>
            <a:ext cx="1691640" cy="219456"/>
          </a:xfrm>
          <a:prstGeom prst="rect">
            <a:avLst/>
          </a:prstGeom>
          <a:noFill/>
          <a:ln/>
        </p:spPr>
        <p:txBody>
          <a:bodyPr wrap="square" lIns="0" tIns="0" rIns="0" bIns="0" rtlCol="0" anchor="ctr"/>
          <a:lstStyle/>
          <a:p>
            <a:pPr indent="0" marL="0">
              <a:buNone/>
            </a:pPr>
            <a:r>
              <a:rPr lang="en-US" sz="1050" dirty="0">
                <a:solidFill>
                  <a:srgbClr val="2DD4A7"/>
                </a:solidFill>
                <a:latin typeface="Courier New" pitchFamily="34" charset="0"/>
                <a:ea typeface="Courier New" pitchFamily="34" charset="-122"/>
                <a:cs typeface="Courier New" pitchFamily="34" charset="-120"/>
              </a:rPr>
              <a:t>results.csv</a:t>
            </a:r>
            <a:endParaRPr lang="en-US" sz="1050" dirty="0"/>
          </a:p>
        </p:txBody>
      </p:sp>
      <p:sp>
        <p:nvSpPr>
          <p:cNvPr id="8" name="Text 6"/>
          <p:cNvSpPr txBox="1"/>
          <p:nvPr/>
        </p:nvSpPr>
        <p:spPr>
          <a:xfrm>
            <a:off x="2651760" y="2432304"/>
            <a:ext cx="731520" cy="219456"/>
          </a:xfrm>
          <a:prstGeom prst="rect">
            <a:avLst/>
          </a:prstGeom>
          <a:noFill/>
          <a:ln/>
        </p:spPr>
        <p:txBody>
          <a:bodyPr wrap="square" lIns="0" tIns="0" rIns="0" bIns="0" rtlCol="0" anchor="ctr"/>
          <a:lstStyle/>
          <a:p>
            <a:pPr algn="r" indent="0" marL="0">
              <a:buNone/>
            </a:pPr>
            <a:r>
              <a:rPr lang="en-US" sz="1050" b="1" dirty="0">
                <a:solidFill>
                  <a:srgbClr val="E6EDF3"/>
                </a:solidFill>
                <a:latin typeface="Courier New" pitchFamily="34" charset="0"/>
                <a:ea typeface="Courier New" pitchFamily="34" charset="-122"/>
                <a:cs typeface="Courier New" pitchFamily="34" charset="-120"/>
              </a:rPr>
              <a:t>49,547</a:t>
            </a:r>
            <a:endParaRPr lang="en-US" sz="1050" dirty="0"/>
          </a:p>
        </p:txBody>
      </p:sp>
      <p:sp>
        <p:nvSpPr>
          <p:cNvPr id="9" name="Text 7"/>
          <p:cNvSpPr txBox="1"/>
          <p:nvPr/>
        </p:nvSpPr>
        <p:spPr>
          <a:xfrm>
            <a:off x="932688" y="2642616"/>
            <a:ext cx="4480560" cy="219456"/>
          </a:xfrm>
          <a:prstGeom prst="rect">
            <a:avLst/>
          </a:prstGeom>
          <a:noFill/>
          <a:ln/>
        </p:spPr>
        <p:txBody>
          <a:bodyPr wrap="square" lIns="0" tIns="0" rIns="0" bIns="0" rtlCol="0" anchor="ctr"/>
          <a:lstStyle/>
          <a:p>
            <a:pPr indent="0" marL="0">
              <a:buNone/>
            </a:pPr>
            <a:r>
              <a:rPr lang="en-US" sz="1050" dirty="0">
                <a:solidFill>
                  <a:srgbClr val="6B7A8C"/>
                </a:solidFill>
                <a:latin typeface="Calibri" pitchFamily="34" charset="0"/>
                <a:ea typeface="Calibri" pitchFamily="34" charset="-122"/>
                <a:cs typeface="Calibri" pitchFamily="34" charset="-120"/>
              </a:rPr>
              <a:t>every international match, 1872-2026</a:t>
            </a:r>
            <a:endParaRPr lang="en-US" sz="1050" dirty="0"/>
          </a:p>
        </p:txBody>
      </p:sp>
      <p:sp>
        <p:nvSpPr>
          <p:cNvPr id="10" name="Text 8"/>
          <p:cNvSpPr txBox="1"/>
          <p:nvPr/>
        </p:nvSpPr>
        <p:spPr>
          <a:xfrm>
            <a:off x="932688" y="2944368"/>
            <a:ext cx="1691640" cy="219456"/>
          </a:xfrm>
          <a:prstGeom prst="rect">
            <a:avLst/>
          </a:prstGeom>
          <a:noFill/>
          <a:ln/>
        </p:spPr>
        <p:txBody>
          <a:bodyPr wrap="square" lIns="0" tIns="0" rIns="0" bIns="0" rtlCol="0" anchor="ctr"/>
          <a:lstStyle/>
          <a:p>
            <a:pPr indent="0" marL="0">
              <a:buNone/>
            </a:pPr>
            <a:r>
              <a:rPr lang="en-US" sz="1050" dirty="0">
                <a:solidFill>
                  <a:srgbClr val="2DD4A7"/>
                </a:solidFill>
                <a:latin typeface="Courier New" pitchFamily="34" charset="0"/>
                <a:ea typeface="Courier New" pitchFamily="34" charset="-122"/>
                <a:cs typeface="Courier New" pitchFamily="34" charset="-120"/>
              </a:rPr>
              <a:t>goalscorers.csv</a:t>
            </a:r>
            <a:endParaRPr lang="en-US" sz="1050" dirty="0"/>
          </a:p>
        </p:txBody>
      </p:sp>
      <p:sp>
        <p:nvSpPr>
          <p:cNvPr id="11" name="Text 9"/>
          <p:cNvSpPr txBox="1"/>
          <p:nvPr/>
        </p:nvSpPr>
        <p:spPr>
          <a:xfrm>
            <a:off x="2651760" y="2944368"/>
            <a:ext cx="731520" cy="219456"/>
          </a:xfrm>
          <a:prstGeom prst="rect">
            <a:avLst/>
          </a:prstGeom>
          <a:noFill/>
          <a:ln/>
        </p:spPr>
        <p:txBody>
          <a:bodyPr wrap="square" lIns="0" tIns="0" rIns="0" bIns="0" rtlCol="0" anchor="ctr"/>
          <a:lstStyle/>
          <a:p>
            <a:pPr algn="r" indent="0" marL="0">
              <a:buNone/>
            </a:pPr>
            <a:r>
              <a:rPr lang="en-US" sz="1050" b="1" dirty="0">
                <a:solidFill>
                  <a:srgbClr val="E6EDF3"/>
                </a:solidFill>
                <a:latin typeface="Courier New" pitchFamily="34" charset="0"/>
                <a:ea typeface="Courier New" pitchFamily="34" charset="-122"/>
                <a:cs typeface="Courier New" pitchFamily="34" charset="-120"/>
              </a:rPr>
              <a:t>47,914</a:t>
            </a:r>
            <a:endParaRPr lang="en-US" sz="1050" dirty="0"/>
          </a:p>
        </p:txBody>
      </p:sp>
      <p:sp>
        <p:nvSpPr>
          <p:cNvPr id="12" name="Text 10"/>
          <p:cNvSpPr txBox="1"/>
          <p:nvPr/>
        </p:nvSpPr>
        <p:spPr>
          <a:xfrm>
            <a:off x="932688" y="3154680"/>
            <a:ext cx="4480560" cy="219456"/>
          </a:xfrm>
          <a:prstGeom prst="rect">
            <a:avLst/>
          </a:prstGeom>
          <a:noFill/>
          <a:ln/>
        </p:spPr>
        <p:txBody>
          <a:bodyPr wrap="square" lIns="0" tIns="0" rIns="0" bIns="0" rtlCol="0" anchor="ctr"/>
          <a:lstStyle/>
          <a:p>
            <a:pPr indent="0" marL="0">
              <a:buNone/>
            </a:pPr>
            <a:r>
              <a:rPr lang="en-US" sz="1050" dirty="0">
                <a:solidFill>
                  <a:srgbClr val="6B7A8C"/>
                </a:solidFill>
                <a:latin typeface="Calibri" pitchFamily="34" charset="0"/>
                <a:ea typeface="Calibri" pitchFamily="34" charset="-122"/>
                <a:cs typeface="Calibri" pitchFamily="34" charset="-120"/>
              </a:rPr>
              <a:t>individual goals, scorer and minute</a:t>
            </a:r>
            <a:endParaRPr lang="en-US" sz="1050" dirty="0"/>
          </a:p>
        </p:txBody>
      </p:sp>
      <p:sp>
        <p:nvSpPr>
          <p:cNvPr id="13" name="Text 11"/>
          <p:cNvSpPr txBox="1"/>
          <p:nvPr/>
        </p:nvSpPr>
        <p:spPr>
          <a:xfrm>
            <a:off x="932688" y="3456432"/>
            <a:ext cx="1691640" cy="219456"/>
          </a:xfrm>
          <a:prstGeom prst="rect">
            <a:avLst/>
          </a:prstGeom>
          <a:noFill/>
          <a:ln/>
        </p:spPr>
        <p:txBody>
          <a:bodyPr wrap="square" lIns="0" tIns="0" rIns="0" bIns="0" rtlCol="0" anchor="ctr"/>
          <a:lstStyle/>
          <a:p>
            <a:pPr indent="0" marL="0">
              <a:buNone/>
            </a:pPr>
            <a:r>
              <a:rPr lang="en-US" sz="1050" dirty="0">
                <a:solidFill>
                  <a:srgbClr val="2DD4A7"/>
                </a:solidFill>
                <a:latin typeface="Courier New" pitchFamily="34" charset="0"/>
                <a:ea typeface="Courier New" pitchFamily="34" charset="-122"/>
                <a:cs typeface="Courier New" pitchFamily="34" charset="-120"/>
              </a:rPr>
              <a:t>shootouts.csv</a:t>
            </a:r>
            <a:endParaRPr lang="en-US" sz="1050" dirty="0"/>
          </a:p>
        </p:txBody>
      </p:sp>
      <p:sp>
        <p:nvSpPr>
          <p:cNvPr id="14" name="Text 12"/>
          <p:cNvSpPr txBox="1"/>
          <p:nvPr/>
        </p:nvSpPr>
        <p:spPr>
          <a:xfrm>
            <a:off x="2651760" y="3456432"/>
            <a:ext cx="731520" cy="219456"/>
          </a:xfrm>
          <a:prstGeom prst="rect">
            <a:avLst/>
          </a:prstGeom>
          <a:noFill/>
          <a:ln/>
        </p:spPr>
        <p:txBody>
          <a:bodyPr wrap="square" lIns="0" tIns="0" rIns="0" bIns="0" rtlCol="0" anchor="ctr"/>
          <a:lstStyle/>
          <a:p>
            <a:pPr algn="r" indent="0" marL="0">
              <a:buNone/>
            </a:pPr>
            <a:r>
              <a:rPr lang="en-US" sz="1050" b="1" dirty="0">
                <a:solidFill>
                  <a:srgbClr val="E6EDF3"/>
                </a:solidFill>
                <a:latin typeface="Courier New" pitchFamily="34" charset="0"/>
                <a:ea typeface="Courier New" pitchFamily="34" charset="-122"/>
                <a:cs typeface="Courier New" pitchFamily="34" charset="-120"/>
              </a:rPr>
              <a:t>682</a:t>
            </a:r>
            <a:endParaRPr lang="en-US" sz="1050" dirty="0"/>
          </a:p>
        </p:txBody>
      </p:sp>
      <p:sp>
        <p:nvSpPr>
          <p:cNvPr id="15" name="Text 13"/>
          <p:cNvSpPr txBox="1"/>
          <p:nvPr/>
        </p:nvSpPr>
        <p:spPr>
          <a:xfrm>
            <a:off x="932688" y="3666744"/>
            <a:ext cx="4480560" cy="219456"/>
          </a:xfrm>
          <a:prstGeom prst="rect">
            <a:avLst/>
          </a:prstGeom>
          <a:noFill/>
          <a:ln/>
        </p:spPr>
        <p:txBody>
          <a:bodyPr wrap="square" lIns="0" tIns="0" rIns="0" bIns="0" rtlCol="0" anchor="ctr"/>
          <a:lstStyle/>
          <a:p>
            <a:pPr indent="0" marL="0">
              <a:buNone/>
            </a:pPr>
            <a:r>
              <a:rPr lang="en-US" sz="1050" dirty="0">
                <a:solidFill>
                  <a:srgbClr val="6B7A8C"/>
                </a:solidFill>
                <a:latin typeface="Calibri" pitchFamily="34" charset="0"/>
                <a:ea typeface="Calibri" pitchFamily="34" charset="-122"/>
                <a:cs typeface="Calibri" pitchFamily="34" charset="-120"/>
              </a:rPr>
              <a:t>penalty shootout outcomes</a:t>
            </a:r>
            <a:endParaRPr lang="en-US" sz="1050" dirty="0"/>
          </a:p>
        </p:txBody>
      </p:sp>
      <p:sp>
        <p:nvSpPr>
          <p:cNvPr id="16" name="Shape 14"/>
          <p:cNvSpPr/>
          <p:nvPr/>
        </p:nvSpPr>
        <p:spPr>
          <a:xfrm>
            <a:off x="6263640" y="1828800"/>
            <a:ext cx="5285232" cy="2286000"/>
          </a:xfrm>
          <a:prstGeom prst="roundRect">
            <a:avLst>
              <a:gd name="adj" fmla="val 2400"/>
            </a:avLst>
          </a:prstGeom>
          <a:solidFill>
            <a:srgbClr val="161D27"/>
          </a:solidFill>
          <a:ln w="9525">
            <a:solidFill>
              <a:srgbClr val="2A3542"/>
            </a:solidFill>
            <a:prstDash val="solid"/>
          </a:ln>
        </p:spPr>
      </p:sp>
      <p:sp>
        <p:nvSpPr>
          <p:cNvPr id="17" name="Text 15"/>
          <p:cNvSpPr txBox="1"/>
          <p:nvPr/>
        </p:nvSpPr>
        <p:spPr>
          <a:xfrm>
            <a:off x="6556248" y="2011680"/>
            <a:ext cx="4754880" cy="274320"/>
          </a:xfrm>
          <a:prstGeom prst="rect">
            <a:avLst/>
          </a:prstGeom>
          <a:noFill/>
          <a:ln/>
        </p:spPr>
        <p:txBody>
          <a:bodyPr wrap="square" lIns="0" tIns="0" rIns="0" bIns="0" rtlCol="0" anchor="ctr"/>
          <a:lstStyle/>
          <a:p>
            <a:pPr indent="0" marL="0">
              <a:buNone/>
            </a:pPr>
            <a:r>
              <a:rPr lang="en-US" sz="1500" b="1" dirty="0">
                <a:solidFill>
                  <a:srgbClr val="E6EDF3"/>
                </a:solidFill>
                <a:latin typeface="Arial" pitchFamily="34" charset="0"/>
                <a:ea typeface="Arial" pitchFamily="34" charset="-122"/>
                <a:cs typeface="Arial" pitchFamily="34" charset="-120"/>
              </a:rPr>
              <a:t>Verified against the historical record</a:t>
            </a:r>
            <a:endParaRPr lang="en-US" sz="1500" dirty="0"/>
          </a:p>
        </p:txBody>
      </p:sp>
      <p:sp>
        <p:nvSpPr>
          <p:cNvPr id="18" name="Text 16"/>
          <p:cNvSpPr txBox="1"/>
          <p:nvPr/>
        </p:nvSpPr>
        <p:spPr>
          <a:xfrm>
            <a:off x="6556248" y="2468880"/>
            <a:ext cx="274320" cy="237744"/>
          </a:xfrm>
          <a:prstGeom prst="rect">
            <a:avLst/>
          </a:prstGeom>
          <a:noFill/>
          <a:ln/>
        </p:spPr>
        <p:txBody>
          <a:bodyPr wrap="square" lIns="0" tIns="0" rIns="0" bIns="0" rtlCol="0" anchor="ctr"/>
          <a:lstStyle/>
          <a:p>
            <a:pPr indent="0" marL="0">
              <a:buNone/>
            </a:pPr>
            <a:r>
              <a:rPr lang="en-US" sz="1250" b="1" dirty="0">
                <a:solidFill>
                  <a:srgbClr val="2DD4A7"/>
                </a:solidFill>
                <a:latin typeface="Arial" pitchFamily="34" charset="0"/>
                <a:ea typeface="Arial" pitchFamily="34" charset="-122"/>
                <a:cs typeface="Arial" pitchFamily="34" charset="-120"/>
              </a:rPr>
              <a:t>✓</a:t>
            </a:r>
            <a:endParaRPr lang="en-US" sz="1250" dirty="0"/>
          </a:p>
        </p:txBody>
      </p:sp>
      <p:sp>
        <p:nvSpPr>
          <p:cNvPr id="19" name="Text 17"/>
          <p:cNvSpPr txBox="1"/>
          <p:nvPr/>
        </p:nvSpPr>
        <p:spPr>
          <a:xfrm>
            <a:off x="6858000" y="2468880"/>
            <a:ext cx="457200" cy="237744"/>
          </a:xfrm>
          <a:prstGeom prst="rect">
            <a:avLst/>
          </a:prstGeom>
          <a:noFill/>
          <a:ln/>
        </p:spPr>
        <p:txBody>
          <a:bodyPr wrap="square" lIns="0" tIns="0" rIns="0" bIns="0" rtlCol="0" anchor="ctr"/>
          <a:lstStyle/>
          <a:p>
            <a:pPr indent="0" marL="0">
              <a:buNone/>
            </a:pPr>
            <a:r>
              <a:rPr lang="en-US" sz="1100" dirty="0">
                <a:solidFill>
                  <a:srgbClr val="F5C451"/>
                </a:solidFill>
                <a:latin typeface="Courier New" pitchFamily="34" charset="0"/>
                <a:ea typeface="Courier New" pitchFamily="34" charset="-122"/>
                <a:cs typeface="Courier New" pitchFamily="34" charset="-120"/>
              </a:rPr>
              <a:t>2018</a:t>
            </a:r>
            <a:endParaRPr lang="en-US" sz="1100" dirty="0"/>
          </a:p>
        </p:txBody>
      </p:sp>
      <p:sp>
        <p:nvSpPr>
          <p:cNvPr id="20" name="Text 18"/>
          <p:cNvSpPr txBox="1"/>
          <p:nvPr/>
        </p:nvSpPr>
        <p:spPr>
          <a:xfrm>
            <a:off x="7333488" y="2468880"/>
            <a:ext cx="3017520" cy="237744"/>
          </a:xfrm>
          <a:prstGeom prst="rect">
            <a:avLst/>
          </a:prstGeom>
          <a:noFill/>
          <a:ln/>
        </p:spPr>
        <p:txBody>
          <a:bodyPr wrap="square" lIns="0" tIns="0" rIns="0" bIns="0" rtlCol="0" anchor="ctr"/>
          <a:lstStyle/>
          <a:p>
            <a:pPr indent="0" marL="0">
              <a:buNone/>
            </a:pPr>
            <a:r>
              <a:rPr lang="en-US" sz="1150" dirty="0">
                <a:solidFill>
                  <a:srgbClr val="E6EDF3"/>
                </a:solidFill>
                <a:latin typeface="Calibri" pitchFamily="34" charset="0"/>
                <a:ea typeface="Calibri" pitchFamily="34" charset="-122"/>
                <a:cs typeface="Calibri" pitchFamily="34" charset="-120"/>
              </a:rPr>
              <a:t>France 4-2 Croatia</a:t>
            </a:r>
            <a:endParaRPr lang="en-US" sz="1150" dirty="0"/>
          </a:p>
        </p:txBody>
      </p:sp>
      <p:sp>
        <p:nvSpPr>
          <p:cNvPr id="21" name="Text 19"/>
          <p:cNvSpPr txBox="1"/>
          <p:nvPr/>
        </p:nvSpPr>
        <p:spPr>
          <a:xfrm>
            <a:off x="10332720" y="2468880"/>
            <a:ext cx="1051560" cy="237744"/>
          </a:xfrm>
          <a:prstGeom prst="rect">
            <a:avLst/>
          </a:prstGeom>
          <a:noFill/>
          <a:ln/>
        </p:spPr>
        <p:txBody>
          <a:bodyPr wrap="square" lIns="0" tIns="0" rIns="0" bIns="0" rtlCol="0" anchor="ctr"/>
          <a:lstStyle/>
          <a:p>
            <a:pPr algn="r" indent="0" marL="0">
              <a:buNone/>
            </a:pPr>
            <a:r>
              <a:rPr lang="en-US" sz="1050" dirty="0">
                <a:solidFill>
                  <a:srgbClr val="6B7A8C"/>
                </a:solidFill>
                <a:latin typeface="Calibri" pitchFamily="34" charset="0"/>
                <a:ea typeface="Calibri" pitchFamily="34" charset="-122"/>
                <a:cs typeface="Calibri" pitchFamily="34" charset="-120"/>
              </a:rPr>
              <a:t>Moscow</a:t>
            </a:r>
            <a:endParaRPr lang="en-US" sz="1050" dirty="0"/>
          </a:p>
        </p:txBody>
      </p:sp>
      <p:sp>
        <p:nvSpPr>
          <p:cNvPr id="22" name="Text 20"/>
          <p:cNvSpPr txBox="1"/>
          <p:nvPr/>
        </p:nvSpPr>
        <p:spPr>
          <a:xfrm>
            <a:off x="6556248" y="2926080"/>
            <a:ext cx="274320" cy="237744"/>
          </a:xfrm>
          <a:prstGeom prst="rect">
            <a:avLst/>
          </a:prstGeom>
          <a:noFill/>
          <a:ln/>
        </p:spPr>
        <p:txBody>
          <a:bodyPr wrap="square" lIns="0" tIns="0" rIns="0" bIns="0" rtlCol="0" anchor="ctr"/>
          <a:lstStyle/>
          <a:p>
            <a:pPr indent="0" marL="0">
              <a:buNone/>
            </a:pPr>
            <a:r>
              <a:rPr lang="en-US" sz="1250" b="1" dirty="0">
                <a:solidFill>
                  <a:srgbClr val="2DD4A7"/>
                </a:solidFill>
                <a:latin typeface="Arial" pitchFamily="34" charset="0"/>
                <a:ea typeface="Arial" pitchFamily="34" charset="-122"/>
                <a:cs typeface="Arial" pitchFamily="34" charset="-120"/>
              </a:rPr>
              <a:t>✓</a:t>
            </a:r>
            <a:endParaRPr lang="en-US" sz="1250" dirty="0"/>
          </a:p>
        </p:txBody>
      </p:sp>
      <p:sp>
        <p:nvSpPr>
          <p:cNvPr id="23" name="Text 21"/>
          <p:cNvSpPr txBox="1"/>
          <p:nvPr/>
        </p:nvSpPr>
        <p:spPr>
          <a:xfrm>
            <a:off x="6858000" y="2926080"/>
            <a:ext cx="457200" cy="237744"/>
          </a:xfrm>
          <a:prstGeom prst="rect">
            <a:avLst/>
          </a:prstGeom>
          <a:noFill/>
          <a:ln/>
        </p:spPr>
        <p:txBody>
          <a:bodyPr wrap="square" lIns="0" tIns="0" rIns="0" bIns="0" rtlCol="0" anchor="ctr"/>
          <a:lstStyle/>
          <a:p>
            <a:pPr indent="0" marL="0">
              <a:buNone/>
            </a:pPr>
            <a:r>
              <a:rPr lang="en-US" sz="1100" dirty="0">
                <a:solidFill>
                  <a:srgbClr val="F5C451"/>
                </a:solidFill>
                <a:latin typeface="Courier New" pitchFamily="34" charset="0"/>
                <a:ea typeface="Courier New" pitchFamily="34" charset="-122"/>
                <a:cs typeface="Courier New" pitchFamily="34" charset="-120"/>
              </a:rPr>
              <a:t>2022</a:t>
            </a:r>
            <a:endParaRPr lang="en-US" sz="1100" dirty="0"/>
          </a:p>
        </p:txBody>
      </p:sp>
      <p:sp>
        <p:nvSpPr>
          <p:cNvPr id="24" name="Text 22"/>
          <p:cNvSpPr txBox="1"/>
          <p:nvPr/>
        </p:nvSpPr>
        <p:spPr>
          <a:xfrm>
            <a:off x="7333488" y="2926080"/>
            <a:ext cx="3017520" cy="237744"/>
          </a:xfrm>
          <a:prstGeom prst="rect">
            <a:avLst/>
          </a:prstGeom>
          <a:noFill/>
          <a:ln/>
        </p:spPr>
        <p:txBody>
          <a:bodyPr wrap="square" lIns="0" tIns="0" rIns="0" bIns="0" rtlCol="0" anchor="ctr"/>
          <a:lstStyle/>
          <a:p>
            <a:pPr indent="0" marL="0">
              <a:buNone/>
            </a:pPr>
            <a:r>
              <a:rPr lang="en-US" sz="1150" dirty="0">
                <a:solidFill>
                  <a:srgbClr val="E6EDF3"/>
                </a:solidFill>
                <a:latin typeface="Calibri" pitchFamily="34" charset="0"/>
                <a:ea typeface="Calibri" pitchFamily="34" charset="-122"/>
                <a:cs typeface="Calibri" pitchFamily="34" charset="-120"/>
              </a:rPr>
              <a:t>Argentina 3-3 France, won on pens</a:t>
            </a:r>
            <a:endParaRPr lang="en-US" sz="1150" dirty="0"/>
          </a:p>
        </p:txBody>
      </p:sp>
      <p:sp>
        <p:nvSpPr>
          <p:cNvPr id="25" name="Text 23"/>
          <p:cNvSpPr txBox="1"/>
          <p:nvPr/>
        </p:nvSpPr>
        <p:spPr>
          <a:xfrm>
            <a:off x="10332720" y="2926080"/>
            <a:ext cx="1051560" cy="237744"/>
          </a:xfrm>
          <a:prstGeom prst="rect">
            <a:avLst/>
          </a:prstGeom>
          <a:noFill/>
          <a:ln/>
        </p:spPr>
        <p:txBody>
          <a:bodyPr wrap="square" lIns="0" tIns="0" rIns="0" bIns="0" rtlCol="0" anchor="ctr"/>
          <a:lstStyle/>
          <a:p>
            <a:pPr algn="r" indent="0" marL="0">
              <a:buNone/>
            </a:pPr>
            <a:r>
              <a:rPr lang="en-US" sz="1050" dirty="0">
                <a:solidFill>
                  <a:srgbClr val="6B7A8C"/>
                </a:solidFill>
                <a:latin typeface="Calibri" pitchFamily="34" charset="0"/>
                <a:ea typeface="Calibri" pitchFamily="34" charset="-122"/>
                <a:cs typeface="Calibri" pitchFamily="34" charset="-120"/>
              </a:rPr>
              <a:t>Lusail</a:t>
            </a:r>
            <a:endParaRPr lang="en-US" sz="1050" dirty="0"/>
          </a:p>
        </p:txBody>
      </p:sp>
      <p:sp>
        <p:nvSpPr>
          <p:cNvPr id="26" name="Text 24"/>
          <p:cNvSpPr txBox="1"/>
          <p:nvPr/>
        </p:nvSpPr>
        <p:spPr>
          <a:xfrm>
            <a:off x="6556248" y="3383280"/>
            <a:ext cx="274320" cy="237744"/>
          </a:xfrm>
          <a:prstGeom prst="rect">
            <a:avLst/>
          </a:prstGeom>
          <a:noFill/>
          <a:ln/>
        </p:spPr>
        <p:txBody>
          <a:bodyPr wrap="square" lIns="0" tIns="0" rIns="0" bIns="0" rtlCol="0" anchor="ctr"/>
          <a:lstStyle/>
          <a:p>
            <a:pPr indent="0" marL="0">
              <a:buNone/>
            </a:pPr>
            <a:r>
              <a:rPr lang="en-US" sz="1250" b="1" dirty="0">
                <a:solidFill>
                  <a:srgbClr val="2DD4A7"/>
                </a:solidFill>
                <a:latin typeface="Arial" pitchFamily="34" charset="0"/>
                <a:ea typeface="Arial" pitchFamily="34" charset="-122"/>
                <a:cs typeface="Arial" pitchFamily="34" charset="-120"/>
              </a:rPr>
              <a:t>✓</a:t>
            </a:r>
            <a:endParaRPr lang="en-US" sz="1250" dirty="0"/>
          </a:p>
        </p:txBody>
      </p:sp>
      <p:sp>
        <p:nvSpPr>
          <p:cNvPr id="27" name="Text 25"/>
          <p:cNvSpPr txBox="1"/>
          <p:nvPr/>
        </p:nvSpPr>
        <p:spPr>
          <a:xfrm>
            <a:off x="6858000" y="3383280"/>
            <a:ext cx="457200" cy="237744"/>
          </a:xfrm>
          <a:prstGeom prst="rect">
            <a:avLst/>
          </a:prstGeom>
          <a:noFill/>
          <a:ln/>
        </p:spPr>
        <p:txBody>
          <a:bodyPr wrap="square" lIns="0" tIns="0" rIns="0" bIns="0" rtlCol="0" anchor="ctr"/>
          <a:lstStyle/>
          <a:p>
            <a:pPr indent="0" marL="0">
              <a:buNone/>
            </a:pPr>
            <a:r>
              <a:rPr lang="en-US" sz="1100" dirty="0">
                <a:solidFill>
                  <a:srgbClr val="F5C451"/>
                </a:solidFill>
                <a:latin typeface="Courier New" pitchFamily="34" charset="0"/>
                <a:ea typeface="Courier New" pitchFamily="34" charset="-122"/>
                <a:cs typeface="Courier New" pitchFamily="34" charset="-120"/>
              </a:rPr>
              <a:t>2014</a:t>
            </a:r>
            <a:endParaRPr lang="en-US" sz="1100" dirty="0"/>
          </a:p>
        </p:txBody>
      </p:sp>
      <p:sp>
        <p:nvSpPr>
          <p:cNvPr id="28" name="Text 26"/>
          <p:cNvSpPr txBox="1"/>
          <p:nvPr/>
        </p:nvSpPr>
        <p:spPr>
          <a:xfrm>
            <a:off x="7333488" y="3383280"/>
            <a:ext cx="3017520" cy="237744"/>
          </a:xfrm>
          <a:prstGeom prst="rect">
            <a:avLst/>
          </a:prstGeom>
          <a:noFill/>
          <a:ln/>
        </p:spPr>
        <p:txBody>
          <a:bodyPr wrap="square" lIns="0" tIns="0" rIns="0" bIns="0" rtlCol="0" anchor="ctr"/>
          <a:lstStyle/>
          <a:p>
            <a:pPr indent="0" marL="0">
              <a:buNone/>
            </a:pPr>
            <a:r>
              <a:rPr lang="en-US" sz="1150" dirty="0">
                <a:solidFill>
                  <a:srgbClr val="E6EDF3"/>
                </a:solidFill>
                <a:latin typeface="Calibri" pitchFamily="34" charset="0"/>
                <a:ea typeface="Calibri" pitchFamily="34" charset="-122"/>
                <a:cs typeface="Calibri" pitchFamily="34" charset="-120"/>
              </a:rPr>
              <a:t>Germany 1-0 Argentina</a:t>
            </a:r>
            <a:endParaRPr lang="en-US" sz="1150" dirty="0"/>
          </a:p>
        </p:txBody>
      </p:sp>
      <p:sp>
        <p:nvSpPr>
          <p:cNvPr id="29" name="Text 27"/>
          <p:cNvSpPr txBox="1"/>
          <p:nvPr/>
        </p:nvSpPr>
        <p:spPr>
          <a:xfrm>
            <a:off x="10332720" y="3383280"/>
            <a:ext cx="1051560" cy="237744"/>
          </a:xfrm>
          <a:prstGeom prst="rect">
            <a:avLst/>
          </a:prstGeom>
          <a:noFill/>
          <a:ln/>
        </p:spPr>
        <p:txBody>
          <a:bodyPr wrap="square" lIns="0" tIns="0" rIns="0" bIns="0" rtlCol="0" anchor="ctr"/>
          <a:lstStyle/>
          <a:p>
            <a:pPr algn="r" indent="0" marL="0">
              <a:buNone/>
            </a:pPr>
            <a:r>
              <a:rPr lang="en-US" sz="1050" dirty="0">
                <a:solidFill>
                  <a:srgbClr val="6B7A8C"/>
                </a:solidFill>
                <a:latin typeface="Calibri" pitchFamily="34" charset="0"/>
                <a:ea typeface="Calibri" pitchFamily="34" charset="-122"/>
                <a:cs typeface="Calibri" pitchFamily="34" charset="-120"/>
              </a:rPr>
              <a:t>Rio de Janeiro</a:t>
            </a:r>
            <a:endParaRPr lang="en-US" sz="1050" dirty="0"/>
          </a:p>
        </p:txBody>
      </p:sp>
      <p:sp>
        <p:nvSpPr>
          <p:cNvPr id="30" name="Text 28"/>
          <p:cNvSpPr txBox="1"/>
          <p:nvPr/>
        </p:nvSpPr>
        <p:spPr>
          <a:xfrm>
            <a:off x="6556248" y="3675888"/>
            <a:ext cx="4754880" cy="402336"/>
          </a:xfrm>
          <a:prstGeom prst="rect">
            <a:avLst/>
          </a:prstGeom>
          <a:noFill/>
          <a:ln/>
        </p:spPr>
        <p:txBody>
          <a:bodyPr wrap="square" lIns="0" tIns="0" rIns="0" bIns="0" rtlCol="0" anchor="t"/>
          <a:lstStyle/>
          <a:p>
            <a:pPr indent="0" marL="0">
              <a:lnSpc>
                <a:spcPct val="110000"/>
              </a:lnSpc>
              <a:buNone/>
            </a:pPr>
            <a:r>
              <a:rPr lang="en-US" sz="1000" i="1" dirty="0">
                <a:solidFill>
                  <a:srgbClr val="6B7A8C"/>
                </a:solidFill>
                <a:latin typeface="Calibri" pitchFamily="34" charset="0"/>
                <a:ea typeface="Calibri" pitchFamily="34" charset="-122"/>
                <a:cs typeface="Calibri" pitchFamily="34" charset="-120"/>
              </a:rPr>
              <a:t>Top scorers match the record exactly too: Klose 16, Ronaldo 15, Muller 14, Fontaine 13, Pele 12.</a:t>
            </a:r>
            <a:endParaRPr lang="en-US" sz="1000" dirty="0"/>
          </a:p>
        </p:txBody>
      </p:sp>
      <p:sp>
        <p:nvSpPr>
          <p:cNvPr id="31" name="Shape 29"/>
          <p:cNvSpPr/>
          <p:nvPr/>
        </p:nvSpPr>
        <p:spPr>
          <a:xfrm>
            <a:off x="640080" y="4343400"/>
            <a:ext cx="10908792" cy="1737360"/>
          </a:xfrm>
          <a:prstGeom prst="roundRect">
            <a:avLst>
              <a:gd name="adj" fmla="val 3158"/>
            </a:avLst>
          </a:prstGeom>
          <a:solidFill>
            <a:srgbClr val="1C2531"/>
          </a:solidFill>
          <a:ln w="9525">
            <a:solidFill>
              <a:srgbClr val="2A3542"/>
            </a:solidFill>
            <a:prstDash val="solid"/>
          </a:ln>
        </p:spPr>
      </p:sp>
      <p:sp>
        <p:nvSpPr>
          <p:cNvPr id="32" name="Text 30"/>
          <p:cNvSpPr txBox="1"/>
          <p:nvPr/>
        </p:nvSpPr>
        <p:spPr>
          <a:xfrm>
            <a:off x="960120" y="4526280"/>
            <a:ext cx="6400800" cy="274320"/>
          </a:xfrm>
          <a:prstGeom prst="rect">
            <a:avLst/>
          </a:prstGeom>
          <a:noFill/>
          <a:ln/>
        </p:spPr>
        <p:txBody>
          <a:bodyPr wrap="square" lIns="0" tIns="0" rIns="0" bIns="0" rtlCol="0" anchor="ctr"/>
          <a:lstStyle/>
          <a:p>
            <a:pPr indent="0" marL="0">
              <a:buNone/>
            </a:pPr>
            <a:r>
              <a:rPr lang="en-US" sz="1500" b="1" dirty="0">
                <a:solidFill>
                  <a:srgbClr val="E6EDF3"/>
                </a:solidFill>
                <a:latin typeface="Arial" pitchFamily="34" charset="0"/>
                <a:ea typeface="Arial" pitchFamily="34" charset="-122"/>
                <a:cs typeface="Arial" pitchFamily="34" charset="-120"/>
              </a:rPr>
              <a:t>Why this project, and why it is not a CRUD app</a:t>
            </a:r>
            <a:endParaRPr lang="en-US" sz="1500" dirty="0"/>
          </a:p>
        </p:txBody>
      </p:sp>
      <p:sp>
        <p:nvSpPr>
          <p:cNvPr id="33" name="Shape 31"/>
          <p:cNvSpPr/>
          <p:nvPr/>
        </p:nvSpPr>
        <p:spPr>
          <a:xfrm>
            <a:off x="960120" y="4956048"/>
            <a:ext cx="329184" cy="329184"/>
          </a:xfrm>
          <a:prstGeom prst="ellipse">
            <a:avLst/>
          </a:prstGeom>
          <a:solidFill>
            <a:srgbClr val="2DD4A7"/>
          </a:solidFill>
          <a:ln w="12700">
            <a:solidFill>
              <a:srgbClr val="2DD4A7"/>
            </a:solidFill>
            <a:prstDash val="solid"/>
          </a:ln>
        </p:spPr>
      </p:sp>
      <p:sp>
        <p:nvSpPr>
          <p:cNvPr id="34" name="Text 32"/>
          <p:cNvSpPr txBox="1"/>
          <p:nvPr/>
        </p:nvSpPr>
        <p:spPr>
          <a:xfrm>
            <a:off x="960120" y="4956048"/>
            <a:ext cx="329184" cy="329184"/>
          </a:xfrm>
          <a:prstGeom prst="rect">
            <a:avLst/>
          </a:prstGeom>
          <a:noFill/>
          <a:ln/>
        </p:spPr>
        <p:txBody>
          <a:bodyPr wrap="square" lIns="0" tIns="0" rIns="0" bIns="0" rtlCol="0" anchor="ctr"/>
          <a:lstStyle/>
          <a:p>
            <a:pPr algn="ctr" indent="0" marL="0">
              <a:buNone/>
            </a:pPr>
            <a:r>
              <a:rPr lang="en-US" sz="1300" b="1" dirty="0">
                <a:solidFill>
                  <a:srgbClr val="07130F"/>
                </a:solidFill>
                <a:latin typeface="Arial" pitchFamily="34" charset="0"/>
                <a:ea typeface="Arial" pitchFamily="34" charset="-122"/>
                <a:cs typeface="Arial" pitchFamily="34" charset="-120"/>
              </a:rPr>
              <a:t>1</a:t>
            </a:r>
            <a:endParaRPr lang="en-US" sz="1300" dirty="0"/>
          </a:p>
        </p:txBody>
      </p:sp>
      <p:sp>
        <p:nvSpPr>
          <p:cNvPr id="35" name="Text 33"/>
          <p:cNvSpPr txBox="1"/>
          <p:nvPr/>
        </p:nvSpPr>
        <p:spPr>
          <a:xfrm>
            <a:off x="1399032" y="4946904"/>
            <a:ext cx="2971800" cy="256032"/>
          </a:xfrm>
          <a:prstGeom prst="rect">
            <a:avLst/>
          </a:prstGeom>
          <a:noFill/>
          <a:ln/>
        </p:spPr>
        <p:txBody>
          <a:bodyPr wrap="square" lIns="0" tIns="0" rIns="0" bIns="0" rtlCol="0" anchor="ctr"/>
          <a:lstStyle/>
          <a:p>
            <a:pPr indent="0" marL="0">
              <a:buNone/>
            </a:pPr>
            <a:r>
              <a:rPr lang="en-US" sz="1250" b="1" dirty="0">
                <a:solidFill>
                  <a:srgbClr val="E6EDF3"/>
                </a:solidFill>
                <a:latin typeface="Arial" pitchFamily="34" charset="0"/>
                <a:ea typeface="Arial" pitchFamily="34" charset="-122"/>
                <a:cs typeface="Arial" pitchFamily="34" charset="-120"/>
              </a:rPr>
              <a:t>Real data, not seeded rows</a:t>
            </a:r>
            <a:endParaRPr lang="en-US" sz="1250" dirty="0"/>
          </a:p>
        </p:txBody>
      </p:sp>
      <p:sp>
        <p:nvSpPr>
          <p:cNvPr id="36" name="Text 34"/>
          <p:cNvSpPr txBox="1"/>
          <p:nvPr/>
        </p:nvSpPr>
        <p:spPr>
          <a:xfrm>
            <a:off x="1399032" y="5230368"/>
            <a:ext cx="2971800" cy="658368"/>
          </a:xfrm>
          <a:prstGeom prst="rect">
            <a:avLst/>
          </a:prstGeom>
          <a:noFill/>
          <a:ln/>
        </p:spPr>
        <p:txBody>
          <a:bodyPr wrap="square" lIns="0" tIns="0" rIns="0" bIns="0" rtlCol="0" anchor="t"/>
          <a:lstStyle/>
          <a:p>
            <a:pPr indent="0" marL="0">
              <a:lnSpc>
                <a:spcPct val="115000"/>
              </a:lnSpc>
              <a:buNone/>
            </a:pPr>
            <a:r>
              <a:rPr lang="en-US" sz="1050" dirty="0">
                <a:solidFill>
                  <a:srgbClr val="8B98A9"/>
                </a:solidFill>
                <a:latin typeface="Calibri" pitchFamily="34" charset="0"/>
                <a:ea typeface="Calibri" pitchFamily="34" charset="-122"/>
                <a:cs typeface="Calibri" pitchFamily="34" charset="-120"/>
              </a:rPr>
              <a:t>150 years of actual results — the analysis has something to find.</a:t>
            </a:r>
            <a:endParaRPr lang="en-US" sz="1050" dirty="0"/>
          </a:p>
        </p:txBody>
      </p:sp>
      <p:sp>
        <p:nvSpPr>
          <p:cNvPr id="37" name="Shape 35"/>
          <p:cNvSpPr/>
          <p:nvPr/>
        </p:nvSpPr>
        <p:spPr>
          <a:xfrm>
            <a:off x="4498848" y="4956048"/>
            <a:ext cx="329184" cy="329184"/>
          </a:xfrm>
          <a:prstGeom prst="ellipse">
            <a:avLst/>
          </a:prstGeom>
          <a:solidFill>
            <a:srgbClr val="2DD4A7"/>
          </a:solidFill>
          <a:ln w="12700">
            <a:solidFill>
              <a:srgbClr val="2DD4A7"/>
            </a:solidFill>
            <a:prstDash val="solid"/>
          </a:ln>
        </p:spPr>
      </p:sp>
      <p:sp>
        <p:nvSpPr>
          <p:cNvPr id="38" name="Text 36"/>
          <p:cNvSpPr txBox="1"/>
          <p:nvPr/>
        </p:nvSpPr>
        <p:spPr>
          <a:xfrm>
            <a:off x="4498848" y="4956048"/>
            <a:ext cx="329184" cy="329184"/>
          </a:xfrm>
          <a:prstGeom prst="rect">
            <a:avLst/>
          </a:prstGeom>
          <a:noFill/>
          <a:ln/>
        </p:spPr>
        <p:txBody>
          <a:bodyPr wrap="square" lIns="0" tIns="0" rIns="0" bIns="0" rtlCol="0" anchor="ctr"/>
          <a:lstStyle/>
          <a:p>
            <a:pPr algn="ctr" indent="0" marL="0">
              <a:buNone/>
            </a:pPr>
            <a:r>
              <a:rPr lang="en-US" sz="1300" b="1" dirty="0">
                <a:solidFill>
                  <a:srgbClr val="07130F"/>
                </a:solidFill>
                <a:latin typeface="Arial" pitchFamily="34" charset="0"/>
                <a:ea typeface="Arial" pitchFamily="34" charset="-122"/>
                <a:cs typeface="Arial" pitchFamily="34" charset="-120"/>
              </a:rPr>
              <a:t>2</a:t>
            </a:r>
            <a:endParaRPr lang="en-US" sz="1300" dirty="0"/>
          </a:p>
        </p:txBody>
      </p:sp>
      <p:sp>
        <p:nvSpPr>
          <p:cNvPr id="39" name="Text 37"/>
          <p:cNvSpPr txBox="1"/>
          <p:nvPr/>
        </p:nvSpPr>
        <p:spPr>
          <a:xfrm>
            <a:off x="4937760" y="4946904"/>
            <a:ext cx="2971800" cy="256032"/>
          </a:xfrm>
          <a:prstGeom prst="rect">
            <a:avLst/>
          </a:prstGeom>
          <a:noFill/>
          <a:ln/>
        </p:spPr>
        <p:txBody>
          <a:bodyPr wrap="square" lIns="0" tIns="0" rIns="0" bIns="0" rtlCol="0" anchor="ctr"/>
          <a:lstStyle/>
          <a:p>
            <a:pPr indent="0" marL="0">
              <a:buNone/>
            </a:pPr>
            <a:r>
              <a:rPr lang="en-US" sz="1250" b="1" dirty="0">
                <a:solidFill>
                  <a:srgbClr val="E6EDF3"/>
                </a:solidFill>
                <a:latin typeface="Arial" pitchFamily="34" charset="0"/>
                <a:ea typeface="Arial" pitchFamily="34" charset="-122"/>
                <a:cs typeface="Arial" pitchFamily="34" charset="-120"/>
              </a:rPr>
              <a:t>A model, not just queries</a:t>
            </a:r>
            <a:endParaRPr lang="en-US" sz="1250" dirty="0"/>
          </a:p>
        </p:txBody>
      </p:sp>
      <p:sp>
        <p:nvSpPr>
          <p:cNvPr id="40" name="Text 38"/>
          <p:cNvSpPr txBox="1"/>
          <p:nvPr/>
        </p:nvSpPr>
        <p:spPr>
          <a:xfrm>
            <a:off x="4937760" y="5230368"/>
            <a:ext cx="2971800" cy="658368"/>
          </a:xfrm>
          <a:prstGeom prst="rect">
            <a:avLst/>
          </a:prstGeom>
          <a:noFill/>
          <a:ln/>
        </p:spPr>
        <p:txBody>
          <a:bodyPr wrap="square" lIns="0" tIns="0" rIns="0" bIns="0" rtlCol="0" anchor="t"/>
          <a:lstStyle/>
          <a:p>
            <a:pPr indent="0" marL="0">
              <a:lnSpc>
                <a:spcPct val="115000"/>
              </a:lnSpc>
              <a:buNone/>
            </a:pPr>
            <a:r>
              <a:rPr lang="en-US" sz="1050" dirty="0">
                <a:solidFill>
                  <a:srgbClr val="8B98A9"/>
                </a:solidFill>
                <a:latin typeface="Calibri" pitchFamily="34" charset="0"/>
                <a:ea typeface="Calibri" pitchFamily="34" charset="-122"/>
                <a:cs typeface="Calibri" pitchFamily="34" charset="-120"/>
              </a:rPr>
              <a:t>An Elo engine and a calibrated predictor, both implemented from scratch.</a:t>
            </a:r>
            <a:endParaRPr lang="en-US" sz="1050" dirty="0"/>
          </a:p>
        </p:txBody>
      </p:sp>
      <p:sp>
        <p:nvSpPr>
          <p:cNvPr id="41" name="Shape 39"/>
          <p:cNvSpPr/>
          <p:nvPr/>
        </p:nvSpPr>
        <p:spPr>
          <a:xfrm>
            <a:off x="8037576" y="4956048"/>
            <a:ext cx="329184" cy="329184"/>
          </a:xfrm>
          <a:prstGeom prst="ellipse">
            <a:avLst/>
          </a:prstGeom>
          <a:solidFill>
            <a:srgbClr val="2DD4A7"/>
          </a:solidFill>
          <a:ln w="12700">
            <a:solidFill>
              <a:srgbClr val="2DD4A7"/>
            </a:solidFill>
            <a:prstDash val="solid"/>
          </a:ln>
        </p:spPr>
      </p:sp>
      <p:sp>
        <p:nvSpPr>
          <p:cNvPr id="42" name="Text 40"/>
          <p:cNvSpPr txBox="1"/>
          <p:nvPr/>
        </p:nvSpPr>
        <p:spPr>
          <a:xfrm>
            <a:off x="8037576" y="4956048"/>
            <a:ext cx="329184" cy="329184"/>
          </a:xfrm>
          <a:prstGeom prst="rect">
            <a:avLst/>
          </a:prstGeom>
          <a:noFill/>
          <a:ln/>
        </p:spPr>
        <p:txBody>
          <a:bodyPr wrap="square" lIns="0" tIns="0" rIns="0" bIns="0" rtlCol="0" anchor="ctr"/>
          <a:lstStyle/>
          <a:p>
            <a:pPr algn="ctr" indent="0" marL="0">
              <a:buNone/>
            </a:pPr>
            <a:r>
              <a:rPr lang="en-US" sz="1300" b="1" dirty="0">
                <a:solidFill>
                  <a:srgbClr val="07130F"/>
                </a:solidFill>
                <a:latin typeface="Arial" pitchFamily="34" charset="0"/>
                <a:ea typeface="Arial" pitchFamily="34" charset="-122"/>
                <a:cs typeface="Arial" pitchFamily="34" charset="-120"/>
              </a:rPr>
              <a:t>3</a:t>
            </a:r>
            <a:endParaRPr lang="en-US" sz="1300" dirty="0"/>
          </a:p>
        </p:txBody>
      </p:sp>
      <p:sp>
        <p:nvSpPr>
          <p:cNvPr id="43" name="Text 41"/>
          <p:cNvSpPr txBox="1"/>
          <p:nvPr/>
        </p:nvSpPr>
        <p:spPr>
          <a:xfrm>
            <a:off x="8476488" y="4946904"/>
            <a:ext cx="2971800" cy="256032"/>
          </a:xfrm>
          <a:prstGeom prst="rect">
            <a:avLst/>
          </a:prstGeom>
          <a:noFill/>
          <a:ln/>
        </p:spPr>
        <p:txBody>
          <a:bodyPr wrap="square" lIns="0" tIns="0" rIns="0" bIns="0" rtlCol="0" anchor="ctr"/>
          <a:lstStyle/>
          <a:p>
            <a:pPr indent="0" marL="0">
              <a:buNone/>
            </a:pPr>
            <a:r>
              <a:rPr lang="en-US" sz="1250" b="1" dirty="0">
                <a:solidFill>
                  <a:srgbClr val="E6EDF3"/>
                </a:solidFill>
                <a:latin typeface="Arial" pitchFamily="34" charset="0"/>
                <a:ea typeface="Arial" pitchFamily="34" charset="-122"/>
                <a:cs typeface="Arial" pitchFamily="34" charset="-120"/>
              </a:rPr>
              <a:t>Measured, not asserted</a:t>
            </a:r>
            <a:endParaRPr lang="en-US" sz="1250" dirty="0"/>
          </a:p>
        </p:txBody>
      </p:sp>
      <p:sp>
        <p:nvSpPr>
          <p:cNvPr id="44" name="Text 42"/>
          <p:cNvSpPr txBox="1"/>
          <p:nvPr/>
        </p:nvSpPr>
        <p:spPr>
          <a:xfrm>
            <a:off x="8476488" y="5230368"/>
            <a:ext cx="2971800" cy="658368"/>
          </a:xfrm>
          <a:prstGeom prst="rect">
            <a:avLst/>
          </a:prstGeom>
          <a:noFill/>
          <a:ln/>
        </p:spPr>
        <p:txBody>
          <a:bodyPr wrap="square" lIns="0" tIns="0" rIns="0" bIns="0" rtlCol="0" anchor="t"/>
          <a:lstStyle/>
          <a:p>
            <a:pPr indent="0" marL="0">
              <a:lnSpc>
                <a:spcPct val="115000"/>
              </a:lnSpc>
              <a:buNone/>
            </a:pPr>
            <a:r>
              <a:rPr lang="en-US" sz="1050" dirty="0">
                <a:solidFill>
                  <a:srgbClr val="8B98A9"/>
                </a:solidFill>
                <a:latin typeface="Calibri" pitchFamily="34" charset="0"/>
                <a:ea typeface="Calibri" pitchFamily="34" charset="-122"/>
                <a:cs typeface="Calibri" pitchFamily="34" charset="-120"/>
              </a:rPr>
              <a:t>The model reports its own accuracy on data it never saw.</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117"/>
        </a:solidFill>
      </p:bgPr>
    </p:bg>
    <p:spTree>
      <p:nvGrpSpPr>
        <p:cNvPr id="1" name=""/>
        <p:cNvGrpSpPr/>
        <p:nvPr/>
      </p:nvGrpSpPr>
      <p:grpSpPr>
        <a:xfrm>
          <a:off x="0" y="0"/>
          <a:ext cx="0" cy="0"/>
          <a:chOff x="0" y="0"/>
          <a:chExt cx="0" cy="0"/>
        </a:xfrm>
      </p:grpSpPr>
      <p:sp>
        <p:nvSpPr>
          <p:cNvPr id="2" name="Text 0"/>
          <p:cNvSpPr txBox="1"/>
          <p:nvPr/>
        </p:nvSpPr>
        <p:spPr>
          <a:xfrm>
            <a:off x="640080" y="384048"/>
            <a:ext cx="10058400" cy="256032"/>
          </a:xfrm>
          <a:prstGeom prst="rect">
            <a:avLst/>
          </a:prstGeom>
          <a:noFill/>
          <a:ln/>
        </p:spPr>
        <p:txBody>
          <a:bodyPr wrap="square" lIns="0" tIns="0" rIns="0" bIns="0" rtlCol="0" anchor="ctr"/>
          <a:lstStyle/>
          <a:p>
            <a:pPr indent="0" marL="0">
              <a:buNone/>
            </a:pPr>
            <a:r>
              <a:rPr lang="en-US" sz="1100" b="1" spc="200" kern="0" dirty="0">
                <a:solidFill>
                  <a:srgbClr val="2DD4A7"/>
                </a:solidFill>
                <a:latin typeface="Calibri" pitchFamily="34" charset="0"/>
                <a:ea typeface="Calibri" pitchFamily="34" charset="-122"/>
                <a:cs typeface="Calibri" pitchFamily="34" charset="-120"/>
              </a:rPr>
              <a:t>ARCHITECTURE</a:t>
            </a:r>
            <a:endParaRPr lang="en-US" sz="1100" dirty="0"/>
          </a:p>
        </p:txBody>
      </p:sp>
      <p:sp>
        <p:nvSpPr>
          <p:cNvPr id="3" name="Text 1"/>
          <p:cNvSpPr txBox="1"/>
          <p:nvPr/>
        </p:nvSpPr>
        <p:spPr>
          <a:xfrm>
            <a:off x="640080" y="658368"/>
            <a:ext cx="10881360" cy="566928"/>
          </a:xfrm>
          <a:prstGeom prst="rect">
            <a:avLst/>
          </a:prstGeom>
          <a:noFill/>
          <a:ln/>
        </p:spPr>
        <p:txBody>
          <a:bodyPr wrap="square" lIns="0" tIns="0" rIns="0" bIns="0" rtlCol="0" anchor="ctr"/>
          <a:lstStyle/>
          <a:p>
            <a:pPr indent="0" marL="0">
              <a:buNone/>
            </a:pPr>
            <a:r>
              <a:rPr lang="en-US" sz="3200" b="1" dirty="0">
                <a:solidFill>
                  <a:srgbClr val="E6EDF3"/>
                </a:solidFill>
                <a:latin typeface="Arial" pitchFamily="34" charset="0"/>
                <a:ea typeface="Arial" pitchFamily="34" charset="-122"/>
                <a:cs typeface="Arial" pitchFamily="34" charset="-120"/>
              </a:rPr>
              <a:t>A layered system with one strict rule</a:t>
            </a:r>
            <a:endParaRPr lang="en-US" sz="3200" dirty="0"/>
          </a:p>
        </p:txBody>
      </p:sp>
      <p:sp>
        <p:nvSpPr>
          <p:cNvPr id="4" name="Text 2"/>
          <p:cNvSpPr txBox="1"/>
          <p:nvPr/>
        </p:nvSpPr>
        <p:spPr>
          <a:xfrm>
            <a:off x="640080" y="1243584"/>
            <a:ext cx="10881360" cy="310896"/>
          </a:xfrm>
          <a:prstGeom prst="rect">
            <a:avLst/>
          </a:prstGeom>
          <a:noFill/>
          <a:ln/>
        </p:spPr>
        <p:txBody>
          <a:bodyPr wrap="square" lIns="0" tIns="0" rIns="0" bIns="0" rtlCol="0" anchor="ctr"/>
          <a:lstStyle/>
          <a:p>
            <a:pPr indent="0" marL="0">
              <a:buNone/>
            </a:pPr>
            <a:r>
              <a:rPr lang="en-US" sz="1350" dirty="0">
                <a:solidFill>
                  <a:srgbClr val="8B98A9"/>
                </a:solidFill>
                <a:latin typeface="Calibri" pitchFamily="34" charset="0"/>
                <a:ea typeface="Calibri" pitchFamily="34" charset="-122"/>
                <a:cs typeface="Calibri" pitchFamily="34" charset="-120"/>
              </a:rPr>
              <a:t>The expensive work happens once, offline. The web tier only ever reads pre-computed results.</a:t>
            </a:r>
            <a:endParaRPr lang="en-US" sz="1350" dirty="0"/>
          </a:p>
        </p:txBody>
      </p:sp>
      <p:sp>
        <p:nvSpPr>
          <p:cNvPr id="5" name="Shape 3"/>
          <p:cNvSpPr/>
          <p:nvPr/>
        </p:nvSpPr>
        <p:spPr>
          <a:xfrm>
            <a:off x="640080" y="1965960"/>
            <a:ext cx="1627632" cy="1051560"/>
          </a:xfrm>
          <a:prstGeom prst="roundRect">
            <a:avLst>
              <a:gd name="adj" fmla="val 5217"/>
            </a:avLst>
          </a:prstGeom>
          <a:solidFill>
            <a:srgbClr val="161D27"/>
          </a:solidFill>
          <a:ln w="9525">
            <a:solidFill>
              <a:srgbClr val="2A3542"/>
            </a:solidFill>
            <a:prstDash val="solid"/>
          </a:ln>
        </p:spPr>
      </p:sp>
      <p:sp>
        <p:nvSpPr>
          <p:cNvPr id="6" name="Text 4"/>
          <p:cNvSpPr txBox="1"/>
          <p:nvPr/>
        </p:nvSpPr>
        <p:spPr>
          <a:xfrm>
            <a:off x="658368" y="2212848"/>
            <a:ext cx="1591056" cy="274320"/>
          </a:xfrm>
          <a:prstGeom prst="rect">
            <a:avLst/>
          </a:prstGeom>
          <a:noFill/>
          <a:ln/>
        </p:spPr>
        <p:txBody>
          <a:bodyPr wrap="square" lIns="0" tIns="0" rIns="0" bIns="0" rtlCol="0" anchor="ctr"/>
          <a:lstStyle/>
          <a:p>
            <a:pPr algn="ctr" indent="0" marL="0">
              <a:buNone/>
            </a:pPr>
            <a:r>
              <a:rPr lang="en-US" sz="1400" b="1" dirty="0">
                <a:solidFill>
                  <a:srgbClr val="6B7A8C"/>
                </a:solidFill>
                <a:latin typeface="Arial" pitchFamily="34" charset="0"/>
                <a:ea typeface="Arial" pitchFamily="34" charset="-122"/>
                <a:cs typeface="Arial" pitchFamily="34" charset="-120"/>
              </a:rPr>
              <a:t>Raw CSV</a:t>
            </a:r>
            <a:endParaRPr lang="en-US" sz="1400" dirty="0"/>
          </a:p>
        </p:txBody>
      </p:sp>
      <p:sp>
        <p:nvSpPr>
          <p:cNvPr id="7" name="Text 5"/>
          <p:cNvSpPr txBox="1"/>
          <p:nvPr/>
        </p:nvSpPr>
        <p:spPr>
          <a:xfrm>
            <a:off x="694944" y="2505456"/>
            <a:ext cx="1517904" cy="384048"/>
          </a:xfrm>
          <a:prstGeom prst="rect">
            <a:avLst/>
          </a:prstGeom>
          <a:noFill/>
          <a:ln/>
        </p:spPr>
        <p:txBody>
          <a:bodyPr wrap="square" lIns="0" tIns="0" rIns="0" bIns="0" rtlCol="0" anchor="ctr"/>
          <a:lstStyle/>
          <a:p>
            <a:pPr algn="ctr" indent="0" marL="0">
              <a:buNone/>
            </a:pPr>
            <a:r>
              <a:rPr lang="en-US" sz="950" dirty="0">
                <a:solidFill>
                  <a:srgbClr val="6B7A8C"/>
                </a:solidFill>
                <a:latin typeface="Calibri" pitchFamily="34" charset="0"/>
                <a:ea typeface="Calibri" pitchFamily="34" charset="-122"/>
                <a:cs typeface="Calibri" pitchFamily="34" charset="-120"/>
              </a:rPr>
              <a:t>3 source files</a:t>
            </a:r>
            <a:endParaRPr lang="en-US" sz="950" dirty="0"/>
          </a:p>
        </p:txBody>
      </p:sp>
      <p:sp>
        <p:nvSpPr>
          <p:cNvPr id="8" name="Text 6"/>
          <p:cNvSpPr txBox="1"/>
          <p:nvPr/>
        </p:nvSpPr>
        <p:spPr>
          <a:xfrm>
            <a:off x="2267712" y="2286000"/>
            <a:ext cx="237744" cy="365760"/>
          </a:xfrm>
          <a:prstGeom prst="rect">
            <a:avLst/>
          </a:prstGeom>
          <a:noFill/>
          <a:ln/>
        </p:spPr>
        <p:txBody>
          <a:bodyPr wrap="square" lIns="0" tIns="0" rIns="0" bIns="0" rtlCol="0" anchor="ctr"/>
          <a:lstStyle/>
          <a:p>
            <a:pPr algn="ctr" indent="0" marL="0">
              <a:buNone/>
            </a:pPr>
            <a:r>
              <a:rPr lang="en-US" sz="1700" b="1" dirty="0">
                <a:solidFill>
                  <a:srgbClr val="2A3542"/>
                </a:solidFill>
                <a:latin typeface="Arial" pitchFamily="34" charset="0"/>
                <a:ea typeface="Arial" pitchFamily="34" charset="-122"/>
                <a:cs typeface="Arial" pitchFamily="34" charset="-120"/>
              </a:rPr>
              <a:t>›</a:t>
            </a:r>
            <a:endParaRPr lang="en-US" sz="1700" dirty="0"/>
          </a:p>
        </p:txBody>
      </p:sp>
      <p:sp>
        <p:nvSpPr>
          <p:cNvPr id="9" name="Shape 7"/>
          <p:cNvSpPr/>
          <p:nvPr/>
        </p:nvSpPr>
        <p:spPr>
          <a:xfrm>
            <a:off x="2505456" y="1965960"/>
            <a:ext cx="1627632" cy="1051560"/>
          </a:xfrm>
          <a:prstGeom prst="roundRect">
            <a:avLst>
              <a:gd name="adj" fmla="val 5217"/>
            </a:avLst>
          </a:prstGeom>
          <a:solidFill>
            <a:srgbClr val="161D27"/>
          </a:solidFill>
          <a:ln w="9525">
            <a:solidFill>
              <a:srgbClr val="2A3542"/>
            </a:solidFill>
            <a:prstDash val="solid"/>
          </a:ln>
        </p:spPr>
      </p:sp>
      <p:sp>
        <p:nvSpPr>
          <p:cNvPr id="10" name="Text 8"/>
          <p:cNvSpPr txBox="1"/>
          <p:nvPr/>
        </p:nvSpPr>
        <p:spPr>
          <a:xfrm>
            <a:off x="2523744" y="2212848"/>
            <a:ext cx="1591056" cy="274320"/>
          </a:xfrm>
          <a:prstGeom prst="rect">
            <a:avLst/>
          </a:prstGeom>
          <a:noFill/>
          <a:ln/>
        </p:spPr>
        <p:txBody>
          <a:bodyPr wrap="square" lIns="0" tIns="0" rIns="0" bIns="0" rtlCol="0" anchor="ctr"/>
          <a:lstStyle/>
          <a:p>
            <a:pPr algn="ctr" indent="0" marL="0">
              <a:buNone/>
            </a:pPr>
            <a:r>
              <a:rPr lang="en-US" sz="1400" b="1" dirty="0">
                <a:solidFill>
                  <a:srgbClr val="A78BFA"/>
                </a:solidFill>
                <a:latin typeface="Arial" pitchFamily="34" charset="0"/>
                <a:ea typeface="Arial" pitchFamily="34" charset="-122"/>
                <a:cs typeface="Arial" pitchFamily="34" charset="-120"/>
              </a:rPr>
              <a:t>ETL</a:t>
            </a:r>
            <a:endParaRPr lang="en-US" sz="1400" dirty="0"/>
          </a:p>
        </p:txBody>
      </p:sp>
      <p:sp>
        <p:nvSpPr>
          <p:cNvPr id="11" name="Text 9"/>
          <p:cNvSpPr txBox="1"/>
          <p:nvPr/>
        </p:nvSpPr>
        <p:spPr>
          <a:xfrm>
            <a:off x="2560320" y="2505456"/>
            <a:ext cx="1517904" cy="384048"/>
          </a:xfrm>
          <a:prstGeom prst="rect">
            <a:avLst/>
          </a:prstGeom>
          <a:noFill/>
          <a:ln/>
        </p:spPr>
        <p:txBody>
          <a:bodyPr wrap="square" lIns="0" tIns="0" rIns="0" bIns="0" rtlCol="0" anchor="ctr"/>
          <a:lstStyle/>
          <a:p>
            <a:pPr algn="ctr" indent="0" marL="0">
              <a:buNone/>
            </a:pPr>
            <a:r>
              <a:rPr lang="en-US" sz="950" dirty="0">
                <a:solidFill>
                  <a:srgbClr val="6B7A8C"/>
                </a:solidFill>
                <a:latin typeface="Calibri" pitchFamily="34" charset="0"/>
                <a:ea typeface="Calibri" pitchFamily="34" charset="-122"/>
                <a:cs typeface="Calibri" pitchFamily="34" charset="-120"/>
              </a:rPr>
              <a:t>clean · derive · calibrate</a:t>
            </a:r>
            <a:endParaRPr lang="en-US" sz="950" dirty="0"/>
          </a:p>
        </p:txBody>
      </p:sp>
      <p:sp>
        <p:nvSpPr>
          <p:cNvPr id="12" name="Text 10"/>
          <p:cNvSpPr txBox="1"/>
          <p:nvPr/>
        </p:nvSpPr>
        <p:spPr>
          <a:xfrm>
            <a:off x="4133088" y="2286000"/>
            <a:ext cx="237744" cy="365760"/>
          </a:xfrm>
          <a:prstGeom prst="rect">
            <a:avLst/>
          </a:prstGeom>
          <a:noFill/>
          <a:ln/>
        </p:spPr>
        <p:txBody>
          <a:bodyPr wrap="square" lIns="0" tIns="0" rIns="0" bIns="0" rtlCol="0" anchor="ctr"/>
          <a:lstStyle/>
          <a:p>
            <a:pPr algn="ctr" indent="0" marL="0">
              <a:buNone/>
            </a:pPr>
            <a:r>
              <a:rPr lang="en-US" sz="1700" b="1" dirty="0">
                <a:solidFill>
                  <a:srgbClr val="2A3542"/>
                </a:solidFill>
                <a:latin typeface="Arial" pitchFamily="34" charset="0"/>
                <a:ea typeface="Arial" pitchFamily="34" charset="-122"/>
                <a:cs typeface="Arial" pitchFamily="34" charset="-120"/>
              </a:rPr>
              <a:t>›</a:t>
            </a:r>
            <a:endParaRPr lang="en-US" sz="1700" dirty="0"/>
          </a:p>
        </p:txBody>
      </p:sp>
      <p:sp>
        <p:nvSpPr>
          <p:cNvPr id="13" name="Shape 11"/>
          <p:cNvSpPr/>
          <p:nvPr/>
        </p:nvSpPr>
        <p:spPr>
          <a:xfrm>
            <a:off x="4370832" y="1965960"/>
            <a:ext cx="1627632" cy="1051560"/>
          </a:xfrm>
          <a:prstGeom prst="roundRect">
            <a:avLst>
              <a:gd name="adj" fmla="val 5217"/>
            </a:avLst>
          </a:prstGeom>
          <a:solidFill>
            <a:srgbClr val="161D27"/>
          </a:solidFill>
          <a:ln w="9525">
            <a:solidFill>
              <a:srgbClr val="2A3542"/>
            </a:solidFill>
            <a:prstDash val="solid"/>
          </a:ln>
        </p:spPr>
      </p:sp>
      <p:sp>
        <p:nvSpPr>
          <p:cNvPr id="14" name="Text 12"/>
          <p:cNvSpPr txBox="1"/>
          <p:nvPr/>
        </p:nvSpPr>
        <p:spPr>
          <a:xfrm>
            <a:off x="4389120" y="2212848"/>
            <a:ext cx="1591056" cy="274320"/>
          </a:xfrm>
          <a:prstGeom prst="rect">
            <a:avLst/>
          </a:prstGeom>
          <a:noFill/>
          <a:ln/>
        </p:spPr>
        <p:txBody>
          <a:bodyPr wrap="square" lIns="0" tIns="0" rIns="0" bIns="0" rtlCol="0" anchor="ctr"/>
          <a:lstStyle/>
          <a:p>
            <a:pPr algn="ctr" indent="0" marL="0">
              <a:buNone/>
            </a:pPr>
            <a:r>
              <a:rPr lang="en-US" sz="1400" b="1" dirty="0">
                <a:solidFill>
                  <a:srgbClr val="5AA9F5"/>
                </a:solidFill>
                <a:latin typeface="Arial" pitchFamily="34" charset="0"/>
                <a:ea typeface="Arial" pitchFamily="34" charset="-122"/>
                <a:cs typeface="Arial" pitchFamily="34" charset="-120"/>
              </a:rPr>
              <a:t>SQLite</a:t>
            </a:r>
            <a:endParaRPr lang="en-US" sz="1400" dirty="0"/>
          </a:p>
        </p:txBody>
      </p:sp>
      <p:sp>
        <p:nvSpPr>
          <p:cNvPr id="15" name="Text 13"/>
          <p:cNvSpPr txBox="1"/>
          <p:nvPr/>
        </p:nvSpPr>
        <p:spPr>
          <a:xfrm>
            <a:off x="4425696" y="2505456"/>
            <a:ext cx="1517904" cy="384048"/>
          </a:xfrm>
          <a:prstGeom prst="rect">
            <a:avLst/>
          </a:prstGeom>
          <a:noFill/>
          <a:ln/>
        </p:spPr>
        <p:txBody>
          <a:bodyPr wrap="square" lIns="0" tIns="0" rIns="0" bIns="0" rtlCol="0" anchor="ctr"/>
          <a:lstStyle/>
          <a:p>
            <a:pPr algn="ctr" indent="0" marL="0">
              <a:buNone/>
            </a:pPr>
            <a:r>
              <a:rPr lang="en-US" sz="950" dirty="0">
                <a:solidFill>
                  <a:srgbClr val="6B7A8C"/>
                </a:solidFill>
                <a:latin typeface="Calibri" pitchFamily="34" charset="0"/>
                <a:ea typeface="Calibri" pitchFamily="34" charset="-122"/>
                <a:cs typeface="Calibri" pitchFamily="34" charset="-120"/>
              </a:rPr>
              <a:t>9 tables + 1 view</a:t>
            </a:r>
            <a:endParaRPr lang="en-US" sz="950" dirty="0"/>
          </a:p>
        </p:txBody>
      </p:sp>
      <p:sp>
        <p:nvSpPr>
          <p:cNvPr id="16" name="Text 14"/>
          <p:cNvSpPr txBox="1"/>
          <p:nvPr/>
        </p:nvSpPr>
        <p:spPr>
          <a:xfrm>
            <a:off x="5998464" y="2286000"/>
            <a:ext cx="237744" cy="365760"/>
          </a:xfrm>
          <a:prstGeom prst="rect">
            <a:avLst/>
          </a:prstGeom>
          <a:noFill/>
          <a:ln/>
        </p:spPr>
        <p:txBody>
          <a:bodyPr wrap="square" lIns="0" tIns="0" rIns="0" bIns="0" rtlCol="0" anchor="ctr"/>
          <a:lstStyle/>
          <a:p>
            <a:pPr algn="ctr" indent="0" marL="0">
              <a:buNone/>
            </a:pPr>
            <a:r>
              <a:rPr lang="en-US" sz="1700" b="1" dirty="0">
                <a:solidFill>
                  <a:srgbClr val="2A3542"/>
                </a:solidFill>
                <a:latin typeface="Arial" pitchFamily="34" charset="0"/>
                <a:ea typeface="Arial" pitchFamily="34" charset="-122"/>
                <a:cs typeface="Arial" pitchFamily="34" charset="-120"/>
              </a:rPr>
              <a:t>›</a:t>
            </a:r>
            <a:endParaRPr lang="en-US" sz="1700" dirty="0"/>
          </a:p>
        </p:txBody>
      </p:sp>
      <p:sp>
        <p:nvSpPr>
          <p:cNvPr id="17" name="Shape 15"/>
          <p:cNvSpPr/>
          <p:nvPr/>
        </p:nvSpPr>
        <p:spPr>
          <a:xfrm>
            <a:off x="6236208" y="1965960"/>
            <a:ext cx="1627632" cy="1051560"/>
          </a:xfrm>
          <a:prstGeom prst="roundRect">
            <a:avLst>
              <a:gd name="adj" fmla="val 5217"/>
            </a:avLst>
          </a:prstGeom>
          <a:solidFill>
            <a:srgbClr val="161D27"/>
          </a:solidFill>
          <a:ln w="9525">
            <a:solidFill>
              <a:srgbClr val="2A3542"/>
            </a:solidFill>
            <a:prstDash val="solid"/>
          </a:ln>
        </p:spPr>
      </p:sp>
      <p:sp>
        <p:nvSpPr>
          <p:cNvPr id="18" name="Text 16"/>
          <p:cNvSpPr txBox="1"/>
          <p:nvPr/>
        </p:nvSpPr>
        <p:spPr>
          <a:xfrm>
            <a:off x="6254496" y="2212848"/>
            <a:ext cx="1591056" cy="274320"/>
          </a:xfrm>
          <a:prstGeom prst="rect">
            <a:avLst/>
          </a:prstGeom>
          <a:noFill/>
          <a:ln/>
        </p:spPr>
        <p:txBody>
          <a:bodyPr wrap="square" lIns="0" tIns="0" rIns="0" bIns="0" rtlCol="0" anchor="ctr"/>
          <a:lstStyle/>
          <a:p>
            <a:pPr algn="ctr" indent="0" marL="0">
              <a:buNone/>
            </a:pPr>
            <a:r>
              <a:rPr lang="en-US" sz="1400" b="1" dirty="0">
                <a:solidFill>
                  <a:srgbClr val="2DD4A7"/>
                </a:solidFill>
                <a:latin typeface="Arial" pitchFamily="34" charset="0"/>
                <a:ea typeface="Arial" pitchFamily="34" charset="-122"/>
                <a:cs typeface="Arial" pitchFamily="34" charset="-120"/>
              </a:rPr>
              <a:t>Services</a:t>
            </a:r>
            <a:endParaRPr lang="en-US" sz="1400" dirty="0"/>
          </a:p>
        </p:txBody>
      </p:sp>
      <p:sp>
        <p:nvSpPr>
          <p:cNvPr id="19" name="Text 17"/>
          <p:cNvSpPr txBox="1"/>
          <p:nvPr/>
        </p:nvSpPr>
        <p:spPr>
          <a:xfrm>
            <a:off x="6291072" y="2505456"/>
            <a:ext cx="1517904" cy="384048"/>
          </a:xfrm>
          <a:prstGeom prst="rect">
            <a:avLst/>
          </a:prstGeom>
          <a:noFill/>
          <a:ln/>
        </p:spPr>
        <p:txBody>
          <a:bodyPr wrap="square" lIns="0" tIns="0" rIns="0" bIns="0" rtlCol="0" anchor="ctr"/>
          <a:lstStyle/>
          <a:p>
            <a:pPr algn="ctr" indent="0" marL="0">
              <a:buNone/>
            </a:pPr>
            <a:r>
              <a:rPr lang="en-US" sz="950" dirty="0">
                <a:solidFill>
                  <a:srgbClr val="6B7A8C"/>
                </a:solidFill>
                <a:latin typeface="Calibri" pitchFamily="34" charset="0"/>
                <a:ea typeface="Calibri" pitchFamily="34" charset="-122"/>
                <a:cs typeface="Calibri" pitchFamily="34" charset="-120"/>
              </a:rPr>
              <a:t>analytics · elo · predictor</a:t>
            </a:r>
            <a:endParaRPr lang="en-US" sz="950" dirty="0"/>
          </a:p>
        </p:txBody>
      </p:sp>
      <p:sp>
        <p:nvSpPr>
          <p:cNvPr id="20" name="Text 18"/>
          <p:cNvSpPr txBox="1"/>
          <p:nvPr/>
        </p:nvSpPr>
        <p:spPr>
          <a:xfrm>
            <a:off x="7863840" y="2286000"/>
            <a:ext cx="237744" cy="365760"/>
          </a:xfrm>
          <a:prstGeom prst="rect">
            <a:avLst/>
          </a:prstGeom>
          <a:noFill/>
          <a:ln/>
        </p:spPr>
        <p:txBody>
          <a:bodyPr wrap="square" lIns="0" tIns="0" rIns="0" bIns="0" rtlCol="0" anchor="ctr"/>
          <a:lstStyle/>
          <a:p>
            <a:pPr algn="ctr" indent="0" marL="0">
              <a:buNone/>
            </a:pPr>
            <a:r>
              <a:rPr lang="en-US" sz="1700" b="1" dirty="0">
                <a:solidFill>
                  <a:srgbClr val="2A3542"/>
                </a:solidFill>
                <a:latin typeface="Arial" pitchFamily="34" charset="0"/>
                <a:ea typeface="Arial" pitchFamily="34" charset="-122"/>
                <a:cs typeface="Arial" pitchFamily="34" charset="-120"/>
              </a:rPr>
              <a:t>›</a:t>
            </a:r>
            <a:endParaRPr lang="en-US" sz="1700" dirty="0"/>
          </a:p>
        </p:txBody>
      </p:sp>
      <p:sp>
        <p:nvSpPr>
          <p:cNvPr id="21" name="Shape 19"/>
          <p:cNvSpPr/>
          <p:nvPr/>
        </p:nvSpPr>
        <p:spPr>
          <a:xfrm>
            <a:off x="8101584" y="1965960"/>
            <a:ext cx="1627632" cy="1051560"/>
          </a:xfrm>
          <a:prstGeom prst="roundRect">
            <a:avLst>
              <a:gd name="adj" fmla="val 5217"/>
            </a:avLst>
          </a:prstGeom>
          <a:solidFill>
            <a:srgbClr val="161D27"/>
          </a:solidFill>
          <a:ln w="9525">
            <a:solidFill>
              <a:srgbClr val="2A3542"/>
            </a:solidFill>
            <a:prstDash val="solid"/>
          </a:ln>
        </p:spPr>
      </p:sp>
      <p:sp>
        <p:nvSpPr>
          <p:cNvPr id="22" name="Text 20"/>
          <p:cNvSpPr txBox="1"/>
          <p:nvPr/>
        </p:nvSpPr>
        <p:spPr>
          <a:xfrm>
            <a:off x="8119872" y="2212848"/>
            <a:ext cx="1591056" cy="274320"/>
          </a:xfrm>
          <a:prstGeom prst="rect">
            <a:avLst/>
          </a:prstGeom>
          <a:noFill/>
          <a:ln/>
        </p:spPr>
        <p:txBody>
          <a:bodyPr wrap="square" lIns="0" tIns="0" rIns="0" bIns="0" rtlCol="0" anchor="ctr"/>
          <a:lstStyle/>
          <a:p>
            <a:pPr algn="ctr" indent="0" marL="0">
              <a:buNone/>
            </a:pPr>
            <a:r>
              <a:rPr lang="en-US" sz="1400" b="1" dirty="0">
                <a:solidFill>
                  <a:srgbClr val="F5C451"/>
                </a:solidFill>
                <a:latin typeface="Arial" pitchFamily="34" charset="0"/>
                <a:ea typeface="Arial" pitchFamily="34" charset="-122"/>
                <a:cs typeface="Arial" pitchFamily="34" charset="-120"/>
              </a:rPr>
              <a:t>Routes</a:t>
            </a:r>
            <a:endParaRPr lang="en-US" sz="1400" dirty="0"/>
          </a:p>
        </p:txBody>
      </p:sp>
      <p:sp>
        <p:nvSpPr>
          <p:cNvPr id="23" name="Text 21"/>
          <p:cNvSpPr txBox="1"/>
          <p:nvPr/>
        </p:nvSpPr>
        <p:spPr>
          <a:xfrm>
            <a:off x="8156448" y="2505456"/>
            <a:ext cx="1517904" cy="384048"/>
          </a:xfrm>
          <a:prstGeom prst="rect">
            <a:avLst/>
          </a:prstGeom>
          <a:noFill/>
          <a:ln/>
        </p:spPr>
        <p:txBody>
          <a:bodyPr wrap="square" lIns="0" tIns="0" rIns="0" bIns="0" rtlCol="0" anchor="ctr"/>
          <a:lstStyle/>
          <a:p>
            <a:pPr algn="ctr" indent="0" marL="0">
              <a:buNone/>
            </a:pPr>
            <a:r>
              <a:rPr lang="en-US" sz="950" dirty="0">
                <a:solidFill>
                  <a:srgbClr val="6B7A8C"/>
                </a:solidFill>
                <a:latin typeface="Calibri" pitchFamily="34" charset="0"/>
                <a:ea typeface="Calibri" pitchFamily="34" charset="-122"/>
                <a:cs typeface="Calibri" pitchFamily="34" charset="-120"/>
              </a:rPr>
              <a:t>pages · JSON API</a:t>
            </a:r>
            <a:endParaRPr lang="en-US" sz="950" dirty="0"/>
          </a:p>
        </p:txBody>
      </p:sp>
      <p:sp>
        <p:nvSpPr>
          <p:cNvPr id="24" name="Text 22"/>
          <p:cNvSpPr txBox="1"/>
          <p:nvPr/>
        </p:nvSpPr>
        <p:spPr>
          <a:xfrm>
            <a:off x="9729216" y="2286000"/>
            <a:ext cx="237744" cy="365760"/>
          </a:xfrm>
          <a:prstGeom prst="rect">
            <a:avLst/>
          </a:prstGeom>
          <a:noFill/>
          <a:ln/>
        </p:spPr>
        <p:txBody>
          <a:bodyPr wrap="square" lIns="0" tIns="0" rIns="0" bIns="0" rtlCol="0" anchor="ctr"/>
          <a:lstStyle/>
          <a:p>
            <a:pPr algn="ctr" indent="0" marL="0">
              <a:buNone/>
            </a:pPr>
            <a:r>
              <a:rPr lang="en-US" sz="1700" b="1" dirty="0">
                <a:solidFill>
                  <a:srgbClr val="2A3542"/>
                </a:solidFill>
                <a:latin typeface="Arial" pitchFamily="34" charset="0"/>
                <a:ea typeface="Arial" pitchFamily="34" charset="-122"/>
                <a:cs typeface="Arial" pitchFamily="34" charset="-120"/>
              </a:rPr>
              <a:t>›</a:t>
            </a:r>
            <a:endParaRPr lang="en-US" sz="1700" dirty="0"/>
          </a:p>
        </p:txBody>
      </p:sp>
      <p:sp>
        <p:nvSpPr>
          <p:cNvPr id="25" name="Shape 23"/>
          <p:cNvSpPr/>
          <p:nvPr/>
        </p:nvSpPr>
        <p:spPr>
          <a:xfrm>
            <a:off x="9966960" y="1965960"/>
            <a:ext cx="1627632" cy="1051560"/>
          </a:xfrm>
          <a:prstGeom prst="roundRect">
            <a:avLst>
              <a:gd name="adj" fmla="val 5217"/>
            </a:avLst>
          </a:prstGeom>
          <a:solidFill>
            <a:srgbClr val="161D27"/>
          </a:solidFill>
          <a:ln w="9525">
            <a:solidFill>
              <a:srgbClr val="2A3542"/>
            </a:solidFill>
            <a:prstDash val="solid"/>
          </a:ln>
        </p:spPr>
      </p:sp>
      <p:sp>
        <p:nvSpPr>
          <p:cNvPr id="26" name="Text 24"/>
          <p:cNvSpPr txBox="1"/>
          <p:nvPr/>
        </p:nvSpPr>
        <p:spPr>
          <a:xfrm>
            <a:off x="9985248" y="2212848"/>
            <a:ext cx="1591056" cy="274320"/>
          </a:xfrm>
          <a:prstGeom prst="rect">
            <a:avLst/>
          </a:prstGeom>
          <a:noFill/>
          <a:ln/>
        </p:spPr>
        <p:txBody>
          <a:bodyPr wrap="square" lIns="0" tIns="0" rIns="0" bIns="0" rtlCol="0" anchor="ctr"/>
          <a:lstStyle/>
          <a:p>
            <a:pPr algn="ctr" indent="0" marL="0">
              <a:buNone/>
            </a:pPr>
            <a:r>
              <a:rPr lang="en-US" sz="1400" b="1" dirty="0">
                <a:solidFill>
                  <a:srgbClr val="E6EDF3"/>
                </a:solidFill>
                <a:latin typeface="Arial" pitchFamily="34" charset="0"/>
                <a:ea typeface="Arial" pitchFamily="34" charset="-122"/>
                <a:cs typeface="Arial" pitchFamily="34" charset="-120"/>
              </a:rPr>
              <a:t>Browser</a:t>
            </a:r>
            <a:endParaRPr lang="en-US" sz="1400" dirty="0"/>
          </a:p>
        </p:txBody>
      </p:sp>
      <p:sp>
        <p:nvSpPr>
          <p:cNvPr id="27" name="Text 25"/>
          <p:cNvSpPr txBox="1"/>
          <p:nvPr/>
        </p:nvSpPr>
        <p:spPr>
          <a:xfrm>
            <a:off x="10021824" y="2505456"/>
            <a:ext cx="1517904" cy="384048"/>
          </a:xfrm>
          <a:prstGeom prst="rect">
            <a:avLst/>
          </a:prstGeom>
          <a:noFill/>
          <a:ln/>
        </p:spPr>
        <p:txBody>
          <a:bodyPr wrap="square" lIns="0" tIns="0" rIns="0" bIns="0" rtlCol="0" anchor="ctr"/>
          <a:lstStyle/>
          <a:p>
            <a:pPr algn="ctr" indent="0" marL="0">
              <a:buNone/>
            </a:pPr>
            <a:r>
              <a:rPr lang="en-US" sz="950" dirty="0">
                <a:solidFill>
                  <a:srgbClr val="6B7A8C"/>
                </a:solidFill>
                <a:latin typeface="Calibri" pitchFamily="34" charset="0"/>
                <a:ea typeface="Calibri" pitchFamily="34" charset="-122"/>
                <a:cs typeface="Calibri" pitchFamily="34" charset="-120"/>
              </a:rPr>
              <a:t>Jinja2 + Chart.js</a:t>
            </a:r>
            <a:endParaRPr lang="en-US" sz="950" dirty="0"/>
          </a:p>
        </p:txBody>
      </p:sp>
      <p:sp>
        <p:nvSpPr>
          <p:cNvPr id="28" name="Shape 26"/>
          <p:cNvSpPr/>
          <p:nvPr/>
        </p:nvSpPr>
        <p:spPr>
          <a:xfrm>
            <a:off x="640080" y="3246120"/>
            <a:ext cx="5349240" cy="1371600"/>
          </a:xfrm>
          <a:prstGeom prst="roundRect">
            <a:avLst>
              <a:gd name="adj" fmla="val 4000"/>
            </a:avLst>
          </a:prstGeom>
          <a:solidFill>
            <a:srgbClr val="1C2531"/>
          </a:solidFill>
          <a:ln w="9525">
            <a:solidFill>
              <a:srgbClr val="2A3542"/>
            </a:solidFill>
            <a:prstDash val="solid"/>
          </a:ln>
        </p:spPr>
      </p:sp>
      <p:sp>
        <p:nvSpPr>
          <p:cNvPr id="29" name="Text 27"/>
          <p:cNvSpPr txBox="1"/>
          <p:nvPr/>
        </p:nvSpPr>
        <p:spPr>
          <a:xfrm>
            <a:off x="932688" y="3419856"/>
            <a:ext cx="4754880" cy="256032"/>
          </a:xfrm>
          <a:prstGeom prst="rect">
            <a:avLst/>
          </a:prstGeom>
          <a:noFill/>
          <a:ln/>
        </p:spPr>
        <p:txBody>
          <a:bodyPr wrap="square" lIns="0" tIns="0" rIns="0" bIns="0" rtlCol="0" anchor="ctr"/>
          <a:lstStyle/>
          <a:p>
            <a:pPr indent="0" marL="0">
              <a:buNone/>
            </a:pPr>
            <a:r>
              <a:rPr lang="en-US" sz="1400" b="1" dirty="0">
                <a:solidFill>
                  <a:srgbClr val="E6EDF3"/>
                </a:solidFill>
                <a:latin typeface="Arial" pitchFamily="34" charset="0"/>
                <a:ea typeface="Arial" pitchFamily="34" charset="-122"/>
                <a:cs typeface="Arial" pitchFamily="34" charset="-120"/>
              </a:rPr>
              <a:t>The rule that makes it testable</a:t>
            </a:r>
            <a:endParaRPr lang="en-US" sz="1400" dirty="0"/>
          </a:p>
        </p:txBody>
      </p:sp>
      <p:sp>
        <p:nvSpPr>
          <p:cNvPr id="30" name="Text 28"/>
          <p:cNvSpPr txBox="1"/>
          <p:nvPr/>
        </p:nvSpPr>
        <p:spPr>
          <a:xfrm>
            <a:off x="932688" y="3767328"/>
            <a:ext cx="4754880" cy="777240"/>
          </a:xfrm>
          <a:prstGeom prst="rect">
            <a:avLst/>
          </a:prstGeom>
          <a:noFill/>
          <a:ln/>
        </p:spPr>
        <p:txBody>
          <a:bodyPr wrap="square" lIns="0" tIns="0" rIns="0" bIns="0" rtlCol="0" anchor="t"/>
          <a:lstStyle/>
          <a:p>
            <a:pPr indent="0" marL="0">
              <a:lnSpc>
                <a:spcPct val="116000"/>
              </a:lnSpc>
              <a:buNone/>
            </a:pPr>
            <a:r>
              <a:rPr lang="en-US" sz="1150" dirty="0">
                <a:solidFill>
                  <a:srgbClr val="8B98A9"/>
                </a:solidFill>
                <a:latin typeface="Calibri" pitchFamily="34" charset="0"/>
                <a:ea typeface="Calibri" pitchFamily="34" charset="-122"/>
                <a:cs typeface="Calibri" pitchFamily="34" charset="-120"/>
              </a:rPr>
              <a:t>Routes contain no SQL.  Services contain no HTTP.  The rating engine touches neither — it is pure functions over numbers, so the most important logic can be tested with no database and no web server.</a:t>
            </a:r>
            <a:endParaRPr lang="en-US" sz="1150" dirty="0"/>
          </a:p>
        </p:txBody>
      </p:sp>
      <p:sp>
        <p:nvSpPr>
          <p:cNvPr id="31" name="Shape 29"/>
          <p:cNvSpPr/>
          <p:nvPr/>
        </p:nvSpPr>
        <p:spPr>
          <a:xfrm>
            <a:off x="6263640" y="3246120"/>
            <a:ext cx="5285232" cy="1371600"/>
          </a:xfrm>
          <a:prstGeom prst="roundRect">
            <a:avLst>
              <a:gd name="adj" fmla="val 4000"/>
            </a:avLst>
          </a:prstGeom>
          <a:solidFill>
            <a:srgbClr val="1C2531"/>
          </a:solidFill>
          <a:ln w="9525">
            <a:solidFill>
              <a:srgbClr val="2A3542"/>
            </a:solidFill>
            <a:prstDash val="solid"/>
          </a:ln>
        </p:spPr>
      </p:sp>
      <p:sp>
        <p:nvSpPr>
          <p:cNvPr id="32" name="Text 30"/>
          <p:cNvSpPr txBox="1"/>
          <p:nvPr/>
        </p:nvSpPr>
        <p:spPr>
          <a:xfrm>
            <a:off x="6556248" y="3419856"/>
            <a:ext cx="4754880" cy="256032"/>
          </a:xfrm>
          <a:prstGeom prst="rect">
            <a:avLst/>
          </a:prstGeom>
          <a:noFill/>
          <a:ln/>
        </p:spPr>
        <p:txBody>
          <a:bodyPr wrap="square" lIns="0" tIns="0" rIns="0" bIns="0" rtlCol="0" anchor="ctr"/>
          <a:lstStyle/>
          <a:p>
            <a:pPr indent="0" marL="0">
              <a:buNone/>
            </a:pPr>
            <a:r>
              <a:rPr lang="en-US" sz="1400" b="1" dirty="0">
                <a:solidFill>
                  <a:srgbClr val="E6EDF3"/>
                </a:solidFill>
                <a:latin typeface="Arial" pitchFamily="34" charset="0"/>
                <a:ea typeface="Arial" pitchFamily="34" charset="-122"/>
                <a:cs typeface="Arial" pitchFamily="34" charset="-120"/>
              </a:rPr>
              <a:t>Why pre-compute in the ETL</a:t>
            </a:r>
            <a:endParaRPr lang="en-US" sz="1400" dirty="0"/>
          </a:p>
        </p:txBody>
      </p:sp>
      <p:sp>
        <p:nvSpPr>
          <p:cNvPr id="33" name="Text 31"/>
          <p:cNvSpPr txBox="1"/>
          <p:nvPr/>
        </p:nvSpPr>
        <p:spPr>
          <a:xfrm>
            <a:off x="6556248" y="3767328"/>
            <a:ext cx="4754880" cy="777240"/>
          </a:xfrm>
          <a:prstGeom prst="rect">
            <a:avLst/>
          </a:prstGeom>
          <a:noFill/>
          <a:ln/>
        </p:spPr>
        <p:txBody>
          <a:bodyPr wrap="square" lIns="0" tIns="0" rIns="0" bIns="0" rtlCol="0" anchor="t"/>
          <a:lstStyle/>
          <a:p>
            <a:pPr indent="0" marL="0">
              <a:lnSpc>
                <a:spcPct val="116000"/>
              </a:lnSpc>
              <a:buNone/>
            </a:pPr>
            <a:r>
              <a:rPr lang="en-US" sz="1150" dirty="0">
                <a:solidFill>
                  <a:srgbClr val="8B98A9"/>
                </a:solidFill>
                <a:latin typeface="Calibri" pitchFamily="34" charset="0"/>
                <a:ea typeface="Calibri" pitchFamily="34" charset="-122"/>
                <a:cs typeface="Calibri" pitchFamily="34" charset="-120"/>
              </a:rPr>
              <a:t>Replaying 49,547 matches takes about two seconds. Doing that per request would make every page slow; doing it once at build time makes every page instant — pages render in milliseconds.</a:t>
            </a:r>
            <a:endParaRPr lang="en-US" sz="1150" dirty="0"/>
          </a:p>
        </p:txBody>
      </p:sp>
      <p:sp>
        <p:nvSpPr>
          <p:cNvPr id="34" name="Text 32"/>
          <p:cNvSpPr txBox="1"/>
          <p:nvPr/>
        </p:nvSpPr>
        <p:spPr>
          <a:xfrm>
            <a:off x="640080" y="4828032"/>
            <a:ext cx="3657600" cy="274320"/>
          </a:xfrm>
          <a:prstGeom prst="rect">
            <a:avLst/>
          </a:prstGeom>
          <a:noFill/>
          <a:ln/>
        </p:spPr>
        <p:txBody>
          <a:bodyPr wrap="square" lIns="0" tIns="0" rIns="0" bIns="0" rtlCol="0" anchor="ctr"/>
          <a:lstStyle/>
          <a:p>
            <a:pPr indent="0" marL="0">
              <a:buNone/>
            </a:pPr>
            <a:r>
              <a:rPr lang="en-US" sz="1400" b="1" dirty="0">
                <a:solidFill>
                  <a:srgbClr val="E6EDF3"/>
                </a:solidFill>
                <a:latin typeface="Arial" pitchFamily="34" charset="0"/>
                <a:ea typeface="Arial" pitchFamily="34" charset="-122"/>
                <a:cs typeface="Arial" pitchFamily="34" charset="-120"/>
              </a:rPr>
              <a:t>Project structure</a:t>
            </a:r>
            <a:endParaRPr lang="en-US" sz="1400" dirty="0"/>
          </a:p>
        </p:txBody>
      </p:sp>
      <p:sp>
        <p:nvSpPr>
          <p:cNvPr id="35" name="Shape 33"/>
          <p:cNvSpPr/>
          <p:nvPr/>
        </p:nvSpPr>
        <p:spPr>
          <a:xfrm>
            <a:off x="640080" y="5138928"/>
            <a:ext cx="5349240" cy="1097280"/>
          </a:xfrm>
          <a:prstGeom prst="roundRect">
            <a:avLst>
              <a:gd name="adj" fmla="val 4167"/>
            </a:avLst>
          </a:prstGeom>
          <a:solidFill>
            <a:srgbClr val="0A0E14"/>
          </a:solidFill>
          <a:ln w="9525">
            <a:solidFill>
              <a:srgbClr val="2A3542"/>
            </a:solidFill>
            <a:prstDash val="solid"/>
          </a:ln>
        </p:spPr>
      </p:sp>
      <p:sp>
        <p:nvSpPr>
          <p:cNvPr id="36" name="Text 34"/>
          <p:cNvSpPr txBox="1"/>
          <p:nvPr/>
        </p:nvSpPr>
        <p:spPr>
          <a:xfrm>
            <a:off x="804672" y="5266944"/>
            <a:ext cx="5038344" cy="841248"/>
          </a:xfrm>
          <a:prstGeom prst="rect">
            <a:avLst/>
          </a:prstGeom>
          <a:noFill/>
          <a:ln/>
        </p:spPr>
        <p:txBody>
          <a:bodyPr wrap="square" lIns="0" tIns="0" rIns="0" bIns="0" rtlCol="0" anchor="t"/>
          <a:lstStyle/>
          <a:p>
            <a:pPr indent="0" marL="0">
              <a:lnSpc>
                <a:spcPct val="114000"/>
              </a:lnSpc>
              <a:buNone/>
            </a:pPr>
            <a:r>
              <a:rPr lang="en-US" sz="1000" dirty="0">
                <a:solidFill>
                  <a:srgbClr val="C9D6E2"/>
                </a:solidFill>
                <a:latin typeface="Courier New" pitchFamily="34" charset="0"/>
                <a:ea typeface="Courier New" pitchFamily="34" charset="-122"/>
                <a:cs typeface="Courier New" pitchFamily="34" charset="-120"/>
              </a:rPr>
              <a:t>app/</a:t>
            </a:r>
            <a:endParaRPr lang="en-US" sz="1000" dirty="0"/>
          </a:p>
          <a:p>
            <a:pPr indent="0" marL="0">
              <a:lnSpc>
                <a:spcPct val="114000"/>
              </a:lnSpc>
              <a:buNone/>
            </a:pPr>
            <a:r>
              <a:rPr lang="en-US" sz="1000" dirty="0">
                <a:solidFill>
                  <a:srgbClr val="C9D6E2"/>
                </a:solidFill>
                <a:latin typeface="Courier New" pitchFamily="34" charset="0"/>
                <a:ea typeface="Courier New" pitchFamily="34" charset="-122"/>
                <a:cs typeface="Courier New" pitchFamily="34" charset="-120"/>
              </a:rPr>
              <a:t>  config.py    etl.py     schema.sql   db.py</a:t>
            </a:r>
            <a:endParaRPr lang="en-US" sz="1000" dirty="0"/>
          </a:p>
          <a:p>
            <a:pPr indent="0" marL="0">
              <a:lnSpc>
                <a:spcPct val="114000"/>
              </a:lnSpc>
              <a:buNone/>
            </a:pPr>
            <a:r>
              <a:rPr lang="en-US" sz="1000" dirty="0">
                <a:solidFill>
                  <a:srgbClr val="C9D6E2"/>
                </a:solidFill>
                <a:latin typeface="Courier New" pitchFamily="34" charset="0"/>
                <a:ea typeface="Courier New" pitchFamily="34" charset="-122"/>
                <a:cs typeface="Courier New" pitchFamily="34" charset="-120"/>
              </a:rPr>
              <a:t>  services/    elo · predictor · analytics</a:t>
            </a:r>
            <a:endParaRPr lang="en-US" sz="1000" dirty="0"/>
          </a:p>
          <a:p>
            <a:pPr indent="0" marL="0">
              <a:lnSpc>
                <a:spcPct val="114000"/>
              </a:lnSpc>
              <a:buNone/>
            </a:pPr>
            <a:r>
              <a:rPr lang="en-US" sz="1000" dirty="0">
                <a:solidFill>
                  <a:srgbClr val="C9D6E2"/>
                </a:solidFill>
                <a:latin typeface="Courier New" pitchFamily="34" charset="0"/>
                <a:ea typeface="Courier New" pitchFamily="34" charset="-122"/>
                <a:cs typeface="Courier New" pitchFamily="34" charset="-120"/>
              </a:rPr>
              <a:t>  routes/      pages.py   api.py</a:t>
            </a:r>
            <a:endParaRPr lang="en-US" sz="1000" dirty="0"/>
          </a:p>
          <a:p>
            <a:pPr indent="0" marL="0">
              <a:lnSpc>
                <a:spcPct val="114000"/>
              </a:lnSpc>
              <a:buNone/>
            </a:pPr>
            <a:r>
              <a:rPr lang="en-US" sz="1000" dirty="0">
                <a:solidFill>
                  <a:srgbClr val="C9D6E2"/>
                </a:solidFill>
                <a:latin typeface="Courier New" pitchFamily="34" charset="0"/>
                <a:ea typeface="Courier New" pitchFamily="34" charset="-122"/>
                <a:cs typeface="Courier New" pitchFamily="34" charset="-120"/>
              </a:rPr>
              <a:t>  templates/   static/</a:t>
            </a:r>
            <a:endParaRPr lang="en-US" sz="1000" dirty="0"/>
          </a:p>
        </p:txBody>
      </p:sp>
      <p:sp>
        <p:nvSpPr>
          <p:cNvPr id="37" name="Shape 35"/>
          <p:cNvSpPr/>
          <p:nvPr/>
        </p:nvSpPr>
        <p:spPr>
          <a:xfrm>
            <a:off x="6263640" y="5138928"/>
            <a:ext cx="5285232" cy="1097280"/>
          </a:xfrm>
          <a:prstGeom prst="roundRect">
            <a:avLst>
              <a:gd name="adj" fmla="val 4167"/>
            </a:avLst>
          </a:prstGeom>
          <a:solidFill>
            <a:srgbClr val="0A0E14"/>
          </a:solidFill>
          <a:ln w="9525">
            <a:solidFill>
              <a:srgbClr val="2A3542"/>
            </a:solidFill>
            <a:prstDash val="solid"/>
          </a:ln>
        </p:spPr>
      </p:sp>
      <p:sp>
        <p:nvSpPr>
          <p:cNvPr id="38" name="Text 36"/>
          <p:cNvSpPr txBox="1"/>
          <p:nvPr/>
        </p:nvSpPr>
        <p:spPr>
          <a:xfrm>
            <a:off x="6428232" y="5266944"/>
            <a:ext cx="4974336" cy="841248"/>
          </a:xfrm>
          <a:prstGeom prst="rect">
            <a:avLst/>
          </a:prstGeom>
          <a:noFill/>
          <a:ln/>
        </p:spPr>
        <p:txBody>
          <a:bodyPr wrap="square" lIns="0" tIns="0" rIns="0" bIns="0" rtlCol="0" anchor="t"/>
          <a:lstStyle/>
          <a:p>
            <a:pPr indent="0" marL="0">
              <a:lnSpc>
                <a:spcPct val="114000"/>
              </a:lnSpc>
              <a:buNone/>
            </a:pPr>
            <a:r>
              <a:rPr lang="en-US" sz="1000" dirty="0">
                <a:solidFill>
                  <a:srgbClr val="C9D6E2"/>
                </a:solidFill>
                <a:latin typeface="Courier New" pitchFamily="34" charset="0"/>
                <a:ea typeface="Courier New" pitchFamily="34" charset="-122"/>
                <a:cs typeface="Courier New" pitchFamily="34" charset="-120"/>
              </a:rPr>
              <a:t>scripts/tune_elo.py   hyper-parameter search</a:t>
            </a:r>
            <a:endParaRPr lang="en-US" sz="1000" dirty="0"/>
          </a:p>
          <a:p>
            <a:pPr indent="0" marL="0">
              <a:lnSpc>
                <a:spcPct val="114000"/>
              </a:lnSpc>
              <a:buNone/>
            </a:pPr>
            <a:r>
              <a:rPr lang="en-US" sz="1000" dirty="0">
                <a:solidFill>
                  <a:srgbClr val="C9D6E2"/>
                </a:solidFill>
                <a:latin typeface="Courier New" pitchFamily="34" charset="0"/>
                <a:ea typeface="Courier New" pitchFamily="34" charset="-122"/>
                <a:cs typeface="Courier New" pitchFamily="34" charset="-120"/>
              </a:rPr>
              <a:t>tests/                91 tests</a:t>
            </a:r>
            <a:endParaRPr lang="en-US" sz="1000" dirty="0"/>
          </a:p>
          <a:p>
            <a:pPr indent="0" marL="0">
              <a:lnSpc>
                <a:spcPct val="114000"/>
              </a:lnSpc>
              <a:buNone/>
            </a:pPr>
            <a:r>
              <a:rPr lang="en-US" sz="1000" dirty="0">
                <a:solidFill>
                  <a:srgbClr val="C9D6E2"/>
                </a:solidFill>
                <a:latin typeface="Courier New" pitchFamily="34" charset="0"/>
                <a:ea typeface="Courier New" pitchFamily="34" charset="-122"/>
                <a:cs typeface="Courier New" pitchFamily="34" charset="-120"/>
              </a:rPr>
              <a:t>docs/                 SRS · design · testing</a:t>
            </a:r>
            <a:endParaRPr lang="en-US" sz="1000" dirty="0"/>
          </a:p>
          <a:p>
            <a:pPr indent="0" marL="0">
              <a:lnSpc>
                <a:spcPct val="114000"/>
              </a:lnSpc>
              <a:buNone/>
            </a:pPr>
            <a:r>
              <a:rPr lang="en-US" sz="1000" dirty="0">
                <a:solidFill>
                  <a:srgbClr val="C9D6E2"/>
                </a:solidFill>
                <a:latin typeface="Courier New" pitchFamily="34" charset="0"/>
                <a:ea typeface="Courier New" pitchFamily="34" charset="-122"/>
                <a:cs typeface="Courier New" pitchFamily="34" charset="-120"/>
              </a:rPr>
              <a:t>data/raw/             the three source CSVs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117"/>
        </a:solidFill>
      </p:bgPr>
    </p:bg>
    <p:spTree>
      <p:nvGrpSpPr>
        <p:cNvPr id="1" name=""/>
        <p:cNvGrpSpPr/>
        <p:nvPr/>
      </p:nvGrpSpPr>
      <p:grpSpPr>
        <a:xfrm>
          <a:off x="0" y="0"/>
          <a:ext cx="0" cy="0"/>
          <a:chOff x="0" y="0"/>
          <a:chExt cx="0" cy="0"/>
        </a:xfrm>
      </p:grpSpPr>
      <p:sp>
        <p:nvSpPr>
          <p:cNvPr id="2" name="Text 0"/>
          <p:cNvSpPr txBox="1"/>
          <p:nvPr/>
        </p:nvSpPr>
        <p:spPr>
          <a:xfrm>
            <a:off x="640080" y="384048"/>
            <a:ext cx="10058400" cy="256032"/>
          </a:xfrm>
          <a:prstGeom prst="rect">
            <a:avLst/>
          </a:prstGeom>
          <a:noFill/>
          <a:ln/>
        </p:spPr>
        <p:txBody>
          <a:bodyPr wrap="square" lIns="0" tIns="0" rIns="0" bIns="0" rtlCol="0" anchor="ctr"/>
          <a:lstStyle/>
          <a:p>
            <a:pPr indent="0" marL="0">
              <a:buNone/>
            </a:pPr>
            <a:r>
              <a:rPr lang="en-US" sz="1100" b="1" spc="200" kern="0" dirty="0">
                <a:solidFill>
                  <a:srgbClr val="2DD4A7"/>
                </a:solidFill>
                <a:latin typeface="Calibri" pitchFamily="34" charset="0"/>
                <a:ea typeface="Calibri" pitchFamily="34" charset="-122"/>
                <a:cs typeface="Calibri" pitchFamily="34" charset="-120"/>
              </a:rPr>
              <a:t>STAGE 1  ·  DATA PIPELINE</a:t>
            </a:r>
            <a:endParaRPr lang="en-US" sz="1100" dirty="0"/>
          </a:p>
        </p:txBody>
      </p:sp>
      <p:sp>
        <p:nvSpPr>
          <p:cNvPr id="3" name="Text 1"/>
          <p:cNvSpPr txBox="1"/>
          <p:nvPr/>
        </p:nvSpPr>
        <p:spPr>
          <a:xfrm>
            <a:off x="640080" y="658368"/>
            <a:ext cx="10881360" cy="566928"/>
          </a:xfrm>
          <a:prstGeom prst="rect">
            <a:avLst/>
          </a:prstGeom>
          <a:noFill/>
          <a:ln/>
        </p:spPr>
        <p:txBody>
          <a:bodyPr wrap="square" lIns="0" tIns="0" rIns="0" bIns="0" rtlCol="0" anchor="ctr"/>
          <a:lstStyle/>
          <a:p>
            <a:pPr indent="0" marL="0">
              <a:buNone/>
            </a:pPr>
            <a:r>
              <a:rPr lang="en-US" sz="3200" b="1" dirty="0">
                <a:solidFill>
                  <a:srgbClr val="E6EDF3"/>
                </a:solidFill>
                <a:latin typeface="Arial" pitchFamily="34" charset="0"/>
                <a:ea typeface="Arial" pitchFamily="34" charset="-122"/>
                <a:cs typeface="Arial" pitchFamily="34" charset="-120"/>
              </a:rPr>
              <a:t>Extract, transform, load</a:t>
            </a:r>
            <a:endParaRPr lang="en-US" sz="3200" dirty="0"/>
          </a:p>
        </p:txBody>
      </p:sp>
      <p:sp>
        <p:nvSpPr>
          <p:cNvPr id="4" name="Text 2"/>
          <p:cNvSpPr txBox="1"/>
          <p:nvPr/>
        </p:nvSpPr>
        <p:spPr>
          <a:xfrm>
            <a:off x="640080" y="1243584"/>
            <a:ext cx="10881360" cy="310896"/>
          </a:xfrm>
          <a:prstGeom prst="rect">
            <a:avLst/>
          </a:prstGeom>
          <a:noFill/>
          <a:ln/>
        </p:spPr>
        <p:txBody>
          <a:bodyPr wrap="square" lIns="0" tIns="0" rIns="0" bIns="0" rtlCol="0" anchor="ctr"/>
          <a:lstStyle/>
          <a:p>
            <a:pPr indent="0" marL="0">
              <a:buNone/>
            </a:pPr>
            <a:r>
              <a:rPr lang="en-US" sz="1350" dirty="0">
                <a:solidFill>
                  <a:srgbClr val="8B98A9"/>
                </a:solidFill>
                <a:latin typeface="Calibri" pitchFamily="34" charset="0"/>
                <a:ea typeface="Calibri" pitchFamily="34" charset="-122"/>
                <a:cs typeface="Calibri" pitchFamily="34" charset="-120"/>
              </a:rPr>
              <a:t>One command rebuilds the entire database from raw CSV in about five seconds.</a:t>
            </a:r>
            <a:endParaRPr lang="en-US" sz="1350" dirty="0"/>
          </a:p>
        </p:txBody>
      </p:sp>
      <p:sp>
        <p:nvSpPr>
          <p:cNvPr id="5" name="Shape 3"/>
          <p:cNvSpPr/>
          <p:nvPr/>
        </p:nvSpPr>
        <p:spPr>
          <a:xfrm>
            <a:off x="640080" y="1892808"/>
            <a:ext cx="329184" cy="329184"/>
          </a:xfrm>
          <a:prstGeom prst="ellipse">
            <a:avLst/>
          </a:prstGeom>
          <a:solidFill>
            <a:srgbClr val="2DD4A7"/>
          </a:solidFill>
          <a:ln w="12700">
            <a:solidFill>
              <a:srgbClr val="2DD4A7"/>
            </a:solidFill>
            <a:prstDash val="solid"/>
          </a:ln>
        </p:spPr>
      </p:sp>
      <p:sp>
        <p:nvSpPr>
          <p:cNvPr id="6" name="Text 4"/>
          <p:cNvSpPr txBox="1"/>
          <p:nvPr/>
        </p:nvSpPr>
        <p:spPr>
          <a:xfrm>
            <a:off x="640080" y="1892808"/>
            <a:ext cx="329184" cy="329184"/>
          </a:xfrm>
          <a:prstGeom prst="rect">
            <a:avLst/>
          </a:prstGeom>
          <a:noFill/>
          <a:ln/>
        </p:spPr>
        <p:txBody>
          <a:bodyPr wrap="square" lIns="0" tIns="0" rIns="0" bIns="0" rtlCol="0" anchor="ctr"/>
          <a:lstStyle/>
          <a:p>
            <a:pPr algn="ctr" indent="0" marL="0">
              <a:buNone/>
            </a:pPr>
            <a:r>
              <a:rPr lang="en-US" sz="1300" b="1" dirty="0">
                <a:solidFill>
                  <a:srgbClr val="07130F"/>
                </a:solidFill>
                <a:latin typeface="Arial" pitchFamily="34" charset="0"/>
                <a:ea typeface="Arial" pitchFamily="34" charset="-122"/>
                <a:cs typeface="Arial" pitchFamily="34" charset="-120"/>
              </a:rPr>
              <a:t>1</a:t>
            </a:r>
            <a:endParaRPr lang="en-US" sz="1300" dirty="0"/>
          </a:p>
        </p:txBody>
      </p:sp>
      <p:sp>
        <p:nvSpPr>
          <p:cNvPr id="7" name="Text 5"/>
          <p:cNvSpPr txBox="1"/>
          <p:nvPr/>
        </p:nvSpPr>
        <p:spPr>
          <a:xfrm>
            <a:off x="1097280" y="1874520"/>
            <a:ext cx="2011680" cy="274320"/>
          </a:xfrm>
          <a:prstGeom prst="rect">
            <a:avLst/>
          </a:prstGeom>
          <a:noFill/>
          <a:ln/>
        </p:spPr>
        <p:txBody>
          <a:bodyPr wrap="square" lIns="0" tIns="0" rIns="0" bIns="0" rtlCol="0" anchor="ctr"/>
          <a:lstStyle/>
          <a:p>
            <a:pPr indent="0" marL="0">
              <a:buNone/>
            </a:pPr>
            <a:r>
              <a:rPr lang="en-US" sz="1450" b="1" dirty="0">
                <a:solidFill>
                  <a:srgbClr val="E6EDF3"/>
                </a:solidFill>
                <a:latin typeface="Arial" pitchFamily="34" charset="0"/>
                <a:ea typeface="Arial" pitchFamily="34" charset="-122"/>
                <a:cs typeface="Arial" pitchFamily="34" charset="-120"/>
              </a:rPr>
              <a:t>Extract</a:t>
            </a:r>
            <a:endParaRPr lang="en-US" sz="1450" dirty="0"/>
          </a:p>
        </p:txBody>
      </p:sp>
      <p:sp>
        <p:nvSpPr>
          <p:cNvPr id="8" name="Text 6"/>
          <p:cNvSpPr txBox="1"/>
          <p:nvPr/>
        </p:nvSpPr>
        <p:spPr>
          <a:xfrm>
            <a:off x="1097280" y="2148840"/>
            <a:ext cx="4846320" cy="310896"/>
          </a:xfrm>
          <a:prstGeom prst="rect">
            <a:avLst/>
          </a:prstGeom>
          <a:noFill/>
          <a:ln/>
        </p:spPr>
        <p:txBody>
          <a:bodyPr wrap="square" lIns="0" tIns="0" rIns="0" bIns="0" rtlCol="0" anchor="t"/>
          <a:lstStyle/>
          <a:p>
            <a:pPr indent="0" marL="0">
              <a:lnSpc>
                <a:spcPct val="116000"/>
              </a:lnSpc>
              <a:buNone/>
            </a:pPr>
            <a:r>
              <a:rPr lang="en-US" sz="1150" dirty="0">
                <a:solidFill>
                  <a:srgbClr val="8B98A9"/>
                </a:solidFill>
                <a:latin typeface="Calibri" pitchFamily="34" charset="0"/>
                <a:ea typeface="Calibri" pitchFamily="34" charset="-122"/>
                <a:cs typeface="Calibri" pitchFamily="34" charset="-120"/>
              </a:rPr>
              <a:t>Read the three CSVs with pandas.</a:t>
            </a:r>
            <a:endParaRPr lang="en-US" sz="1150" dirty="0"/>
          </a:p>
        </p:txBody>
      </p:sp>
      <p:sp>
        <p:nvSpPr>
          <p:cNvPr id="9" name="Shape 7"/>
          <p:cNvSpPr/>
          <p:nvPr/>
        </p:nvSpPr>
        <p:spPr>
          <a:xfrm>
            <a:off x="640080" y="2606040"/>
            <a:ext cx="329184" cy="329184"/>
          </a:xfrm>
          <a:prstGeom prst="ellipse">
            <a:avLst/>
          </a:prstGeom>
          <a:solidFill>
            <a:srgbClr val="A78BFA"/>
          </a:solidFill>
          <a:ln w="12700">
            <a:solidFill>
              <a:srgbClr val="A78BFA"/>
            </a:solidFill>
            <a:prstDash val="solid"/>
          </a:ln>
        </p:spPr>
      </p:sp>
      <p:sp>
        <p:nvSpPr>
          <p:cNvPr id="10" name="Text 8"/>
          <p:cNvSpPr txBox="1"/>
          <p:nvPr/>
        </p:nvSpPr>
        <p:spPr>
          <a:xfrm>
            <a:off x="640080" y="2606040"/>
            <a:ext cx="329184" cy="329184"/>
          </a:xfrm>
          <a:prstGeom prst="rect">
            <a:avLst/>
          </a:prstGeom>
          <a:noFill/>
          <a:ln/>
        </p:spPr>
        <p:txBody>
          <a:bodyPr wrap="square" lIns="0" tIns="0" rIns="0" bIns="0" rtlCol="0" anchor="ctr"/>
          <a:lstStyle/>
          <a:p>
            <a:pPr algn="ctr" indent="0" marL="0">
              <a:buNone/>
            </a:pPr>
            <a:r>
              <a:rPr lang="en-US" sz="1300" b="1" dirty="0">
                <a:solidFill>
                  <a:srgbClr val="07130F"/>
                </a:solidFill>
                <a:latin typeface="Arial" pitchFamily="34" charset="0"/>
                <a:ea typeface="Arial" pitchFamily="34" charset="-122"/>
                <a:cs typeface="Arial" pitchFamily="34" charset="-120"/>
              </a:rPr>
              <a:t>2</a:t>
            </a:r>
            <a:endParaRPr lang="en-US" sz="1300" dirty="0"/>
          </a:p>
        </p:txBody>
      </p:sp>
      <p:sp>
        <p:nvSpPr>
          <p:cNvPr id="11" name="Text 9"/>
          <p:cNvSpPr txBox="1"/>
          <p:nvPr/>
        </p:nvSpPr>
        <p:spPr>
          <a:xfrm>
            <a:off x="1097280" y="2587752"/>
            <a:ext cx="2011680" cy="274320"/>
          </a:xfrm>
          <a:prstGeom prst="rect">
            <a:avLst/>
          </a:prstGeom>
          <a:noFill/>
          <a:ln/>
        </p:spPr>
        <p:txBody>
          <a:bodyPr wrap="square" lIns="0" tIns="0" rIns="0" bIns="0" rtlCol="0" anchor="ctr"/>
          <a:lstStyle/>
          <a:p>
            <a:pPr indent="0" marL="0">
              <a:buNone/>
            </a:pPr>
            <a:r>
              <a:rPr lang="en-US" sz="1450" b="1" dirty="0">
                <a:solidFill>
                  <a:srgbClr val="E6EDF3"/>
                </a:solidFill>
                <a:latin typeface="Arial" pitchFamily="34" charset="0"/>
                <a:ea typeface="Arial" pitchFamily="34" charset="-122"/>
                <a:cs typeface="Arial" pitchFamily="34" charset="-120"/>
              </a:rPr>
              <a:t>Transform</a:t>
            </a:r>
            <a:endParaRPr lang="en-US" sz="1450" dirty="0"/>
          </a:p>
        </p:txBody>
      </p:sp>
      <p:sp>
        <p:nvSpPr>
          <p:cNvPr id="12" name="Text 10"/>
          <p:cNvSpPr txBox="1"/>
          <p:nvPr/>
        </p:nvSpPr>
        <p:spPr>
          <a:xfrm>
            <a:off x="1097280" y="2862072"/>
            <a:ext cx="4846320" cy="960120"/>
          </a:xfrm>
          <a:prstGeom prst="rect">
            <a:avLst/>
          </a:prstGeom>
          <a:noFill/>
          <a:ln/>
        </p:spPr>
        <p:txBody>
          <a:bodyPr wrap="square" lIns="0" tIns="0" rIns="0" bIns="0" rtlCol="0" anchor="t"/>
          <a:lstStyle/>
          <a:p>
            <a:pPr indent="0" marL="0">
              <a:lnSpc>
                <a:spcPct val="116000"/>
              </a:lnSpc>
              <a:buNone/>
            </a:pPr>
            <a:r>
              <a:rPr lang="en-US" sz="1150" dirty="0">
                <a:solidFill>
                  <a:srgbClr val="8B98A9"/>
                </a:solidFill>
                <a:latin typeface="Calibri" pitchFamily="34" charset="0"/>
                <a:ea typeface="Calibri" pitchFamily="34" charset="-122"/>
                <a:cs typeface="Calibri" pitchFamily="34" charset="-120"/>
              </a:rPr>
              <a:t>Drop unplayed fixtures, cast types, build the team dimension, derive each tournament's champion, replay 150 years through the Elo engine, calibrate and score the model.</a:t>
            </a:r>
            <a:endParaRPr lang="en-US" sz="1150" dirty="0"/>
          </a:p>
        </p:txBody>
      </p:sp>
      <p:sp>
        <p:nvSpPr>
          <p:cNvPr id="13" name="Shape 11"/>
          <p:cNvSpPr/>
          <p:nvPr/>
        </p:nvSpPr>
        <p:spPr>
          <a:xfrm>
            <a:off x="640080" y="3977640"/>
            <a:ext cx="329184" cy="329184"/>
          </a:xfrm>
          <a:prstGeom prst="ellipse">
            <a:avLst/>
          </a:prstGeom>
          <a:solidFill>
            <a:srgbClr val="5AA9F5"/>
          </a:solidFill>
          <a:ln w="12700">
            <a:solidFill>
              <a:srgbClr val="5AA9F5"/>
            </a:solidFill>
            <a:prstDash val="solid"/>
          </a:ln>
        </p:spPr>
      </p:sp>
      <p:sp>
        <p:nvSpPr>
          <p:cNvPr id="14" name="Text 12"/>
          <p:cNvSpPr txBox="1"/>
          <p:nvPr/>
        </p:nvSpPr>
        <p:spPr>
          <a:xfrm>
            <a:off x="640080" y="3977640"/>
            <a:ext cx="329184" cy="329184"/>
          </a:xfrm>
          <a:prstGeom prst="rect">
            <a:avLst/>
          </a:prstGeom>
          <a:noFill/>
          <a:ln/>
        </p:spPr>
        <p:txBody>
          <a:bodyPr wrap="square" lIns="0" tIns="0" rIns="0" bIns="0" rtlCol="0" anchor="ctr"/>
          <a:lstStyle/>
          <a:p>
            <a:pPr algn="ctr" indent="0" marL="0">
              <a:buNone/>
            </a:pPr>
            <a:r>
              <a:rPr lang="en-US" sz="1300" b="1" dirty="0">
                <a:solidFill>
                  <a:srgbClr val="07130F"/>
                </a:solidFill>
                <a:latin typeface="Arial" pitchFamily="34" charset="0"/>
                <a:ea typeface="Arial" pitchFamily="34" charset="-122"/>
                <a:cs typeface="Arial" pitchFamily="34" charset="-120"/>
              </a:rPr>
              <a:t>3</a:t>
            </a:r>
            <a:endParaRPr lang="en-US" sz="1300" dirty="0"/>
          </a:p>
        </p:txBody>
      </p:sp>
      <p:sp>
        <p:nvSpPr>
          <p:cNvPr id="15" name="Text 13"/>
          <p:cNvSpPr txBox="1"/>
          <p:nvPr/>
        </p:nvSpPr>
        <p:spPr>
          <a:xfrm>
            <a:off x="1097280" y="3959352"/>
            <a:ext cx="2011680" cy="274320"/>
          </a:xfrm>
          <a:prstGeom prst="rect">
            <a:avLst/>
          </a:prstGeom>
          <a:noFill/>
          <a:ln/>
        </p:spPr>
        <p:txBody>
          <a:bodyPr wrap="square" lIns="0" tIns="0" rIns="0" bIns="0" rtlCol="0" anchor="ctr"/>
          <a:lstStyle/>
          <a:p>
            <a:pPr indent="0" marL="0">
              <a:buNone/>
            </a:pPr>
            <a:r>
              <a:rPr lang="en-US" sz="1450" b="1" dirty="0">
                <a:solidFill>
                  <a:srgbClr val="E6EDF3"/>
                </a:solidFill>
                <a:latin typeface="Arial" pitchFamily="34" charset="0"/>
                <a:ea typeface="Arial" pitchFamily="34" charset="-122"/>
                <a:cs typeface="Arial" pitchFamily="34" charset="-120"/>
              </a:rPr>
              <a:t>Load</a:t>
            </a:r>
            <a:endParaRPr lang="en-US" sz="1450" dirty="0"/>
          </a:p>
        </p:txBody>
      </p:sp>
      <p:sp>
        <p:nvSpPr>
          <p:cNvPr id="16" name="Text 14"/>
          <p:cNvSpPr txBox="1"/>
          <p:nvPr/>
        </p:nvSpPr>
        <p:spPr>
          <a:xfrm>
            <a:off x="1097280" y="4233672"/>
            <a:ext cx="4846320" cy="310896"/>
          </a:xfrm>
          <a:prstGeom prst="rect">
            <a:avLst/>
          </a:prstGeom>
          <a:noFill/>
          <a:ln/>
        </p:spPr>
        <p:txBody>
          <a:bodyPr wrap="square" lIns="0" tIns="0" rIns="0" bIns="0" rtlCol="0" anchor="t"/>
          <a:lstStyle/>
          <a:p>
            <a:pPr indent="0" marL="0">
              <a:lnSpc>
                <a:spcPct val="116000"/>
              </a:lnSpc>
              <a:buNone/>
            </a:pPr>
            <a:r>
              <a:rPr lang="en-US" sz="1150" dirty="0">
                <a:solidFill>
                  <a:srgbClr val="8B98A9"/>
                </a:solidFill>
                <a:latin typeface="Calibri" pitchFamily="34" charset="0"/>
                <a:ea typeface="Calibri" pitchFamily="34" charset="-122"/>
                <a:cs typeface="Calibri" pitchFamily="34" charset="-120"/>
              </a:rPr>
              <a:t>Write every table inside a single transaction.</a:t>
            </a:r>
            <a:endParaRPr lang="en-US" sz="1150" dirty="0"/>
          </a:p>
        </p:txBody>
      </p:sp>
      <p:sp>
        <p:nvSpPr>
          <p:cNvPr id="17" name="Shape 15"/>
          <p:cNvSpPr/>
          <p:nvPr/>
        </p:nvSpPr>
        <p:spPr>
          <a:xfrm>
            <a:off x="6263640" y="1847088"/>
            <a:ext cx="5285232" cy="1938528"/>
          </a:xfrm>
          <a:prstGeom prst="roundRect">
            <a:avLst>
              <a:gd name="adj" fmla="val 2358"/>
            </a:avLst>
          </a:prstGeom>
          <a:solidFill>
            <a:srgbClr val="0A0E14"/>
          </a:solidFill>
          <a:ln w="9525">
            <a:solidFill>
              <a:srgbClr val="2A3542"/>
            </a:solidFill>
            <a:prstDash val="solid"/>
          </a:ln>
        </p:spPr>
      </p:sp>
      <p:sp>
        <p:nvSpPr>
          <p:cNvPr id="18" name="Text 16"/>
          <p:cNvSpPr txBox="1"/>
          <p:nvPr/>
        </p:nvSpPr>
        <p:spPr>
          <a:xfrm>
            <a:off x="6428232" y="1975104"/>
            <a:ext cx="4974336" cy="1682496"/>
          </a:xfrm>
          <a:prstGeom prst="rect">
            <a:avLst/>
          </a:prstGeom>
          <a:noFill/>
          <a:ln/>
        </p:spPr>
        <p:txBody>
          <a:bodyPr wrap="square" lIns="0" tIns="0" rIns="0" bIns="0" rtlCol="0" anchor="t"/>
          <a:lstStyle/>
          <a:p>
            <a:pPr indent="0" marL="0">
              <a:lnSpc>
                <a:spcPct val="114000"/>
              </a:lnSpc>
              <a:buNone/>
            </a:pPr>
            <a:r>
              <a:rPr lang="en-US" sz="1100" dirty="0">
                <a:solidFill>
                  <a:srgbClr val="C9D6E2"/>
                </a:solidFill>
                <a:latin typeface="Courier New" pitchFamily="34" charset="0"/>
                <a:ea typeface="Courier New" pitchFamily="34" charset="-122"/>
                <a:cs typeface="Courier New" pitchFamily="34" charset="-120"/>
              </a:rPr>
              <a:t>def clean_matches(results):</a:t>
            </a:r>
            <a:endParaRPr lang="en-US" sz="1100" dirty="0"/>
          </a:p>
          <a:p>
            <a:pPr indent="0" marL="0">
              <a:lnSpc>
                <a:spcPct val="114000"/>
              </a:lnSpc>
              <a:buNone/>
            </a:pPr>
            <a:r>
              <a:rPr lang="en-US" sz="1100" dirty="0">
                <a:solidFill>
                  <a:srgbClr val="C9D6E2"/>
                </a:solidFill>
                <a:latin typeface="Courier New" pitchFamily="34" charset="0"/>
                <a:ea typeface="Courier New" pitchFamily="34" charset="-122"/>
                <a:cs typeface="Courier New" pitchFamily="34" charset="-120"/>
              </a:rPr>
              <a:t>    df = results.dropna(</a:t>
            </a:r>
            <a:endParaRPr lang="en-US" sz="1100" dirty="0"/>
          </a:p>
          <a:p>
            <a:pPr indent="0" marL="0">
              <a:lnSpc>
                <a:spcPct val="114000"/>
              </a:lnSpc>
              <a:buNone/>
            </a:pPr>
            <a:r>
              <a:rPr lang="en-US" sz="1100" dirty="0">
                <a:solidFill>
                  <a:srgbClr val="C9D6E2"/>
                </a:solidFill>
                <a:latin typeface="Courier New" pitchFamily="34" charset="0"/>
                <a:ea typeface="Courier New" pitchFamily="34" charset="-122"/>
                <a:cs typeface="Courier New" pitchFamily="34" charset="-120"/>
              </a:rPr>
              <a:t>        subset=["home_score", "away_score"])</a:t>
            </a:r>
            <a:endParaRPr lang="en-US" sz="1100" dirty="0"/>
          </a:p>
          <a:p>
            <a:pPr indent="0" marL="0">
              <a:lnSpc>
                <a:spcPct val="114000"/>
              </a:lnSpc>
              <a:buNone/>
            </a:pPr>
            <a:r>
              <a:rPr lang="en-US" sz="1100" dirty="0">
                <a:solidFill>
                  <a:srgbClr val="C9D6E2"/>
                </a:solidFill>
                <a:latin typeface="Courier New" pitchFamily="34" charset="0"/>
                <a:ea typeface="Courier New" pitchFamily="34" charset="-122"/>
                <a:cs typeface="Courier New" pitchFamily="34" charset="-120"/>
              </a:rPr>
              <a:t>    df["year"] = df["date"].str[:4].astype(int)</a:t>
            </a:r>
            <a:endParaRPr lang="en-US" sz="1100" dirty="0"/>
          </a:p>
          <a:p>
            <a:pPr indent="0" marL="0">
              <a:lnSpc>
                <a:spcPct val="114000"/>
              </a:lnSpc>
              <a:buNone/>
            </a:pPr>
            <a:r>
              <a:rPr lang="en-US" sz="1100" dirty="0">
                <a:solidFill>
                  <a:srgbClr val="C9D6E2"/>
                </a:solidFill>
                <a:latin typeface="Courier New" pitchFamily="34" charset="0"/>
                <a:ea typeface="Courier New" pitchFamily="34" charset="-122"/>
                <a:cs typeface="Courier New" pitchFamily="34" charset="-120"/>
              </a:rPr>
              <a:t>    df["is_world_cup"] = (</a:t>
            </a:r>
            <a:endParaRPr lang="en-US" sz="1100" dirty="0"/>
          </a:p>
          <a:p>
            <a:pPr indent="0" marL="0">
              <a:lnSpc>
                <a:spcPct val="114000"/>
              </a:lnSpc>
              <a:buNone/>
            </a:pPr>
            <a:r>
              <a:rPr lang="en-US" sz="1100" dirty="0">
                <a:solidFill>
                  <a:srgbClr val="C9D6E2"/>
                </a:solidFill>
                <a:latin typeface="Courier New" pitchFamily="34" charset="0"/>
                <a:ea typeface="Courier New" pitchFamily="34" charset="-122"/>
                <a:cs typeface="Courier New" pitchFamily="34" charset="-120"/>
              </a:rPr>
              <a:t>        df["tournament"] == WORLD_CUP).astype(int)</a:t>
            </a:r>
            <a:endParaRPr lang="en-US" sz="1100" dirty="0"/>
          </a:p>
          <a:p>
            <a:pPr indent="0" marL="0">
              <a:lnSpc>
                <a:spcPct val="114000"/>
              </a:lnSpc>
              <a:buNone/>
            </a:pPr>
            <a:r>
              <a:rPr lang="en-US" sz="1100" dirty="0">
                <a:solidFill>
                  <a:srgbClr val="C9D6E2"/>
                </a:solidFill>
                <a:latin typeface="Courier New" pitchFamily="34" charset="0"/>
                <a:ea typeface="Courier New" pitchFamily="34" charset="-122"/>
                <a:cs typeface="Courier New" pitchFamily="34" charset="-120"/>
              </a:rPr>
              <a:t>    df = df.sort_values("date", kind="stable")</a:t>
            </a:r>
            <a:endParaRPr lang="en-US" sz="1100" dirty="0"/>
          </a:p>
          <a:p>
            <a:pPr indent="0" marL="0">
              <a:lnSpc>
                <a:spcPct val="114000"/>
              </a:lnSpc>
              <a:buNone/>
            </a:pPr>
            <a:r>
              <a:rPr lang="en-US" sz="1100" dirty="0">
                <a:solidFill>
                  <a:srgbClr val="C9D6E2"/>
                </a:solidFill>
                <a:latin typeface="Courier New" pitchFamily="34" charset="0"/>
                <a:ea typeface="Courier New" pitchFamily="34" charset="-122"/>
                <a:cs typeface="Courier New" pitchFamily="34" charset="-120"/>
              </a:rPr>
              <a:t>    df["id"] = df.index + 1</a:t>
            </a:r>
            <a:endParaRPr lang="en-US" sz="1100" dirty="0"/>
          </a:p>
          <a:p>
            <a:pPr indent="0" marL="0">
              <a:lnSpc>
                <a:spcPct val="114000"/>
              </a:lnSpc>
              <a:buNone/>
            </a:pPr>
            <a:r>
              <a:rPr lang="en-US" sz="1100" dirty="0">
                <a:solidFill>
                  <a:srgbClr val="C9D6E2"/>
                </a:solidFill>
                <a:latin typeface="Courier New" pitchFamily="34" charset="0"/>
                <a:ea typeface="Courier New" pitchFamily="34" charset="-122"/>
                <a:cs typeface="Courier New" pitchFamily="34" charset="-120"/>
              </a:rPr>
              <a:t>    return df</a:t>
            </a:r>
            <a:endParaRPr lang="en-US" sz="1100" dirty="0"/>
          </a:p>
        </p:txBody>
      </p:sp>
      <p:sp>
        <p:nvSpPr>
          <p:cNvPr id="19" name="Text 17"/>
          <p:cNvSpPr txBox="1"/>
          <p:nvPr/>
        </p:nvSpPr>
        <p:spPr>
          <a:xfrm>
            <a:off x="6263640" y="3877056"/>
            <a:ext cx="5285232" cy="457200"/>
          </a:xfrm>
          <a:prstGeom prst="rect">
            <a:avLst/>
          </a:prstGeom>
          <a:noFill/>
          <a:ln/>
        </p:spPr>
        <p:txBody>
          <a:bodyPr wrap="square" lIns="0" tIns="0" rIns="0" bIns="0" rtlCol="0" anchor="t"/>
          <a:lstStyle/>
          <a:p>
            <a:pPr indent="0" marL="0">
              <a:lnSpc>
                <a:spcPct val="114000"/>
              </a:lnSpc>
              <a:buNone/>
            </a:pPr>
            <a:r>
              <a:rPr lang="en-US" sz="1050" i="1" dirty="0">
                <a:solidFill>
                  <a:srgbClr val="6B7A8C"/>
                </a:solidFill>
                <a:latin typeface="Calibri" pitchFamily="34" charset="0"/>
                <a:ea typeface="Calibri" pitchFamily="34" charset="-122"/>
                <a:cs typeface="Calibri" pitchFamily="34" charset="-120"/>
              </a:rPr>
              <a:t>Sorting by date is not cosmetic — the Elo engine must replay matches in the order they were actually played.</a:t>
            </a:r>
            <a:endParaRPr lang="en-US" sz="1050" dirty="0"/>
          </a:p>
        </p:txBody>
      </p:sp>
      <p:sp>
        <p:nvSpPr>
          <p:cNvPr id="20" name="Shape 18"/>
          <p:cNvSpPr/>
          <p:nvPr/>
        </p:nvSpPr>
        <p:spPr>
          <a:xfrm>
            <a:off x="640080" y="4892040"/>
            <a:ext cx="10908792" cy="1481328"/>
          </a:xfrm>
          <a:prstGeom prst="roundRect">
            <a:avLst>
              <a:gd name="adj" fmla="val 3704"/>
            </a:avLst>
          </a:prstGeom>
          <a:solidFill>
            <a:srgbClr val="1C2531"/>
          </a:solidFill>
          <a:ln w="9525">
            <a:solidFill>
              <a:srgbClr val="2A3542"/>
            </a:solidFill>
            <a:prstDash val="solid"/>
          </a:ln>
        </p:spPr>
      </p:sp>
      <p:sp>
        <p:nvSpPr>
          <p:cNvPr id="21" name="Text 19"/>
          <p:cNvSpPr txBox="1"/>
          <p:nvPr/>
        </p:nvSpPr>
        <p:spPr>
          <a:xfrm>
            <a:off x="960120" y="5065776"/>
            <a:ext cx="6858000" cy="274320"/>
          </a:xfrm>
          <a:prstGeom prst="rect">
            <a:avLst/>
          </a:prstGeom>
          <a:noFill/>
          <a:ln/>
        </p:spPr>
        <p:txBody>
          <a:bodyPr wrap="square" lIns="0" tIns="0" rIns="0" bIns="0" rtlCol="0" anchor="ctr"/>
          <a:lstStyle/>
          <a:p>
            <a:pPr indent="0" marL="0">
              <a:buNone/>
            </a:pPr>
            <a:r>
              <a:rPr lang="en-US" sz="1450" b="1" dirty="0">
                <a:solidFill>
                  <a:srgbClr val="F5C451"/>
                </a:solidFill>
                <a:latin typeface="Arial" pitchFamily="34" charset="0"/>
                <a:ea typeface="Arial" pitchFamily="34" charset="-122"/>
                <a:cs typeface="Arial" pitchFamily="34" charset="-120"/>
              </a:rPr>
              <a:t>The bug worth talking about:  who won the 1950 World Cup?</a:t>
            </a:r>
            <a:endParaRPr lang="en-US" sz="1450" dirty="0"/>
          </a:p>
        </p:txBody>
      </p:sp>
      <p:sp>
        <p:nvSpPr>
          <p:cNvPr id="22" name="Text 20"/>
          <p:cNvSpPr txBox="1"/>
          <p:nvPr/>
        </p:nvSpPr>
        <p:spPr>
          <a:xfrm>
            <a:off x="960120" y="5367528"/>
            <a:ext cx="10241280" cy="868680"/>
          </a:xfrm>
          <a:prstGeom prst="rect">
            <a:avLst/>
          </a:prstGeom>
          <a:noFill/>
          <a:ln/>
        </p:spPr>
        <p:txBody>
          <a:bodyPr wrap="square" lIns="0" tIns="0" rIns="0" bIns="0" rtlCol="0" anchor="t"/>
          <a:lstStyle/>
          <a:p>
            <a:pPr indent="0" marL="0">
              <a:lnSpc>
                <a:spcPct val="116000"/>
              </a:lnSpc>
              <a:buNone/>
            </a:pPr>
            <a:r>
              <a:rPr lang="en-US" sz="1150" dirty="0">
                <a:solidFill>
                  <a:srgbClr val="8B98A9"/>
                </a:solidFill>
                <a:latin typeface="Calibri" pitchFamily="34" charset="0"/>
                <a:ea typeface="Calibri" pitchFamily="34" charset="-122"/>
                <a:cs typeface="Calibri" pitchFamily="34" charset="-120"/>
              </a:rPr>
              <a:t>I derived each champion as "the winner of the last match played". That works for 22 of the 23 editions — but 1950 had no final. It ended in a four-team round-robin whose last two matches were on the same day, so my code crowned Sweden instead of Uruguay. The fix breaks the tie by picking the fixture between the two highest-scoring teams of the tournament, and a regression test now asserts 1950 → Uruguay.</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117"/>
        </a:solidFill>
      </p:bgPr>
    </p:bg>
    <p:spTree>
      <p:nvGrpSpPr>
        <p:cNvPr id="1" name=""/>
        <p:cNvGrpSpPr/>
        <p:nvPr/>
      </p:nvGrpSpPr>
      <p:grpSpPr>
        <a:xfrm>
          <a:off x="0" y="0"/>
          <a:ext cx="0" cy="0"/>
          <a:chOff x="0" y="0"/>
          <a:chExt cx="0" cy="0"/>
        </a:xfrm>
      </p:grpSpPr>
      <p:sp>
        <p:nvSpPr>
          <p:cNvPr id="2" name="Text 0"/>
          <p:cNvSpPr txBox="1"/>
          <p:nvPr/>
        </p:nvSpPr>
        <p:spPr>
          <a:xfrm>
            <a:off x="640080" y="384048"/>
            <a:ext cx="10058400" cy="256032"/>
          </a:xfrm>
          <a:prstGeom prst="rect">
            <a:avLst/>
          </a:prstGeom>
          <a:noFill/>
          <a:ln/>
        </p:spPr>
        <p:txBody>
          <a:bodyPr wrap="square" lIns="0" tIns="0" rIns="0" bIns="0" rtlCol="0" anchor="ctr"/>
          <a:lstStyle/>
          <a:p>
            <a:pPr indent="0" marL="0">
              <a:buNone/>
            </a:pPr>
            <a:r>
              <a:rPr lang="en-US" sz="1100" b="1" spc="200" kern="0" dirty="0">
                <a:solidFill>
                  <a:srgbClr val="2DD4A7"/>
                </a:solidFill>
                <a:latin typeface="Calibri" pitchFamily="34" charset="0"/>
                <a:ea typeface="Calibri" pitchFamily="34" charset="-122"/>
                <a:cs typeface="Calibri" pitchFamily="34" charset="-120"/>
              </a:rPr>
              <a:t>STAGE 2  ·  DATA MODEL</a:t>
            </a:r>
            <a:endParaRPr lang="en-US" sz="1100" dirty="0"/>
          </a:p>
        </p:txBody>
      </p:sp>
      <p:sp>
        <p:nvSpPr>
          <p:cNvPr id="3" name="Text 1"/>
          <p:cNvSpPr txBox="1"/>
          <p:nvPr/>
        </p:nvSpPr>
        <p:spPr>
          <a:xfrm>
            <a:off x="640080" y="658368"/>
            <a:ext cx="10881360" cy="566928"/>
          </a:xfrm>
          <a:prstGeom prst="rect">
            <a:avLst/>
          </a:prstGeom>
          <a:noFill/>
          <a:ln/>
        </p:spPr>
        <p:txBody>
          <a:bodyPr wrap="square" lIns="0" tIns="0" rIns="0" bIns="0" rtlCol="0" anchor="ctr"/>
          <a:lstStyle/>
          <a:p>
            <a:pPr indent="0" marL="0">
              <a:buNone/>
            </a:pPr>
            <a:r>
              <a:rPr lang="en-US" sz="3200" b="1" dirty="0">
                <a:solidFill>
                  <a:srgbClr val="E6EDF3"/>
                </a:solidFill>
                <a:latin typeface="Arial" pitchFamily="34" charset="0"/>
                <a:ea typeface="Arial" pitchFamily="34" charset="-122"/>
                <a:cs typeface="Arial" pitchFamily="34" charset="-120"/>
              </a:rPr>
              <a:t>A normalised schema, and one view that pays for itself</a:t>
            </a:r>
            <a:endParaRPr lang="en-US" sz="3200" dirty="0"/>
          </a:p>
        </p:txBody>
      </p:sp>
      <p:sp>
        <p:nvSpPr>
          <p:cNvPr id="4" name="Text 2"/>
          <p:cNvSpPr txBox="1"/>
          <p:nvPr/>
        </p:nvSpPr>
        <p:spPr>
          <a:xfrm>
            <a:off x="640080" y="1243584"/>
            <a:ext cx="10881360" cy="310896"/>
          </a:xfrm>
          <a:prstGeom prst="rect">
            <a:avLst/>
          </a:prstGeom>
          <a:noFill/>
          <a:ln/>
        </p:spPr>
        <p:txBody>
          <a:bodyPr wrap="square" lIns="0" tIns="0" rIns="0" bIns="0" rtlCol="0" anchor="ctr"/>
          <a:lstStyle/>
          <a:p>
            <a:pPr indent="0" marL="0">
              <a:buNone/>
            </a:pPr>
            <a:r>
              <a:rPr lang="en-US" sz="1350" dirty="0">
                <a:solidFill>
                  <a:srgbClr val="8B98A9"/>
                </a:solidFill>
                <a:latin typeface="Calibri" pitchFamily="34" charset="0"/>
                <a:ea typeface="Calibri" pitchFamily="34" charset="-122"/>
                <a:cs typeface="Calibri" pitchFamily="34" charset="-120"/>
              </a:rPr>
              <a:t>Nine tables, plain SQL, no ORM — because in this project the queries are the analysis.</a:t>
            </a:r>
            <a:endParaRPr lang="en-US" sz="1350" dirty="0"/>
          </a:p>
        </p:txBody>
      </p:sp>
      <p:sp>
        <p:nvSpPr>
          <p:cNvPr id="5" name="Text 3"/>
          <p:cNvSpPr txBox="1"/>
          <p:nvPr/>
        </p:nvSpPr>
        <p:spPr>
          <a:xfrm>
            <a:off x="640080" y="1874520"/>
            <a:ext cx="2743200" cy="256032"/>
          </a:xfrm>
          <a:prstGeom prst="rect">
            <a:avLst/>
          </a:prstGeom>
          <a:noFill/>
          <a:ln/>
        </p:spPr>
        <p:txBody>
          <a:bodyPr wrap="square" lIns="0" tIns="0" rIns="0" bIns="0" rtlCol="0" anchor="ctr"/>
          <a:lstStyle/>
          <a:p>
            <a:pPr indent="0" marL="0">
              <a:buNone/>
            </a:pPr>
            <a:r>
              <a:rPr lang="en-US" sz="1400" b="1" dirty="0">
                <a:solidFill>
                  <a:srgbClr val="E6EDF3"/>
                </a:solidFill>
                <a:latin typeface="Arial" pitchFamily="34" charset="0"/>
                <a:ea typeface="Arial" pitchFamily="34" charset="-122"/>
                <a:cs typeface="Arial" pitchFamily="34" charset="-120"/>
              </a:rPr>
              <a:t>Tables</a:t>
            </a:r>
            <a:endParaRPr lang="en-US" sz="1400" dirty="0"/>
          </a:p>
        </p:txBody>
      </p:sp>
      <p:sp>
        <p:nvSpPr>
          <p:cNvPr id="6" name="Shape 4"/>
          <p:cNvSpPr/>
          <p:nvPr/>
        </p:nvSpPr>
        <p:spPr>
          <a:xfrm>
            <a:off x="640080" y="2212848"/>
            <a:ext cx="1691640" cy="329184"/>
          </a:xfrm>
          <a:prstGeom prst="roundRect">
            <a:avLst>
              <a:gd name="adj" fmla="val 13889"/>
            </a:avLst>
          </a:prstGeom>
          <a:solidFill>
            <a:srgbClr val="161D27"/>
          </a:solidFill>
          <a:ln w="9525">
            <a:solidFill>
              <a:srgbClr val="2A3542"/>
            </a:solidFill>
            <a:prstDash val="solid"/>
          </a:ln>
        </p:spPr>
      </p:sp>
      <p:sp>
        <p:nvSpPr>
          <p:cNvPr id="7" name="Text 5"/>
          <p:cNvSpPr txBox="1"/>
          <p:nvPr/>
        </p:nvSpPr>
        <p:spPr>
          <a:xfrm>
            <a:off x="658368" y="2212848"/>
            <a:ext cx="1655064" cy="329184"/>
          </a:xfrm>
          <a:prstGeom prst="rect">
            <a:avLst/>
          </a:prstGeom>
          <a:noFill/>
          <a:ln/>
        </p:spPr>
        <p:txBody>
          <a:bodyPr wrap="square" lIns="0" tIns="0" rIns="0" bIns="0" rtlCol="0" anchor="ctr"/>
          <a:lstStyle/>
          <a:p>
            <a:pPr algn="ctr" indent="0" marL="0">
              <a:buNone/>
            </a:pPr>
            <a:r>
              <a:rPr lang="en-US" sz="950" dirty="0">
                <a:solidFill>
                  <a:srgbClr val="2DD4A7"/>
                </a:solidFill>
                <a:latin typeface="Courier New" pitchFamily="34" charset="0"/>
                <a:ea typeface="Courier New" pitchFamily="34" charset="-122"/>
                <a:cs typeface="Courier New" pitchFamily="34" charset="-120"/>
              </a:rPr>
              <a:t>teams</a:t>
            </a:r>
            <a:endParaRPr lang="en-US" sz="950" dirty="0"/>
          </a:p>
        </p:txBody>
      </p:sp>
      <p:sp>
        <p:nvSpPr>
          <p:cNvPr id="8" name="Shape 6"/>
          <p:cNvSpPr/>
          <p:nvPr/>
        </p:nvSpPr>
        <p:spPr>
          <a:xfrm>
            <a:off x="2450592" y="2212848"/>
            <a:ext cx="1691640" cy="329184"/>
          </a:xfrm>
          <a:prstGeom prst="roundRect">
            <a:avLst>
              <a:gd name="adj" fmla="val 13889"/>
            </a:avLst>
          </a:prstGeom>
          <a:solidFill>
            <a:srgbClr val="161D27"/>
          </a:solidFill>
          <a:ln w="9525">
            <a:solidFill>
              <a:srgbClr val="2A3542"/>
            </a:solidFill>
            <a:prstDash val="solid"/>
          </a:ln>
        </p:spPr>
      </p:sp>
      <p:sp>
        <p:nvSpPr>
          <p:cNvPr id="9" name="Text 7"/>
          <p:cNvSpPr txBox="1"/>
          <p:nvPr/>
        </p:nvSpPr>
        <p:spPr>
          <a:xfrm>
            <a:off x="2468880" y="2212848"/>
            <a:ext cx="1655064" cy="329184"/>
          </a:xfrm>
          <a:prstGeom prst="rect">
            <a:avLst/>
          </a:prstGeom>
          <a:noFill/>
          <a:ln/>
        </p:spPr>
        <p:txBody>
          <a:bodyPr wrap="square" lIns="0" tIns="0" rIns="0" bIns="0" rtlCol="0" anchor="ctr"/>
          <a:lstStyle/>
          <a:p>
            <a:pPr algn="ctr" indent="0" marL="0">
              <a:buNone/>
            </a:pPr>
            <a:r>
              <a:rPr lang="en-US" sz="950" dirty="0">
                <a:solidFill>
                  <a:srgbClr val="2DD4A7"/>
                </a:solidFill>
                <a:latin typeface="Courier New" pitchFamily="34" charset="0"/>
                <a:ea typeface="Courier New" pitchFamily="34" charset="-122"/>
                <a:cs typeface="Courier New" pitchFamily="34" charset="-120"/>
              </a:rPr>
              <a:t>matches</a:t>
            </a:r>
            <a:endParaRPr lang="en-US" sz="950" dirty="0"/>
          </a:p>
        </p:txBody>
      </p:sp>
      <p:sp>
        <p:nvSpPr>
          <p:cNvPr id="10" name="Shape 8"/>
          <p:cNvSpPr/>
          <p:nvPr/>
        </p:nvSpPr>
        <p:spPr>
          <a:xfrm>
            <a:off x="4261104" y="2212848"/>
            <a:ext cx="1691640" cy="329184"/>
          </a:xfrm>
          <a:prstGeom prst="roundRect">
            <a:avLst>
              <a:gd name="adj" fmla="val 13889"/>
            </a:avLst>
          </a:prstGeom>
          <a:solidFill>
            <a:srgbClr val="161D27"/>
          </a:solidFill>
          <a:ln w="9525">
            <a:solidFill>
              <a:srgbClr val="2A3542"/>
            </a:solidFill>
            <a:prstDash val="solid"/>
          </a:ln>
        </p:spPr>
      </p:sp>
      <p:sp>
        <p:nvSpPr>
          <p:cNvPr id="11" name="Text 9"/>
          <p:cNvSpPr txBox="1"/>
          <p:nvPr/>
        </p:nvSpPr>
        <p:spPr>
          <a:xfrm>
            <a:off x="4279392" y="2212848"/>
            <a:ext cx="1655064" cy="329184"/>
          </a:xfrm>
          <a:prstGeom prst="rect">
            <a:avLst/>
          </a:prstGeom>
          <a:noFill/>
          <a:ln/>
        </p:spPr>
        <p:txBody>
          <a:bodyPr wrap="square" lIns="0" tIns="0" rIns="0" bIns="0" rtlCol="0" anchor="ctr"/>
          <a:lstStyle/>
          <a:p>
            <a:pPr algn="ctr" indent="0" marL="0">
              <a:buNone/>
            </a:pPr>
            <a:r>
              <a:rPr lang="en-US" sz="950" dirty="0">
                <a:solidFill>
                  <a:srgbClr val="2DD4A7"/>
                </a:solidFill>
                <a:latin typeface="Courier New" pitchFamily="34" charset="0"/>
                <a:ea typeface="Courier New" pitchFamily="34" charset="-122"/>
                <a:cs typeface="Courier New" pitchFamily="34" charset="-120"/>
              </a:rPr>
              <a:t>goals</a:t>
            </a:r>
            <a:endParaRPr lang="en-US" sz="950" dirty="0"/>
          </a:p>
        </p:txBody>
      </p:sp>
      <p:sp>
        <p:nvSpPr>
          <p:cNvPr id="12" name="Shape 10"/>
          <p:cNvSpPr/>
          <p:nvPr/>
        </p:nvSpPr>
        <p:spPr>
          <a:xfrm>
            <a:off x="640080" y="2633472"/>
            <a:ext cx="1691640" cy="329184"/>
          </a:xfrm>
          <a:prstGeom prst="roundRect">
            <a:avLst>
              <a:gd name="adj" fmla="val 13889"/>
            </a:avLst>
          </a:prstGeom>
          <a:solidFill>
            <a:srgbClr val="161D27"/>
          </a:solidFill>
          <a:ln w="9525">
            <a:solidFill>
              <a:srgbClr val="2A3542"/>
            </a:solidFill>
            <a:prstDash val="solid"/>
          </a:ln>
        </p:spPr>
      </p:sp>
      <p:sp>
        <p:nvSpPr>
          <p:cNvPr id="13" name="Text 11"/>
          <p:cNvSpPr txBox="1"/>
          <p:nvPr/>
        </p:nvSpPr>
        <p:spPr>
          <a:xfrm>
            <a:off x="658368" y="2633472"/>
            <a:ext cx="1655064" cy="329184"/>
          </a:xfrm>
          <a:prstGeom prst="rect">
            <a:avLst/>
          </a:prstGeom>
          <a:noFill/>
          <a:ln/>
        </p:spPr>
        <p:txBody>
          <a:bodyPr wrap="square" lIns="0" tIns="0" rIns="0" bIns="0" rtlCol="0" anchor="ctr"/>
          <a:lstStyle/>
          <a:p>
            <a:pPr algn="ctr" indent="0" marL="0">
              <a:buNone/>
            </a:pPr>
            <a:r>
              <a:rPr lang="en-US" sz="950" dirty="0">
                <a:solidFill>
                  <a:srgbClr val="2DD4A7"/>
                </a:solidFill>
                <a:latin typeface="Courier New" pitchFamily="34" charset="0"/>
                <a:ea typeface="Courier New" pitchFamily="34" charset="-122"/>
                <a:cs typeface="Courier New" pitchFamily="34" charset="-120"/>
              </a:rPr>
              <a:t>shootouts</a:t>
            </a:r>
            <a:endParaRPr lang="en-US" sz="950" dirty="0"/>
          </a:p>
        </p:txBody>
      </p:sp>
      <p:sp>
        <p:nvSpPr>
          <p:cNvPr id="14" name="Shape 12"/>
          <p:cNvSpPr/>
          <p:nvPr/>
        </p:nvSpPr>
        <p:spPr>
          <a:xfrm>
            <a:off x="2450592" y="2633472"/>
            <a:ext cx="1691640" cy="329184"/>
          </a:xfrm>
          <a:prstGeom prst="roundRect">
            <a:avLst>
              <a:gd name="adj" fmla="val 13889"/>
            </a:avLst>
          </a:prstGeom>
          <a:solidFill>
            <a:srgbClr val="161D27"/>
          </a:solidFill>
          <a:ln w="9525">
            <a:solidFill>
              <a:srgbClr val="2A3542"/>
            </a:solidFill>
            <a:prstDash val="solid"/>
          </a:ln>
        </p:spPr>
      </p:sp>
      <p:sp>
        <p:nvSpPr>
          <p:cNvPr id="15" name="Text 13"/>
          <p:cNvSpPr txBox="1"/>
          <p:nvPr/>
        </p:nvSpPr>
        <p:spPr>
          <a:xfrm>
            <a:off x="2468880" y="2633472"/>
            <a:ext cx="1655064" cy="329184"/>
          </a:xfrm>
          <a:prstGeom prst="rect">
            <a:avLst/>
          </a:prstGeom>
          <a:noFill/>
          <a:ln/>
        </p:spPr>
        <p:txBody>
          <a:bodyPr wrap="square" lIns="0" tIns="0" rIns="0" bIns="0" rtlCol="0" anchor="ctr"/>
          <a:lstStyle/>
          <a:p>
            <a:pPr algn="ctr" indent="0" marL="0">
              <a:buNone/>
            </a:pPr>
            <a:r>
              <a:rPr lang="en-US" sz="950" dirty="0">
                <a:solidFill>
                  <a:srgbClr val="2DD4A7"/>
                </a:solidFill>
                <a:latin typeface="Courier New" pitchFamily="34" charset="0"/>
                <a:ea typeface="Courier New" pitchFamily="34" charset="-122"/>
                <a:cs typeface="Courier New" pitchFamily="34" charset="-120"/>
              </a:rPr>
              <a:t>tournaments</a:t>
            </a:r>
            <a:endParaRPr lang="en-US" sz="950" dirty="0"/>
          </a:p>
        </p:txBody>
      </p:sp>
      <p:sp>
        <p:nvSpPr>
          <p:cNvPr id="16" name="Shape 14"/>
          <p:cNvSpPr/>
          <p:nvPr/>
        </p:nvSpPr>
        <p:spPr>
          <a:xfrm>
            <a:off x="4261104" y="2633472"/>
            <a:ext cx="1691640" cy="329184"/>
          </a:xfrm>
          <a:prstGeom prst="roundRect">
            <a:avLst>
              <a:gd name="adj" fmla="val 13889"/>
            </a:avLst>
          </a:prstGeom>
          <a:solidFill>
            <a:srgbClr val="161D27"/>
          </a:solidFill>
          <a:ln w="9525">
            <a:solidFill>
              <a:srgbClr val="2A3542"/>
            </a:solidFill>
            <a:prstDash val="solid"/>
          </a:ln>
        </p:spPr>
      </p:sp>
      <p:sp>
        <p:nvSpPr>
          <p:cNvPr id="17" name="Text 15"/>
          <p:cNvSpPr txBox="1"/>
          <p:nvPr/>
        </p:nvSpPr>
        <p:spPr>
          <a:xfrm>
            <a:off x="4279392" y="2633472"/>
            <a:ext cx="1655064" cy="329184"/>
          </a:xfrm>
          <a:prstGeom prst="rect">
            <a:avLst/>
          </a:prstGeom>
          <a:noFill/>
          <a:ln/>
        </p:spPr>
        <p:txBody>
          <a:bodyPr wrap="square" lIns="0" tIns="0" rIns="0" bIns="0" rtlCol="0" anchor="ctr"/>
          <a:lstStyle/>
          <a:p>
            <a:pPr algn="ctr" indent="0" marL="0">
              <a:buNone/>
            </a:pPr>
            <a:r>
              <a:rPr lang="en-US" sz="950" dirty="0">
                <a:solidFill>
                  <a:srgbClr val="5AA9F5"/>
                </a:solidFill>
                <a:latin typeface="Courier New" pitchFamily="34" charset="0"/>
                <a:ea typeface="Courier New" pitchFamily="34" charset="-122"/>
                <a:cs typeface="Courier New" pitchFamily="34" charset="-120"/>
              </a:rPr>
              <a:t>elo_ratings</a:t>
            </a:r>
            <a:endParaRPr lang="en-US" sz="950" dirty="0"/>
          </a:p>
        </p:txBody>
      </p:sp>
      <p:sp>
        <p:nvSpPr>
          <p:cNvPr id="18" name="Shape 16"/>
          <p:cNvSpPr/>
          <p:nvPr/>
        </p:nvSpPr>
        <p:spPr>
          <a:xfrm>
            <a:off x="640080" y="3054096"/>
            <a:ext cx="1691640" cy="329184"/>
          </a:xfrm>
          <a:prstGeom prst="roundRect">
            <a:avLst>
              <a:gd name="adj" fmla="val 13889"/>
            </a:avLst>
          </a:prstGeom>
          <a:solidFill>
            <a:srgbClr val="161D27"/>
          </a:solidFill>
          <a:ln w="9525">
            <a:solidFill>
              <a:srgbClr val="2A3542"/>
            </a:solidFill>
            <a:prstDash val="solid"/>
          </a:ln>
        </p:spPr>
      </p:sp>
      <p:sp>
        <p:nvSpPr>
          <p:cNvPr id="19" name="Text 17"/>
          <p:cNvSpPr txBox="1"/>
          <p:nvPr/>
        </p:nvSpPr>
        <p:spPr>
          <a:xfrm>
            <a:off x="658368" y="3054096"/>
            <a:ext cx="1655064" cy="329184"/>
          </a:xfrm>
          <a:prstGeom prst="rect">
            <a:avLst/>
          </a:prstGeom>
          <a:noFill/>
          <a:ln/>
        </p:spPr>
        <p:txBody>
          <a:bodyPr wrap="square" lIns="0" tIns="0" rIns="0" bIns="0" rtlCol="0" anchor="ctr"/>
          <a:lstStyle/>
          <a:p>
            <a:pPr algn="ctr" indent="0" marL="0">
              <a:buNone/>
            </a:pPr>
            <a:r>
              <a:rPr lang="en-US" sz="950" dirty="0">
                <a:solidFill>
                  <a:srgbClr val="5AA9F5"/>
                </a:solidFill>
                <a:latin typeface="Courier New" pitchFamily="34" charset="0"/>
                <a:ea typeface="Courier New" pitchFamily="34" charset="-122"/>
                <a:cs typeface="Courier New" pitchFamily="34" charset="-120"/>
              </a:rPr>
              <a:t>elo_history</a:t>
            </a:r>
            <a:endParaRPr lang="en-US" sz="950" dirty="0"/>
          </a:p>
        </p:txBody>
      </p:sp>
      <p:sp>
        <p:nvSpPr>
          <p:cNvPr id="20" name="Shape 18"/>
          <p:cNvSpPr/>
          <p:nvPr/>
        </p:nvSpPr>
        <p:spPr>
          <a:xfrm>
            <a:off x="2450592" y="3054096"/>
            <a:ext cx="1691640" cy="329184"/>
          </a:xfrm>
          <a:prstGeom prst="roundRect">
            <a:avLst>
              <a:gd name="adj" fmla="val 13889"/>
            </a:avLst>
          </a:prstGeom>
          <a:solidFill>
            <a:srgbClr val="161D27"/>
          </a:solidFill>
          <a:ln w="9525">
            <a:solidFill>
              <a:srgbClr val="2A3542"/>
            </a:solidFill>
            <a:prstDash val="solid"/>
          </a:ln>
        </p:spPr>
      </p:sp>
      <p:sp>
        <p:nvSpPr>
          <p:cNvPr id="21" name="Text 19"/>
          <p:cNvSpPr txBox="1"/>
          <p:nvPr/>
        </p:nvSpPr>
        <p:spPr>
          <a:xfrm>
            <a:off x="2468880" y="3054096"/>
            <a:ext cx="1655064" cy="329184"/>
          </a:xfrm>
          <a:prstGeom prst="rect">
            <a:avLst/>
          </a:prstGeom>
          <a:noFill/>
          <a:ln/>
        </p:spPr>
        <p:txBody>
          <a:bodyPr wrap="square" lIns="0" tIns="0" rIns="0" bIns="0" rtlCol="0" anchor="ctr"/>
          <a:lstStyle/>
          <a:p>
            <a:pPr algn="ctr" indent="0" marL="0">
              <a:buNone/>
            </a:pPr>
            <a:r>
              <a:rPr lang="en-US" sz="950" dirty="0">
                <a:solidFill>
                  <a:srgbClr val="A78BFA"/>
                </a:solidFill>
                <a:latin typeface="Courier New" pitchFamily="34" charset="0"/>
                <a:ea typeface="Courier New" pitchFamily="34" charset="-122"/>
                <a:cs typeface="Courier New" pitchFamily="34" charset="-120"/>
              </a:rPr>
              <a:t>draw_calibration</a:t>
            </a:r>
            <a:endParaRPr lang="en-US" sz="950" dirty="0"/>
          </a:p>
        </p:txBody>
      </p:sp>
      <p:sp>
        <p:nvSpPr>
          <p:cNvPr id="22" name="Shape 20"/>
          <p:cNvSpPr/>
          <p:nvPr/>
        </p:nvSpPr>
        <p:spPr>
          <a:xfrm>
            <a:off x="4261104" y="3054096"/>
            <a:ext cx="1691640" cy="329184"/>
          </a:xfrm>
          <a:prstGeom prst="roundRect">
            <a:avLst>
              <a:gd name="adj" fmla="val 13889"/>
            </a:avLst>
          </a:prstGeom>
          <a:solidFill>
            <a:srgbClr val="161D27"/>
          </a:solidFill>
          <a:ln w="9525">
            <a:solidFill>
              <a:srgbClr val="2A3542"/>
            </a:solidFill>
            <a:prstDash val="solid"/>
          </a:ln>
        </p:spPr>
      </p:sp>
      <p:sp>
        <p:nvSpPr>
          <p:cNvPr id="23" name="Text 21"/>
          <p:cNvSpPr txBox="1"/>
          <p:nvPr/>
        </p:nvSpPr>
        <p:spPr>
          <a:xfrm>
            <a:off x="4279392" y="3054096"/>
            <a:ext cx="1655064" cy="329184"/>
          </a:xfrm>
          <a:prstGeom prst="rect">
            <a:avLst/>
          </a:prstGeom>
          <a:noFill/>
          <a:ln/>
        </p:spPr>
        <p:txBody>
          <a:bodyPr wrap="square" lIns="0" tIns="0" rIns="0" bIns="0" rtlCol="0" anchor="ctr"/>
          <a:lstStyle/>
          <a:p>
            <a:pPr algn="ctr" indent="0" marL="0">
              <a:buNone/>
            </a:pPr>
            <a:r>
              <a:rPr lang="en-US" sz="950" dirty="0">
                <a:solidFill>
                  <a:srgbClr val="A78BFA"/>
                </a:solidFill>
                <a:latin typeface="Courier New" pitchFamily="34" charset="0"/>
                <a:ea typeface="Courier New" pitchFamily="34" charset="-122"/>
                <a:cs typeface="Courier New" pitchFamily="34" charset="-120"/>
              </a:rPr>
              <a:t>model_metrics</a:t>
            </a:r>
            <a:endParaRPr lang="en-US" sz="950" dirty="0"/>
          </a:p>
        </p:txBody>
      </p:sp>
      <p:sp>
        <p:nvSpPr>
          <p:cNvPr id="24" name="Text 22"/>
          <p:cNvSpPr txBox="1"/>
          <p:nvPr/>
        </p:nvSpPr>
        <p:spPr>
          <a:xfrm>
            <a:off x="640080" y="3529584"/>
            <a:ext cx="5303520" cy="731520"/>
          </a:xfrm>
          <a:prstGeom prst="rect">
            <a:avLst/>
          </a:prstGeom>
          <a:noFill/>
          <a:ln/>
        </p:spPr>
        <p:txBody>
          <a:bodyPr wrap="square" lIns="0" tIns="0" rIns="0" bIns="0" rtlCol="0" anchor="t"/>
          <a:lstStyle/>
          <a:p>
            <a:pPr indent="0" marL="0">
              <a:lnSpc>
                <a:spcPct val="116000"/>
              </a:lnSpc>
              <a:buNone/>
            </a:pPr>
            <a:r>
              <a:rPr lang="en-US" sz="1150" dirty="0">
                <a:solidFill>
                  <a:srgbClr val="8B98A9"/>
                </a:solidFill>
                <a:latin typeface="Calibri" pitchFamily="34" charset="0"/>
                <a:ea typeface="Calibri" pitchFamily="34" charset="-122"/>
                <a:cs typeface="Calibri" pitchFamily="34" charset="-120"/>
              </a:rPr>
              <a:t>matches also stores home_elo and away_elo — each side's rating as it stood before kick-off. That single design choice is what makes honest evaluation possible later.</a:t>
            </a:r>
            <a:endParaRPr lang="en-US" sz="1150" dirty="0"/>
          </a:p>
        </p:txBody>
      </p:sp>
      <p:sp>
        <p:nvSpPr>
          <p:cNvPr id="25" name="Text 23"/>
          <p:cNvSpPr txBox="1"/>
          <p:nvPr/>
        </p:nvSpPr>
        <p:spPr>
          <a:xfrm>
            <a:off x="6263640" y="1874520"/>
            <a:ext cx="4572000" cy="256032"/>
          </a:xfrm>
          <a:prstGeom prst="rect">
            <a:avLst/>
          </a:prstGeom>
          <a:noFill/>
          <a:ln/>
        </p:spPr>
        <p:txBody>
          <a:bodyPr wrap="square" lIns="0" tIns="0" rIns="0" bIns="0" rtlCol="0" anchor="ctr"/>
          <a:lstStyle/>
          <a:p>
            <a:pPr indent="0" marL="0">
              <a:buNone/>
            </a:pPr>
            <a:r>
              <a:rPr lang="en-US" sz="1400" b="1" dirty="0">
                <a:solidFill>
                  <a:srgbClr val="E6EDF3"/>
                </a:solidFill>
                <a:latin typeface="Arial" pitchFamily="34" charset="0"/>
                <a:ea typeface="Arial" pitchFamily="34" charset="-122"/>
                <a:cs typeface="Arial" pitchFamily="34" charset="-120"/>
              </a:rPr>
              <a:t>The team_matches view</a:t>
            </a:r>
            <a:endParaRPr lang="en-US" sz="1400" dirty="0"/>
          </a:p>
        </p:txBody>
      </p:sp>
      <p:sp>
        <p:nvSpPr>
          <p:cNvPr id="26" name="Shape 24"/>
          <p:cNvSpPr/>
          <p:nvPr/>
        </p:nvSpPr>
        <p:spPr>
          <a:xfrm>
            <a:off x="6263640" y="2212848"/>
            <a:ext cx="5285232" cy="1874520"/>
          </a:xfrm>
          <a:prstGeom prst="roundRect">
            <a:avLst>
              <a:gd name="adj" fmla="val 2439"/>
            </a:avLst>
          </a:prstGeom>
          <a:solidFill>
            <a:srgbClr val="0A0E14"/>
          </a:solidFill>
          <a:ln w="9525">
            <a:solidFill>
              <a:srgbClr val="2A3542"/>
            </a:solidFill>
            <a:prstDash val="solid"/>
          </a:ln>
        </p:spPr>
      </p:sp>
      <p:sp>
        <p:nvSpPr>
          <p:cNvPr id="27" name="Text 25"/>
          <p:cNvSpPr txBox="1"/>
          <p:nvPr/>
        </p:nvSpPr>
        <p:spPr>
          <a:xfrm>
            <a:off x="6428232" y="2340864"/>
            <a:ext cx="4974336" cy="1618488"/>
          </a:xfrm>
          <a:prstGeom prst="rect">
            <a:avLst/>
          </a:prstGeom>
          <a:noFill/>
          <a:ln/>
        </p:spPr>
        <p:txBody>
          <a:bodyPr wrap="square" lIns="0" tIns="0" rIns="0" bIns="0" rtlCol="0" anchor="t"/>
          <a:lstStyle/>
          <a:p>
            <a:pPr indent="0" marL="0">
              <a:lnSpc>
                <a:spcPct val="114000"/>
              </a:lnSpc>
              <a:buNone/>
            </a:pPr>
            <a:r>
              <a:rPr lang="en-US" sz="1000" dirty="0">
                <a:solidFill>
                  <a:srgbClr val="C9D6E2"/>
                </a:solidFill>
                <a:latin typeface="Courier New" pitchFamily="34" charset="0"/>
                <a:ea typeface="Courier New" pitchFamily="34" charset="-122"/>
                <a:cs typeface="Courier New" pitchFamily="34" charset="-120"/>
              </a:rPr>
              <a:t>CREATE VIEW team_matches AS</a:t>
            </a:r>
            <a:endParaRPr lang="en-US" sz="1000" dirty="0"/>
          </a:p>
          <a:p>
            <a:pPr indent="0" marL="0">
              <a:lnSpc>
                <a:spcPct val="114000"/>
              </a:lnSpc>
              <a:buNone/>
            </a:pPr>
            <a:r>
              <a:rPr lang="en-US" sz="1000" dirty="0">
                <a:solidFill>
                  <a:srgbClr val="C9D6E2"/>
                </a:solidFill>
                <a:latin typeface="Courier New" pitchFamily="34" charset="0"/>
                <a:ea typeface="Courier New" pitchFamily="34" charset="-122"/>
                <a:cs typeface="Courier New" pitchFamily="34" charset="-120"/>
              </a:rPr>
              <a:t>  SELECT id, home_team_id AS team_id,</a:t>
            </a:r>
            <a:endParaRPr lang="en-US" sz="1000" dirty="0"/>
          </a:p>
          <a:p>
            <a:pPr indent="0" marL="0">
              <a:lnSpc>
                <a:spcPct val="114000"/>
              </a:lnSpc>
              <a:buNone/>
            </a:pPr>
            <a:r>
              <a:rPr lang="en-US" sz="1000" dirty="0">
                <a:solidFill>
                  <a:srgbClr val="C9D6E2"/>
                </a:solidFill>
                <a:latin typeface="Courier New" pitchFamily="34" charset="0"/>
                <a:ea typeface="Courier New" pitchFamily="34" charset="-122"/>
                <a:cs typeface="Courier New" pitchFamily="34" charset="-120"/>
              </a:rPr>
              <a:t>         away_team_id AS opponent_id,</a:t>
            </a:r>
            <a:endParaRPr lang="en-US" sz="1000" dirty="0"/>
          </a:p>
          <a:p>
            <a:pPr indent="0" marL="0">
              <a:lnSpc>
                <a:spcPct val="114000"/>
              </a:lnSpc>
              <a:buNone/>
            </a:pPr>
            <a:r>
              <a:rPr lang="en-US" sz="1000" dirty="0">
                <a:solidFill>
                  <a:srgbClr val="C9D6E2"/>
                </a:solidFill>
                <a:latin typeface="Courier New" pitchFamily="34" charset="0"/>
                <a:ea typeface="Courier New" pitchFamily="34" charset="-122"/>
                <a:cs typeface="Courier New" pitchFamily="34" charset="-120"/>
              </a:rPr>
              <a:t>         home_score AS gf, away_score AS ga</a:t>
            </a:r>
            <a:endParaRPr lang="en-US" sz="1000" dirty="0"/>
          </a:p>
          <a:p>
            <a:pPr indent="0" marL="0">
              <a:lnSpc>
                <a:spcPct val="114000"/>
              </a:lnSpc>
              <a:buNone/>
            </a:pPr>
            <a:r>
              <a:rPr lang="en-US" sz="1000" dirty="0">
                <a:solidFill>
                  <a:srgbClr val="C9D6E2"/>
                </a:solidFill>
                <a:latin typeface="Courier New" pitchFamily="34" charset="0"/>
                <a:ea typeface="Courier New" pitchFamily="34" charset="-122"/>
                <a:cs typeface="Courier New" pitchFamily="34" charset="-120"/>
              </a:rPr>
              <a:t>  FROM matches</a:t>
            </a:r>
            <a:endParaRPr lang="en-US" sz="1000" dirty="0"/>
          </a:p>
          <a:p>
            <a:pPr indent="0" marL="0">
              <a:lnSpc>
                <a:spcPct val="114000"/>
              </a:lnSpc>
              <a:buNone/>
            </a:pPr>
            <a:r>
              <a:rPr lang="en-US" sz="1000" dirty="0">
                <a:solidFill>
                  <a:srgbClr val="C9D6E2"/>
                </a:solidFill>
                <a:latin typeface="Courier New" pitchFamily="34" charset="0"/>
                <a:ea typeface="Courier New" pitchFamily="34" charset="-122"/>
                <a:cs typeface="Courier New" pitchFamily="34" charset="-120"/>
              </a:rPr>
              <a:t>  UNION ALL          -- same match, other side</a:t>
            </a:r>
            <a:endParaRPr lang="en-US" sz="1000" dirty="0"/>
          </a:p>
          <a:p>
            <a:pPr indent="0" marL="0">
              <a:lnSpc>
                <a:spcPct val="114000"/>
              </a:lnSpc>
              <a:buNone/>
            </a:pPr>
            <a:r>
              <a:rPr lang="en-US" sz="1000" dirty="0">
                <a:solidFill>
                  <a:srgbClr val="C9D6E2"/>
                </a:solidFill>
                <a:latin typeface="Courier New" pitchFamily="34" charset="0"/>
                <a:ea typeface="Courier New" pitchFamily="34" charset="-122"/>
                <a:cs typeface="Courier New" pitchFamily="34" charset="-120"/>
              </a:rPr>
              <a:t>  SELECT id, away_team_id, home_team_id,</a:t>
            </a:r>
            <a:endParaRPr lang="en-US" sz="1000" dirty="0"/>
          </a:p>
          <a:p>
            <a:pPr indent="0" marL="0">
              <a:lnSpc>
                <a:spcPct val="114000"/>
              </a:lnSpc>
              <a:buNone/>
            </a:pPr>
            <a:r>
              <a:rPr lang="en-US" sz="1000" dirty="0">
                <a:solidFill>
                  <a:srgbClr val="C9D6E2"/>
                </a:solidFill>
                <a:latin typeface="Courier New" pitchFamily="34" charset="0"/>
                <a:ea typeface="Courier New" pitchFamily="34" charset="-122"/>
                <a:cs typeface="Courier New" pitchFamily="34" charset="-120"/>
              </a:rPr>
              <a:t>         away_score, home_score FROM matches;</a:t>
            </a:r>
            <a:endParaRPr lang="en-US" sz="1000" dirty="0"/>
          </a:p>
        </p:txBody>
      </p:sp>
      <p:sp>
        <p:nvSpPr>
          <p:cNvPr id="28" name="Shape 26"/>
          <p:cNvSpPr/>
          <p:nvPr/>
        </p:nvSpPr>
        <p:spPr>
          <a:xfrm>
            <a:off x="640080" y="4407408"/>
            <a:ext cx="10908792" cy="1874520"/>
          </a:xfrm>
          <a:prstGeom prst="roundRect">
            <a:avLst>
              <a:gd name="adj" fmla="val 2927"/>
            </a:avLst>
          </a:prstGeom>
          <a:solidFill>
            <a:srgbClr val="1C2531"/>
          </a:solidFill>
          <a:ln w="9525">
            <a:solidFill>
              <a:srgbClr val="2A3542"/>
            </a:solidFill>
            <a:prstDash val="solid"/>
          </a:ln>
        </p:spPr>
      </p:sp>
      <p:sp>
        <p:nvSpPr>
          <p:cNvPr id="29" name="Text 27"/>
          <p:cNvSpPr txBox="1"/>
          <p:nvPr/>
        </p:nvSpPr>
        <p:spPr>
          <a:xfrm>
            <a:off x="960120" y="4572000"/>
            <a:ext cx="10241280" cy="274320"/>
          </a:xfrm>
          <a:prstGeom prst="rect">
            <a:avLst/>
          </a:prstGeom>
          <a:noFill/>
          <a:ln/>
        </p:spPr>
        <p:txBody>
          <a:bodyPr wrap="square" lIns="0" tIns="0" rIns="0" bIns="0" rtlCol="0" anchor="ctr"/>
          <a:lstStyle/>
          <a:p>
            <a:pPr indent="0" marL="0">
              <a:buNone/>
            </a:pPr>
            <a:r>
              <a:rPr lang="en-US" sz="1400" b="1" dirty="0">
                <a:solidFill>
                  <a:srgbClr val="E6EDF3"/>
                </a:solidFill>
                <a:latin typeface="Arial" pitchFamily="34" charset="0"/>
                <a:ea typeface="Arial" pitchFamily="34" charset="-122"/>
                <a:cs typeface="Arial" pitchFamily="34" charset="-120"/>
              </a:rPr>
              <a:t>A match is stored once, but almost every question is asked from one team's point of view.</a:t>
            </a:r>
            <a:endParaRPr lang="en-US" sz="1400" dirty="0"/>
          </a:p>
        </p:txBody>
      </p:sp>
      <p:sp>
        <p:nvSpPr>
          <p:cNvPr id="30" name="Text 28"/>
          <p:cNvSpPr txBox="1"/>
          <p:nvPr/>
        </p:nvSpPr>
        <p:spPr>
          <a:xfrm>
            <a:off x="960120" y="4919472"/>
            <a:ext cx="4572000" cy="1051560"/>
          </a:xfrm>
          <a:prstGeom prst="rect">
            <a:avLst/>
          </a:prstGeom>
          <a:noFill/>
          <a:ln/>
        </p:spPr>
        <p:txBody>
          <a:bodyPr wrap="square" lIns="0" tIns="0" rIns="0" bIns="0" rtlCol="0" anchor="t"/>
          <a:lstStyle/>
          <a:p>
            <a:pPr indent="0" marL="0">
              <a:lnSpc>
                <a:spcPct val="116000"/>
              </a:lnSpc>
              <a:buNone/>
            </a:pPr>
            <a:r>
              <a:rPr lang="en-US" sz="1150" dirty="0">
                <a:solidFill>
                  <a:srgbClr val="8B98A9"/>
                </a:solidFill>
                <a:latin typeface="Calibri" pitchFamily="34" charset="0"/>
                <a:ea typeface="Calibri" pitchFamily="34" charset="-122"/>
                <a:cs typeface="Calibri" pitchFamily="34" charset="-120"/>
              </a:rPr>
              <a:t>The view writes each match twice — once per side — so "how did team X do?" collapses to a single WHERE clause. That is why the whole per-team record is one short query instead of a page of Python:</a:t>
            </a:r>
            <a:endParaRPr lang="en-US" sz="1150" dirty="0"/>
          </a:p>
        </p:txBody>
      </p:sp>
      <p:sp>
        <p:nvSpPr>
          <p:cNvPr id="31" name="Shape 29"/>
          <p:cNvSpPr/>
          <p:nvPr/>
        </p:nvSpPr>
        <p:spPr>
          <a:xfrm>
            <a:off x="5760720" y="4846320"/>
            <a:ext cx="5788152" cy="1280160"/>
          </a:xfrm>
          <a:prstGeom prst="roundRect">
            <a:avLst>
              <a:gd name="adj" fmla="val 3571"/>
            </a:avLst>
          </a:prstGeom>
          <a:solidFill>
            <a:srgbClr val="0A0E14"/>
          </a:solidFill>
          <a:ln w="9525">
            <a:solidFill>
              <a:srgbClr val="2A3542"/>
            </a:solidFill>
            <a:prstDash val="solid"/>
          </a:ln>
        </p:spPr>
      </p:sp>
      <p:sp>
        <p:nvSpPr>
          <p:cNvPr id="32" name="Text 30"/>
          <p:cNvSpPr txBox="1"/>
          <p:nvPr/>
        </p:nvSpPr>
        <p:spPr>
          <a:xfrm>
            <a:off x="5925312" y="4974336"/>
            <a:ext cx="5477256" cy="1024128"/>
          </a:xfrm>
          <a:prstGeom prst="rect">
            <a:avLst/>
          </a:prstGeom>
          <a:noFill/>
          <a:ln/>
        </p:spPr>
        <p:txBody>
          <a:bodyPr wrap="square" lIns="0" tIns="0" rIns="0" bIns="0" rtlCol="0" anchor="t"/>
          <a:lstStyle/>
          <a:p>
            <a:pPr indent="0" marL="0">
              <a:lnSpc>
                <a:spcPct val="114000"/>
              </a:lnSpc>
              <a:buNone/>
            </a:pPr>
            <a:r>
              <a:rPr lang="en-US" sz="1000" dirty="0">
                <a:solidFill>
                  <a:srgbClr val="C9D6E2"/>
                </a:solidFill>
                <a:latin typeface="Courier New" pitchFamily="34" charset="0"/>
                <a:ea typeface="Courier New" pitchFamily="34" charset="-122"/>
                <a:cs typeface="Courier New" pitchFamily="34" charset="-120"/>
              </a:rPr>
              <a:t>SELECT COUNT(*)     AS played,</a:t>
            </a:r>
            <a:endParaRPr lang="en-US" sz="1000" dirty="0"/>
          </a:p>
          <a:p>
            <a:pPr indent="0" marL="0">
              <a:lnSpc>
                <a:spcPct val="114000"/>
              </a:lnSpc>
              <a:buNone/>
            </a:pPr>
            <a:r>
              <a:rPr lang="en-US" sz="1000" dirty="0">
                <a:solidFill>
                  <a:srgbClr val="C9D6E2"/>
                </a:solidFill>
                <a:latin typeface="Courier New" pitchFamily="34" charset="0"/>
                <a:ea typeface="Courier New" pitchFamily="34" charset="-122"/>
                <a:cs typeface="Courier New" pitchFamily="34" charset="-120"/>
              </a:rPr>
              <a:t>       SUM(gf &gt; ga) AS won,</a:t>
            </a:r>
            <a:endParaRPr lang="en-US" sz="1000" dirty="0"/>
          </a:p>
          <a:p>
            <a:pPr indent="0" marL="0">
              <a:lnSpc>
                <a:spcPct val="114000"/>
              </a:lnSpc>
              <a:buNone/>
            </a:pPr>
            <a:r>
              <a:rPr lang="en-US" sz="1000" dirty="0">
                <a:solidFill>
                  <a:srgbClr val="C9D6E2"/>
                </a:solidFill>
                <a:latin typeface="Courier New" pitchFamily="34" charset="0"/>
                <a:ea typeface="Courier New" pitchFamily="34" charset="-122"/>
                <a:cs typeface="Courier New" pitchFamily="34" charset="-120"/>
              </a:rPr>
              <a:t>       SUM(gf = ga) AS drawn,</a:t>
            </a:r>
            <a:endParaRPr lang="en-US" sz="1000" dirty="0"/>
          </a:p>
          <a:p>
            <a:pPr indent="0" marL="0">
              <a:lnSpc>
                <a:spcPct val="114000"/>
              </a:lnSpc>
              <a:buNone/>
            </a:pPr>
            <a:r>
              <a:rPr lang="en-US" sz="1000" dirty="0">
                <a:solidFill>
                  <a:srgbClr val="C9D6E2"/>
                </a:solidFill>
                <a:latin typeface="Courier New" pitchFamily="34" charset="0"/>
                <a:ea typeface="Courier New" pitchFamily="34" charset="-122"/>
                <a:cs typeface="Courier New" pitchFamily="34" charset="-120"/>
              </a:rPr>
              <a:t>       SUM(gf &lt; ga) AS lost</a:t>
            </a:r>
            <a:endParaRPr lang="en-US" sz="1000" dirty="0"/>
          </a:p>
          <a:p>
            <a:pPr indent="0" marL="0">
              <a:lnSpc>
                <a:spcPct val="114000"/>
              </a:lnSpc>
              <a:buNone/>
            </a:pPr>
            <a:r>
              <a:rPr lang="en-US" sz="1000" dirty="0">
                <a:solidFill>
                  <a:srgbClr val="C9D6E2"/>
                </a:solidFill>
                <a:latin typeface="Courier New" pitchFamily="34" charset="0"/>
                <a:ea typeface="Courier New" pitchFamily="34" charset="-122"/>
                <a:cs typeface="Courier New" pitchFamily="34" charset="-120"/>
              </a:rPr>
              <a:t>FROM team_matches WHERE team_id = ?</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117"/>
        </a:solidFill>
      </p:bgPr>
    </p:bg>
    <p:spTree>
      <p:nvGrpSpPr>
        <p:cNvPr id="1" name=""/>
        <p:cNvGrpSpPr/>
        <p:nvPr/>
      </p:nvGrpSpPr>
      <p:grpSpPr>
        <a:xfrm>
          <a:off x="0" y="0"/>
          <a:ext cx="0" cy="0"/>
          <a:chOff x="0" y="0"/>
          <a:chExt cx="0" cy="0"/>
        </a:xfrm>
      </p:grpSpPr>
      <p:sp>
        <p:nvSpPr>
          <p:cNvPr id="2" name="Text 0"/>
          <p:cNvSpPr txBox="1"/>
          <p:nvPr/>
        </p:nvSpPr>
        <p:spPr>
          <a:xfrm>
            <a:off x="640080" y="384048"/>
            <a:ext cx="10058400" cy="256032"/>
          </a:xfrm>
          <a:prstGeom prst="rect">
            <a:avLst/>
          </a:prstGeom>
          <a:noFill/>
          <a:ln/>
        </p:spPr>
        <p:txBody>
          <a:bodyPr wrap="square" lIns="0" tIns="0" rIns="0" bIns="0" rtlCol="0" anchor="ctr"/>
          <a:lstStyle/>
          <a:p>
            <a:pPr indent="0" marL="0">
              <a:buNone/>
            </a:pPr>
            <a:r>
              <a:rPr lang="en-US" sz="1100" b="1" spc="200" kern="0" dirty="0">
                <a:solidFill>
                  <a:srgbClr val="2DD4A7"/>
                </a:solidFill>
                <a:latin typeface="Calibri" pitchFamily="34" charset="0"/>
                <a:ea typeface="Calibri" pitchFamily="34" charset="-122"/>
                <a:cs typeface="Calibri" pitchFamily="34" charset="-120"/>
              </a:rPr>
              <a:t>STAGE 3  ·  THE MODEL</a:t>
            </a:r>
            <a:endParaRPr lang="en-US" sz="1100" dirty="0"/>
          </a:p>
        </p:txBody>
      </p:sp>
      <p:sp>
        <p:nvSpPr>
          <p:cNvPr id="3" name="Text 1"/>
          <p:cNvSpPr txBox="1"/>
          <p:nvPr/>
        </p:nvSpPr>
        <p:spPr>
          <a:xfrm>
            <a:off x="640080" y="658368"/>
            <a:ext cx="10881360" cy="566928"/>
          </a:xfrm>
          <a:prstGeom prst="rect">
            <a:avLst/>
          </a:prstGeom>
          <a:noFill/>
          <a:ln/>
        </p:spPr>
        <p:txBody>
          <a:bodyPr wrap="square" lIns="0" tIns="0" rIns="0" bIns="0" rtlCol="0" anchor="ctr"/>
          <a:lstStyle/>
          <a:p>
            <a:pPr indent="0" marL="0">
              <a:buNone/>
            </a:pPr>
            <a:r>
              <a:rPr lang="en-US" sz="3200" b="1" dirty="0">
                <a:solidFill>
                  <a:srgbClr val="E6EDF3"/>
                </a:solidFill>
                <a:latin typeface="Arial" pitchFamily="34" charset="0"/>
                <a:ea typeface="Arial" pitchFamily="34" charset="-122"/>
                <a:cs typeface="Arial" pitchFamily="34" charset="-120"/>
              </a:rPr>
              <a:t>The Elo rating engine</a:t>
            </a:r>
            <a:endParaRPr lang="en-US" sz="3200" dirty="0"/>
          </a:p>
        </p:txBody>
      </p:sp>
      <p:sp>
        <p:nvSpPr>
          <p:cNvPr id="4" name="Text 2"/>
          <p:cNvSpPr txBox="1"/>
          <p:nvPr/>
        </p:nvSpPr>
        <p:spPr>
          <a:xfrm>
            <a:off x="640080" y="1243584"/>
            <a:ext cx="10881360" cy="310896"/>
          </a:xfrm>
          <a:prstGeom prst="rect">
            <a:avLst/>
          </a:prstGeom>
          <a:noFill/>
          <a:ln/>
        </p:spPr>
        <p:txBody>
          <a:bodyPr wrap="square" lIns="0" tIns="0" rIns="0" bIns="0" rtlCol="0" anchor="ctr"/>
          <a:lstStyle/>
          <a:p>
            <a:pPr indent="0" marL="0">
              <a:buNone/>
            </a:pPr>
            <a:r>
              <a:rPr lang="en-US" sz="1350" dirty="0">
                <a:solidFill>
                  <a:srgbClr val="8B98A9"/>
                </a:solidFill>
                <a:latin typeface="Calibri" pitchFamily="34" charset="0"/>
                <a:ea typeface="Calibri" pitchFamily="34" charset="-122"/>
                <a:cs typeface="Calibri" pitchFamily="34" charset="-120"/>
              </a:rPr>
              <a:t>Every nation starts at 1500. All 49,547 matches are replayed in date order, and each result nudges both ratings.</a:t>
            </a:r>
            <a:endParaRPr lang="en-US" sz="1350" dirty="0"/>
          </a:p>
        </p:txBody>
      </p:sp>
      <p:sp>
        <p:nvSpPr>
          <p:cNvPr id="5" name="Shape 3"/>
          <p:cNvSpPr/>
          <p:nvPr/>
        </p:nvSpPr>
        <p:spPr>
          <a:xfrm>
            <a:off x="640080" y="1783080"/>
            <a:ext cx="10908792" cy="1207008"/>
          </a:xfrm>
          <a:prstGeom prst="roundRect">
            <a:avLst>
              <a:gd name="adj" fmla="val 4545"/>
            </a:avLst>
          </a:prstGeom>
          <a:solidFill>
            <a:srgbClr val="1C2531"/>
          </a:solidFill>
          <a:ln w="9525">
            <a:solidFill>
              <a:srgbClr val="2A3542"/>
            </a:solidFill>
            <a:prstDash val="solid"/>
          </a:ln>
        </p:spPr>
      </p:sp>
      <p:sp>
        <p:nvSpPr>
          <p:cNvPr id="6" name="Text 4"/>
          <p:cNvSpPr txBox="1"/>
          <p:nvPr/>
        </p:nvSpPr>
        <p:spPr>
          <a:xfrm>
            <a:off x="914400" y="1975104"/>
            <a:ext cx="10332720" cy="402336"/>
          </a:xfrm>
          <a:prstGeom prst="rect">
            <a:avLst/>
          </a:prstGeom>
          <a:noFill/>
          <a:ln/>
        </p:spPr>
        <p:txBody>
          <a:bodyPr wrap="square" lIns="0" tIns="0" rIns="0" bIns="0" rtlCol="0" anchor="ctr"/>
          <a:lstStyle/>
          <a:p>
            <a:pPr indent="0" marL="0">
              <a:buNone/>
            </a:pPr>
            <a:r>
              <a:rPr lang="en-US" sz="1550" b="1" dirty="0">
                <a:solidFill>
                  <a:srgbClr val="2DD4A7"/>
                </a:solidFill>
                <a:latin typeface="Courier New" pitchFamily="34" charset="0"/>
                <a:ea typeface="Courier New" pitchFamily="34" charset="-122"/>
                <a:cs typeface="Courier New" pitchFamily="34" charset="-120"/>
              </a:rPr>
              <a:t>E = 1 / (1 + 10^(-(Ra + H - Rb)/400))          R' = R + K × w × m × (S - E)</a:t>
            </a:r>
            <a:endParaRPr lang="en-US" sz="1550" dirty="0"/>
          </a:p>
        </p:txBody>
      </p:sp>
      <p:sp>
        <p:nvSpPr>
          <p:cNvPr id="7" name="Text 5"/>
          <p:cNvSpPr txBox="1"/>
          <p:nvPr/>
        </p:nvSpPr>
        <p:spPr>
          <a:xfrm>
            <a:off x="914400" y="2450592"/>
            <a:ext cx="10332720" cy="384048"/>
          </a:xfrm>
          <a:prstGeom prst="rect">
            <a:avLst/>
          </a:prstGeom>
          <a:noFill/>
          <a:ln/>
        </p:spPr>
        <p:txBody>
          <a:bodyPr wrap="square" lIns="0" tIns="0" rIns="0" bIns="0" rtlCol="0" anchor="ctr"/>
          <a:lstStyle/>
          <a:p>
            <a:pPr indent="0" marL="0">
              <a:buNone/>
            </a:pPr>
            <a:r>
              <a:rPr lang="en-US" sz="1200" dirty="0">
                <a:solidFill>
                  <a:srgbClr val="8B98A9"/>
                </a:solidFill>
                <a:latin typeface="Calibri" pitchFamily="34" charset="0"/>
                <a:ea typeface="Calibri" pitchFamily="34" charset="-122"/>
                <a:cs typeface="Calibri" pitchFamily="34" charset="-120"/>
              </a:rPr>
              <a:t>E is what the ratings expected.   S is what happened: 1 win, 0.5 draw, 0 loss.   The rating moves by the difference between them — so a team gains points only by doing better than predicted.</a:t>
            </a:r>
            <a:endParaRPr lang="en-US" sz="1200" dirty="0"/>
          </a:p>
        </p:txBody>
      </p:sp>
      <p:sp>
        <p:nvSpPr>
          <p:cNvPr id="8" name="Text 6"/>
          <p:cNvSpPr txBox="1"/>
          <p:nvPr/>
        </p:nvSpPr>
        <p:spPr>
          <a:xfrm>
            <a:off x="640080" y="3154680"/>
            <a:ext cx="3383280" cy="256032"/>
          </a:xfrm>
          <a:prstGeom prst="rect">
            <a:avLst/>
          </a:prstGeom>
          <a:noFill/>
          <a:ln/>
        </p:spPr>
        <p:txBody>
          <a:bodyPr wrap="square" lIns="0" tIns="0" rIns="0" bIns="0" rtlCol="0" anchor="ctr"/>
          <a:lstStyle/>
          <a:p>
            <a:pPr indent="0" marL="0">
              <a:buNone/>
            </a:pPr>
            <a:r>
              <a:rPr lang="en-US" sz="1300" b="1" dirty="0">
                <a:solidFill>
                  <a:srgbClr val="F5C451"/>
                </a:solidFill>
                <a:latin typeface="Arial" pitchFamily="34" charset="0"/>
                <a:ea typeface="Arial" pitchFamily="34" charset="-122"/>
                <a:cs typeface="Arial" pitchFamily="34" charset="-120"/>
              </a:rPr>
              <a:t>Zero-sum</a:t>
            </a:r>
            <a:endParaRPr lang="en-US" sz="1300" dirty="0"/>
          </a:p>
        </p:txBody>
      </p:sp>
      <p:sp>
        <p:nvSpPr>
          <p:cNvPr id="9" name="Text 7"/>
          <p:cNvSpPr txBox="1"/>
          <p:nvPr/>
        </p:nvSpPr>
        <p:spPr>
          <a:xfrm>
            <a:off x="640080" y="3429000"/>
            <a:ext cx="3383280" cy="868680"/>
          </a:xfrm>
          <a:prstGeom prst="rect">
            <a:avLst/>
          </a:prstGeom>
          <a:noFill/>
          <a:ln/>
        </p:spPr>
        <p:txBody>
          <a:bodyPr wrap="square" lIns="0" tIns="0" rIns="0" bIns="0" rtlCol="0" anchor="t"/>
          <a:lstStyle/>
          <a:p>
            <a:pPr indent="0" marL="0">
              <a:lnSpc>
                <a:spcPct val="116000"/>
              </a:lnSpc>
              <a:buNone/>
            </a:pPr>
            <a:r>
              <a:rPr lang="en-US" sz="1100" dirty="0">
                <a:solidFill>
                  <a:srgbClr val="8B98A9"/>
                </a:solidFill>
                <a:latin typeface="Calibri" pitchFamily="34" charset="0"/>
                <a:ea typeface="Calibri" pitchFamily="34" charset="-122"/>
                <a:cs typeface="Calibri" pitchFamily="34" charset="-120"/>
              </a:rPr>
              <a:t>Whatever the winner gains, the loser loses. Ratings never inflate.</a:t>
            </a:r>
            <a:endParaRPr lang="en-US" sz="1100" dirty="0"/>
          </a:p>
        </p:txBody>
      </p:sp>
      <p:sp>
        <p:nvSpPr>
          <p:cNvPr id="10" name="Text 8"/>
          <p:cNvSpPr txBox="1"/>
          <p:nvPr/>
        </p:nvSpPr>
        <p:spPr>
          <a:xfrm>
            <a:off x="4297680" y="3154680"/>
            <a:ext cx="3383280" cy="256032"/>
          </a:xfrm>
          <a:prstGeom prst="rect">
            <a:avLst/>
          </a:prstGeom>
          <a:noFill/>
          <a:ln/>
        </p:spPr>
        <p:txBody>
          <a:bodyPr wrap="square" lIns="0" tIns="0" rIns="0" bIns="0" rtlCol="0" anchor="ctr"/>
          <a:lstStyle/>
          <a:p>
            <a:pPr indent="0" marL="0">
              <a:buNone/>
            </a:pPr>
            <a:r>
              <a:rPr lang="en-US" sz="1300" b="1" dirty="0">
                <a:solidFill>
                  <a:srgbClr val="F5C451"/>
                </a:solidFill>
                <a:latin typeface="Arial" pitchFamily="34" charset="0"/>
                <a:ea typeface="Arial" pitchFamily="34" charset="-122"/>
                <a:cs typeface="Arial" pitchFamily="34" charset="-120"/>
              </a:rPr>
              <a:t>The 400 defines Elo</a:t>
            </a:r>
            <a:endParaRPr lang="en-US" sz="1300" dirty="0"/>
          </a:p>
        </p:txBody>
      </p:sp>
      <p:sp>
        <p:nvSpPr>
          <p:cNvPr id="11" name="Text 9"/>
          <p:cNvSpPr txBox="1"/>
          <p:nvPr/>
        </p:nvSpPr>
        <p:spPr>
          <a:xfrm>
            <a:off x="4297680" y="3429000"/>
            <a:ext cx="3383280" cy="868680"/>
          </a:xfrm>
          <a:prstGeom prst="rect">
            <a:avLst/>
          </a:prstGeom>
          <a:noFill/>
          <a:ln/>
        </p:spPr>
        <p:txBody>
          <a:bodyPr wrap="square" lIns="0" tIns="0" rIns="0" bIns="0" rtlCol="0" anchor="t"/>
          <a:lstStyle/>
          <a:p>
            <a:pPr indent="0" marL="0">
              <a:lnSpc>
                <a:spcPct val="116000"/>
              </a:lnSpc>
              <a:buNone/>
            </a:pPr>
            <a:r>
              <a:rPr lang="en-US" sz="1100" dirty="0">
                <a:solidFill>
                  <a:srgbClr val="8B98A9"/>
                </a:solidFill>
                <a:latin typeface="Calibri" pitchFamily="34" charset="0"/>
                <a:ea typeface="Calibri" pitchFamily="34" charset="-122"/>
                <a:cs typeface="Calibri" pitchFamily="34" charset="-120"/>
              </a:rPr>
              <a:t>A 400-point gap means the stronger side is expected to take ten times as many points. A unit test asserts exactly this.</a:t>
            </a:r>
            <a:endParaRPr lang="en-US" sz="1100" dirty="0"/>
          </a:p>
        </p:txBody>
      </p:sp>
      <p:sp>
        <p:nvSpPr>
          <p:cNvPr id="12" name="Text 10"/>
          <p:cNvSpPr txBox="1"/>
          <p:nvPr/>
        </p:nvSpPr>
        <p:spPr>
          <a:xfrm>
            <a:off x="7955280" y="3154680"/>
            <a:ext cx="3383280" cy="256032"/>
          </a:xfrm>
          <a:prstGeom prst="rect">
            <a:avLst/>
          </a:prstGeom>
          <a:noFill/>
          <a:ln/>
        </p:spPr>
        <p:txBody>
          <a:bodyPr wrap="square" lIns="0" tIns="0" rIns="0" bIns="0" rtlCol="0" anchor="ctr"/>
          <a:lstStyle/>
          <a:p>
            <a:pPr indent="0" marL="0">
              <a:buNone/>
            </a:pPr>
            <a:r>
              <a:rPr lang="en-US" sz="1300" b="1" dirty="0">
                <a:solidFill>
                  <a:srgbClr val="F5C451"/>
                </a:solidFill>
                <a:latin typeface="Arial" pitchFamily="34" charset="0"/>
                <a:ea typeface="Arial" pitchFamily="34" charset="-122"/>
                <a:cs typeface="Arial" pitchFamily="34" charset="-120"/>
              </a:rPr>
              <a:t>Three multipliers</a:t>
            </a:r>
            <a:endParaRPr lang="en-US" sz="1300" dirty="0"/>
          </a:p>
        </p:txBody>
      </p:sp>
      <p:sp>
        <p:nvSpPr>
          <p:cNvPr id="13" name="Text 11"/>
          <p:cNvSpPr txBox="1"/>
          <p:nvPr/>
        </p:nvSpPr>
        <p:spPr>
          <a:xfrm>
            <a:off x="7955280" y="3429000"/>
            <a:ext cx="3383280" cy="868680"/>
          </a:xfrm>
          <a:prstGeom prst="rect">
            <a:avLst/>
          </a:prstGeom>
          <a:noFill/>
          <a:ln/>
        </p:spPr>
        <p:txBody>
          <a:bodyPr wrap="square" lIns="0" tIns="0" rIns="0" bIns="0" rtlCol="0" anchor="t"/>
          <a:lstStyle/>
          <a:p>
            <a:pPr indent="0" marL="0">
              <a:lnSpc>
                <a:spcPct val="116000"/>
              </a:lnSpc>
              <a:buNone/>
            </a:pPr>
            <a:r>
              <a:rPr lang="en-US" sz="1100" dirty="0">
                <a:solidFill>
                  <a:srgbClr val="8B98A9"/>
                </a:solidFill>
                <a:latin typeface="Calibri" pitchFamily="34" charset="0"/>
                <a:ea typeface="Calibri" pitchFamily="34" charset="-122"/>
                <a:cs typeface="Calibri" pitchFamily="34" charset="-120"/>
              </a:rPr>
              <a:t>K sets the learning rate; w weights a World Cup at 2.0 and a friendly at 0.7; m is sqrt(goal difference), capped.</a:t>
            </a:r>
            <a:endParaRPr lang="en-US" sz="1100" dirty="0"/>
          </a:p>
        </p:txBody>
      </p:sp>
      <p:sp>
        <p:nvSpPr>
          <p:cNvPr id="14" name="Shape 12"/>
          <p:cNvSpPr/>
          <p:nvPr/>
        </p:nvSpPr>
        <p:spPr>
          <a:xfrm>
            <a:off x="640080" y="4370832"/>
            <a:ext cx="6035040" cy="1810512"/>
          </a:xfrm>
          <a:prstGeom prst="roundRect">
            <a:avLst>
              <a:gd name="adj" fmla="val 2525"/>
            </a:avLst>
          </a:prstGeom>
          <a:solidFill>
            <a:srgbClr val="0A0E14"/>
          </a:solidFill>
          <a:ln w="9525">
            <a:solidFill>
              <a:srgbClr val="2A3542"/>
            </a:solidFill>
            <a:prstDash val="solid"/>
          </a:ln>
        </p:spPr>
      </p:sp>
      <p:sp>
        <p:nvSpPr>
          <p:cNvPr id="15" name="Text 13"/>
          <p:cNvSpPr txBox="1"/>
          <p:nvPr/>
        </p:nvSpPr>
        <p:spPr>
          <a:xfrm>
            <a:off x="804672" y="4498848"/>
            <a:ext cx="5724144" cy="1554480"/>
          </a:xfrm>
          <a:prstGeom prst="rect">
            <a:avLst/>
          </a:prstGeom>
          <a:noFill/>
          <a:ln/>
        </p:spPr>
        <p:txBody>
          <a:bodyPr wrap="square" lIns="0" tIns="0" rIns="0" bIns="0" rtlCol="0" anchor="t"/>
          <a:lstStyle/>
          <a:p>
            <a:pPr indent="0" marL="0">
              <a:lnSpc>
                <a:spcPct val="114000"/>
              </a:lnSpc>
              <a:buNone/>
            </a:pPr>
            <a:r>
              <a:rPr lang="en-US" sz="1000" dirty="0">
                <a:solidFill>
                  <a:srgbClr val="C9D6E2"/>
                </a:solidFill>
                <a:latin typeface="Courier New" pitchFamily="34" charset="0"/>
                <a:ea typeface="Courier New" pitchFamily="34" charset="-122"/>
                <a:cs typeface="Courier New" pitchFamily="34" charset="-120"/>
              </a:rPr>
              <a:t>def update_pair(r_home, r_away, hs, aws,</a:t>
            </a:r>
            <a:endParaRPr lang="en-US" sz="1000" dirty="0"/>
          </a:p>
          <a:p>
            <a:pPr indent="0" marL="0">
              <a:lnSpc>
                <a:spcPct val="114000"/>
              </a:lnSpc>
              <a:buNone/>
            </a:pPr>
            <a:r>
              <a:rPr lang="en-US" sz="1000" dirty="0">
                <a:solidFill>
                  <a:srgbClr val="C9D6E2"/>
                </a:solidFill>
                <a:latin typeface="Courier New" pitchFamily="34" charset="0"/>
                <a:ea typeface="Courier New" pitchFamily="34" charset="-122"/>
                <a:cs typeface="Courier New" pitchFamily="34" charset="-120"/>
              </a:rPr>
              <a:t>                tournament, neutral):</a:t>
            </a:r>
            <a:endParaRPr lang="en-US" sz="1000" dirty="0"/>
          </a:p>
          <a:p>
            <a:pPr indent="0" marL="0">
              <a:lnSpc>
                <a:spcPct val="114000"/>
              </a:lnSpc>
              <a:buNone/>
            </a:pPr>
            <a:r>
              <a:rPr lang="en-US" sz="1000" dirty="0">
                <a:solidFill>
                  <a:srgbClr val="C9D6E2"/>
                </a:solidFill>
                <a:latin typeface="Courier New" pitchFamily="34" charset="0"/>
                <a:ea typeface="Courier New" pitchFamily="34" charset="-122"/>
                <a:cs typeface="Courier New" pitchFamily="34" charset="-120"/>
              </a:rPr>
              <a:t>    adv = 0 if neutral else ELO_HOME_ADVANTAGE</a:t>
            </a:r>
            <a:endParaRPr lang="en-US" sz="1000" dirty="0"/>
          </a:p>
          <a:p>
            <a:pPr indent="0" marL="0">
              <a:lnSpc>
                <a:spcPct val="114000"/>
              </a:lnSpc>
              <a:buNone/>
            </a:pPr>
            <a:r>
              <a:rPr lang="en-US" sz="1000" dirty="0">
                <a:solidFill>
                  <a:srgbClr val="C9D6E2"/>
                </a:solidFill>
                <a:latin typeface="Courier New" pitchFamily="34" charset="0"/>
                <a:ea typeface="Courier New" pitchFamily="34" charset="-122"/>
                <a:cs typeface="Courier New" pitchFamily="34" charset="-120"/>
              </a:rPr>
              <a:t>    E = expected_score(r_home, r_away, adv)</a:t>
            </a:r>
            <a:endParaRPr lang="en-US" sz="1000" dirty="0"/>
          </a:p>
          <a:p>
            <a:pPr indent="0" marL="0">
              <a:lnSpc>
                <a:spcPct val="114000"/>
              </a:lnSpc>
              <a:buNone/>
            </a:pPr>
            <a:r>
              <a:rPr lang="en-US" sz="1000" dirty="0">
                <a:solidFill>
                  <a:srgbClr val="C9D6E2"/>
                </a:solidFill>
                <a:latin typeface="Courier New" pitchFamily="34" charset="0"/>
                <a:ea typeface="Courier New" pitchFamily="34" charset="-122"/>
                <a:cs typeface="Courier New" pitchFamily="34" charset="-120"/>
              </a:rPr>
              <a:t>    S = outcome(hs, aws)        # 1 / 0.5 / 0</a:t>
            </a:r>
            <a:endParaRPr lang="en-US" sz="1000" dirty="0"/>
          </a:p>
          <a:p>
            <a:pPr indent="0" marL="0">
              <a:lnSpc>
                <a:spcPct val="114000"/>
              </a:lnSpc>
              <a:buNone/>
            </a:pPr>
            <a:r>
              <a:rPr lang="en-US" sz="1000" dirty="0">
                <a:solidFill>
                  <a:srgbClr val="C9D6E2"/>
                </a:solidFill>
                <a:latin typeface="Courier New" pitchFamily="34" charset="0"/>
                <a:ea typeface="Courier New" pitchFamily="34" charset="-122"/>
                <a:cs typeface="Courier New" pitchFamily="34" charset="-120"/>
              </a:rPr>
              <a:t>    k = (ELO_K_BASE</a:t>
            </a:r>
            <a:endParaRPr lang="en-US" sz="1000" dirty="0"/>
          </a:p>
          <a:p>
            <a:pPr indent="0" marL="0">
              <a:lnSpc>
                <a:spcPct val="114000"/>
              </a:lnSpc>
              <a:buNone/>
            </a:pPr>
            <a:r>
              <a:rPr lang="en-US" sz="1000" dirty="0">
                <a:solidFill>
                  <a:srgbClr val="C9D6E2"/>
                </a:solidFill>
                <a:latin typeface="Courier New" pitchFamily="34" charset="0"/>
                <a:ea typeface="Courier New" pitchFamily="34" charset="-122"/>
                <a:cs typeface="Courier New" pitchFamily="34" charset="-120"/>
              </a:rPr>
              <a:t>         * tournament_weight(tournament)</a:t>
            </a:r>
            <a:endParaRPr lang="en-US" sz="1000" dirty="0"/>
          </a:p>
          <a:p>
            <a:pPr indent="0" marL="0">
              <a:lnSpc>
                <a:spcPct val="114000"/>
              </a:lnSpc>
              <a:buNone/>
            </a:pPr>
            <a:r>
              <a:rPr lang="en-US" sz="1000" dirty="0">
                <a:solidFill>
                  <a:srgbClr val="C9D6E2"/>
                </a:solidFill>
                <a:latin typeface="Courier New" pitchFamily="34" charset="0"/>
                <a:ea typeface="Courier New" pitchFamily="34" charset="-122"/>
                <a:cs typeface="Courier New" pitchFamily="34" charset="-120"/>
              </a:rPr>
              <a:t>         * margin_factor(hs, aws))</a:t>
            </a:r>
            <a:endParaRPr lang="en-US" sz="1000" dirty="0"/>
          </a:p>
          <a:p>
            <a:pPr indent="0" marL="0">
              <a:lnSpc>
                <a:spcPct val="114000"/>
              </a:lnSpc>
              <a:buNone/>
            </a:pPr>
            <a:r>
              <a:rPr lang="en-US" sz="1000" dirty="0">
                <a:solidFill>
                  <a:srgbClr val="C9D6E2"/>
                </a:solidFill>
                <a:latin typeface="Courier New" pitchFamily="34" charset="0"/>
                <a:ea typeface="Courier New" pitchFamily="34" charset="-122"/>
                <a:cs typeface="Courier New" pitchFamily="34" charset="-120"/>
              </a:rPr>
              <a:t>    delta = k * (S - E)</a:t>
            </a:r>
            <a:endParaRPr lang="en-US" sz="1000" dirty="0"/>
          </a:p>
          <a:p>
            <a:pPr indent="0" marL="0">
              <a:lnSpc>
                <a:spcPct val="114000"/>
              </a:lnSpc>
              <a:buNone/>
            </a:pPr>
            <a:r>
              <a:rPr lang="en-US" sz="1000" dirty="0">
                <a:solidFill>
                  <a:srgbClr val="C9D6E2"/>
                </a:solidFill>
                <a:latin typeface="Courier New" pitchFamily="34" charset="0"/>
                <a:ea typeface="Courier New" pitchFamily="34" charset="-122"/>
                <a:cs typeface="Courier New" pitchFamily="34" charset="-120"/>
              </a:rPr>
              <a:t>    return r_home + delta, r_away - delta</a:t>
            </a:r>
            <a:endParaRPr lang="en-US" sz="1000" dirty="0"/>
          </a:p>
        </p:txBody>
      </p:sp>
      <p:sp>
        <p:nvSpPr>
          <p:cNvPr id="16" name="Shape 14"/>
          <p:cNvSpPr/>
          <p:nvPr/>
        </p:nvSpPr>
        <p:spPr>
          <a:xfrm>
            <a:off x="6976872" y="4370832"/>
            <a:ext cx="4572000" cy="1810512"/>
          </a:xfrm>
          <a:prstGeom prst="roundRect">
            <a:avLst>
              <a:gd name="adj" fmla="val 3030"/>
            </a:avLst>
          </a:prstGeom>
          <a:solidFill>
            <a:srgbClr val="161D27"/>
          </a:solidFill>
          <a:ln w="9525">
            <a:solidFill>
              <a:srgbClr val="2A3542"/>
            </a:solidFill>
            <a:prstDash val="solid"/>
          </a:ln>
        </p:spPr>
      </p:sp>
      <p:sp>
        <p:nvSpPr>
          <p:cNvPr id="17" name="Text 15"/>
          <p:cNvSpPr txBox="1"/>
          <p:nvPr/>
        </p:nvSpPr>
        <p:spPr>
          <a:xfrm>
            <a:off x="7251192" y="4535424"/>
            <a:ext cx="4023360" cy="256032"/>
          </a:xfrm>
          <a:prstGeom prst="rect">
            <a:avLst/>
          </a:prstGeom>
          <a:noFill/>
          <a:ln/>
        </p:spPr>
        <p:txBody>
          <a:bodyPr wrap="square" lIns="0" tIns="0" rIns="0" bIns="0" rtlCol="0" anchor="ctr"/>
          <a:lstStyle/>
          <a:p>
            <a:pPr indent="0" marL="0">
              <a:buNone/>
            </a:pPr>
            <a:r>
              <a:rPr lang="en-US" sz="1350" b="1" dirty="0">
                <a:solidFill>
                  <a:srgbClr val="E6EDF3"/>
                </a:solidFill>
                <a:latin typeface="Arial" pitchFamily="34" charset="0"/>
                <a:ea typeface="Arial" pitchFamily="34" charset="-122"/>
                <a:cs typeface="Arial" pitchFamily="34" charset="-120"/>
              </a:rPr>
              <a:t>Why the margin is capped</a:t>
            </a:r>
            <a:endParaRPr lang="en-US" sz="1350" dirty="0"/>
          </a:p>
        </p:txBody>
      </p:sp>
      <p:sp>
        <p:nvSpPr>
          <p:cNvPr id="18" name="Text 16"/>
          <p:cNvSpPr txBox="1"/>
          <p:nvPr/>
        </p:nvSpPr>
        <p:spPr>
          <a:xfrm>
            <a:off x="7251192" y="4828032"/>
            <a:ext cx="4023360" cy="777240"/>
          </a:xfrm>
          <a:prstGeom prst="rect">
            <a:avLst/>
          </a:prstGeom>
          <a:noFill/>
          <a:ln/>
        </p:spPr>
        <p:txBody>
          <a:bodyPr wrap="square" lIns="0" tIns="0" rIns="0" bIns="0" rtlCol="0" anchor="t"/>
          <a:lstStyle/>
          <a:p>
            <a:pPr indent="0" marL="0">
              <a:lnSpc>
                <a:spcPct val="116000"/>
              </a:lnSpc>
              <a:buNone/>
            </a:pPr>
            <a:r>
              <a:rPr lang="en-US" sz="1100" dirty="0">
                <a:solidFill>
                  <a:srgbClr val="8B98A9"/>
                </a:solidFill>
                <a:latin typeface="Calibri" pitchFamily="34" charset="0"/>
                <a:ea typeface="Calibri" pitchFamily="34" charset="-122"/>
                <a:cs typeface="Calibri" pitchFamily="34" charset="-120"/>
              </a:rPr>
              <a:t>A 9-0 says little more about a team's strength than a 5-0, but uncapped it would swing the rating violently. The cap keeps big wins meaningful without letting one freak result distort a rating.</a:t>
            </a:r>
            <a:endParaRPr lang="en-US" sz="1100" dirty="0"/>
          </a:p>
        </p:txBody>
      </p:sp>
      <p:sp>
        <p:nvSpPr>
          <p:cNvPr id="19" name="Text 17"/>
          <p:cNvSpPr txBox="1"/>
          <p:nvPr/>
        </p:nvSpPr>
        <p:spPr>
          <a:xfrm>
            <a:off x="7251192" y="5650992"/>
            <a:ext cx="4023360" cy="457200"/>
          </a:xfrm>
          <a:prstGeom prst="rect">
            <a:avLst/>
          </a:prstGeom>
          <a:noFill/>
          <a:ln/>
        </p:spPr>
        <p:txBody>
          <a:bodyPr wrap="square" lIns="0" tIns="0" rIns="0" bIns="0" rtlCol="0" anchor="t"/>
          <a:lstStyle/>
          <a:p>
            <a:pPr indent="0" marL="0">
              <a:lnSpc>
                <a:spcPct val="114000"/>
              </a:lnSpc>
              <a:buNone/>
            </a:pPr>
            <a:r>
              <a:rPr lang="en-US" sz="1050" i="1" dirty="0">
                <a:solidFill>
                  <a:srgbClr val="2DD4A7"/>
                </a:solidFill>
                <a:latin typeface="Calibri" pitchFamily="34" charset="0"/>
                <a:ea typeface="Calibri" pitchFamily="34" charset="-122"/>
                <a:cs typeface="Calibri" pitchFamily="34" charset="-120"/>
              </a:rPr>
              <a:t>Germany's rating peaks on 13 July 2014 — the day they won the World Cup.</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117"/>
        </a:solidFill>
      </p:bgPr>
    </p:bg>
    <p:spTree>
      <p:nvGrpSpPr>
        <p:cNvPr id="1" name=""/>
        <p:cNvGrpSpPr/>
        <p:nvPr/>
      </p:nvGrpSpPr>
      <p:grpSpPr>
        <a:xfrm>
          <a:off x="0" y="0"/>
          <a:ext cx="0" cy="0"/>
          <a:chOff x="0" y="0"/>
          <a:chExt cx="0" cy="0"/>
        </a:xfrm>
      </p:grpSpPr>
      <p:sp>
        <p:nvSpPr>
          <p:cNvPr id="2" name="Text 0"/>
          <p:cNvSpPr txBox="1"/>
          <p:nvPr/>
        </p:nvSpPr>
        <p:spPr>
          <a:xfrm>
            <a:off x="640080" y="384048"/>
            <a:ext cx="10058400" cy="256032"/>
          </a:xfrm>
          <a:prstGeom prst="rect">
            <a:avLst/>
          </a:prstGeom>
          <a:noFill/>
          <a:ln/>
        </p:spPr>
        <p:txBody>
          <a:bodyPr wrap="square" lIns="0" tIns="0" rIns="0" bIns="0" rtlCol="0" anchor="ctr"/>
          <a:lstStyle/>
          <a:p>
            <a:pPr indent="0" marL="0">
              <a:buNone/>
            </a:pPr>
            <a:r>
              <a:rPr lang="en-US" sz="1100" b="1" spc="200" kern="0" dirty="0">
                <a:solidFill>
                  <a:srgbClr val="2DD4A7"/>
                </a:solidFill>
                <a:latin typeface="Calibri" pitchFamily="34" charset="0"/>
                <a:ea typeface="Calibri" pitchFamily="34" charset="-122"/>
                <a:cs typeface="Calibri" pitchFamily="34" charset="-120"/>
              </a:rPr>
              <a:t>STAGE 4  ·  PREDICTION</a:t>
            </a:r>
            <a:endParaRPr lang="en-US" sz="1100" dirty="0"/>
          </a:p>
        </p:txBody>
      </p:sp>
      <p:sp>
        <p:nvSpPr>
          <p:cNvPr id="3" name="Text 1"/>
          <p:cNvSpPr txBox="1"/>
          <p:nvPr/>
        </p:nvSpPr>
        <p:spPr>
          <a:xfrm>
            <a:off x="640080" y="658368"/>
            <a:ext cx="10881360" cy="566928"/>
          </a:xfrm>
          <a:prstGeom prst="rect">
            <a:avLst/>
          </a:prstGeom>
          <a:noFill/>
          <a:ln/>
        </p:spPr>
        <p:txBody>
          <a:bodyPr wrap="square" lIns="0" tIns="0" rIns="0" bIns="0" rtlCol="0" anchor="ctr"/>
          <a:lstStyle/>
          <a:p>
            <a:pPr indent="0" marL="0">
              <a:buNone/>
            </a:pPr>
            <a:r>
              <a:rPr lang="en-US" sz="3200" b="1" dirty="0">
                <a:solidFill>
                  <a:srgbClr val="E6EDF3"/>
                </a:solidFill>
                <a:latin typeface="Arial" pitchFamily="34" charset="0"/>
                <a:ea typeface="Arial" pitchFamily="34" charset="-122"/>
                <a:cs typeface="Arial" pitchFamily="34" charset="-120"/>
              </a:rPr>
              <a:t>One rating gap into three probabilities</a:t>
            </a:r>
            <a:endParaRPr lang="en-US" sz="3200" dirty="0"/>
          </a:p>
        </p:txBody>
      </p:sp>
      <p:sp>
        <p:nvSpPr>
          <p:cNvPr id="4" name="Text 2"/>
          <p:cNvSpPr txBox="1"/>
          <p:nvPr/>
        </p:nvSpPr>
        <p:spPr>
          <a:xfrm>
            <a:off x="640080" y="1243584"/>
            <a:ext cx="10881360" cy="310896"/>
          </a:xfrm>
          <a:prstGeom prst="rect">
            <a:avLst/>
          </a:prstGeom>
          <a:noFill/>
          <a:ln/>
        </p:spPr>
        <p:txBody>
          <a:bodyPr wrap="square" lIns="0" tIns="0" rIns="0" bIns="0" rtlCol="0" anchor="ctr"/>
          <a:lstStyle/>
          <a:p>
            <a:pPr indent="0" marL="0">
              <a:buNone/>
            </a:pPr>
            <a:r>
              <a:rPr lang="en-US" sz="1350" dirty="0">
                <a:solidFill>
                  <a:srgbClr val="8B98A9"/>
                </a:solidFill>
                <a:latin typeface="Calibri" pitchFamily="34" charset="0"/>
                <a:ea typeface="Calibri" pitchFamily="34" charset="-122"/>
                <a:cs typeface="Calibri" pitchFamily="34" charset="-120"/>
              </a:rPr>
              <a:t>Elo gives a single number that blends wins and draws. Splitting it needs a draw model — so I measured one instead of assuming it.</a:t>
            </a:r>
            <a:endParaRPr lang="en-US" sz="1350" dirty="0"/>
          </a:p>
        </p:txBody>
      </p:sp>
      <p:sp>
        <p:nvSpPr>
          <p:cNvPr id="5" name="Shape 3"/>
          <p:cNvSpPr/>
          <p:nvPr/>
        </p:nvSpPr>
        <p:spPr>
          <a:xfrm>
            <a:off x="640080" y="1828800"/>
            <a:ext cx="5120640" cy="2148840"/>
          </a:xfrm>
          <a:prstGeom prst="roundRect">
            <a:avLst>
              <a:gd name="adj" fmla="val 2553"/>
            </a:avLst>
          </a:prstGeom>
          <a:solidFill>
            <a:srgbClr val="1C2531"/>
          </a:solidFill>
          <a:ln w="9525">
            <a:solidFill>
              <a:srgbClr val="2A3542"/>
            </a:solidFill>
            <a:prstDash val="solid"/>
          </a:ln>
        </p:spPr>
      </p:sp>
      <p:sp>
        <p:nvSpPr>
          <p:cNvPr id="6" name="Text 4"/>
          <p:cNvSpPr txBox="1"/>
          <p:nvPr/>
        </p:nvSpPr>
        <p:spPr>
          <a:xfrm>
            <a:off x="914400" y="1993392"/>
            <a:ext cx="4572000" cy="256032"/>
          </a:xfrm>
          <a:prstGeom prst="rect">
            <a:avLst/>
          </a:prstGeom>
          <a:noFill/>
          <a:ln/>
        </p:spPr>
        <p:txBody>
          <a:bodyPr wrap="square" lIns="0" tIns="0" rIns="0" bIns="0" rtlCol="0" anchor="ctr"/>
          <a:lstStyle/>
          <a:p>
            <a:pPr indent="0" marL="0">
              <a:buNone/>
            </a:pPr>
            <a:r>
              <a:rPr lang="en-US" sz="1400" b="1" dirty="0">
                <a:solidFill>
                  <a:srgbClr val="E6EDF3"/>
                </a:solidFill>
                <a:latin typeface="Arial" pitchFamily="34" charset="0"/>
                <a:ea typeface="Arial" pitchFamily="34" charset="-122"/>
                <a:cs typeface="Arial" pitchFamily="34" charset="-120"/>
              </a:rPr>
              <a:t>Measured, not assumed</a:t>
            </a:r>
            <a:endParaRPr lang="en-US" sz="1400" dirty="0"/>
          </a:p>
        </p:txBody>
      </p:sp>
      <p:sp>
        <p:nvSpPr>
          <p:cNvPr id="7" name="Text 5"/>
          <p:cNvSpPr txBox="1"/>
          <p:nvPr/>
        </p:nvSpPr>
        <p:spPr>
          <a:xfrm>
            <a:off x="914400" y="2359152"/>
            <a:ext cx="4572000" cy="1481328"/>
          </a:xfrm>
          <a:prstGeom prst="rect">
            <a:avLst/>
          </a:prstGeom>
          <a:noFill/>
          <a:ln/>
        </p:spPr>
        <p:txBody>
          <a:bodyPr wrap="square" lIns="0" tIns="0" rIns="0" bIns="0" rtlCol="0" anchor="t"/>
          <a:lstStyle/>
          <a:p>
            <a:pPr indent="0" marL="0">
              <a:lnSpc>
                <a:spcPct val="118000"/>
              </a:lnSpc>
              <a:buNone/>
            </a:pPr>
            <a:r>
              <a:rPr lang="en-US" sz="1150" dirty="0">
                <a:solidFill>
                  <a:srgbClr val="8B98A9"/>
                </a:solidFill>
                <a:latin typeface="Calibri" pitchFamily="34" charset="0"/>
                <a:ea typeface="Calibri" pitchFamily="34" charset="-122"/>
                <a:cs typeface="Calibri" pitchFamily="34" charset="-120"/>
              </a:rPr>
              <a:t>Because every match stores the ratings that existed before kick-off, I could bucket all 49,547 matches by that gap and count the real draw rate in each bucket.</a:t>
            </a:r>
            <a:endParaRPr lang="en-US" sz="1150" dirty="0"/>
          </a:p>
          <a:p>
            <a:pPr indent="0" marL="0">
              <a:lnSpc>
                <a:spcPct val="118000"/>
              </a:lnSpc>
              <a:buNone/>
            </a:pPr>
            <a:endParaRPr lang="en-US" sz="1150" dirty="0"/>
          </a:p>
          <a:p>
            <a:pPr indent="0" marL="0">
              <a:lnSpc>
                <a:spcPct val="118000"/>
              </a:lnSpc>
              <a:buNone/>
            </a:pPr>
            <a:r>
              <a:rPr lang="en-US" sz="1150" dirty="0">
                <a:solidFill>
                  <a:srgbClr val="8B98A9"/>
                </a:solidFill>
                <a:latin typeface="Calibri" pitchFamily="34" charset="0"/>
                <a:ea typeface="Calibri" pitchFamily="34" charset="-122"/>
                <a:cs typeface="Calibri" pitchFamily="34" charset="-120"/>
              </a:rPr>
              <a:t>The result is on the right: evenly matched teams draw 27% of the time, badly mismatched ones under 2%. A fixed 25% would have been measurably worse.</a:t>
            </a:r>
            <a:endParaRPr lang="en-US" sz="1150" dirty="0"/>
          </a:p>
        </p:txBody>
      </p:sp>
      <p:sp>
        <p:nvSpPr>
          <p:cNvPr id="8" name="Shape 6"/>
          <p:cNvSpPr/>
          <p:nvPr/>
        </p:nvSpPr>
        <p:spPr>
          <a:xfrm>
            <a:off x="6035040" y="1828800"/>
            <a:ext cx="5513832" cy="2148840"/>
          </a:xfrm>
          <a:prstGeom prst="roundRect">
            <a:avLst>
              <a:gd name="adj" fmla="val 2553"/>
            </a:avLst>
          </a:prstGeom>
          <a:solidFill>
            <a:srgbClr val="161D27"/>
          </a:solidFill>
          <a:ln w="9525">
            <a:solidFill>
              <a:srgbClr val="2A3542"/>
            </a:solidFill>
            <a:prstDash val="solid"/>
          </a:ln>
        </p:spPr>
      </p:sp>
      <p:sp>
        <p:nvSpPr>
          <p:cNvPr id="9" name="Text 7"/>
          <p:cNvSpPr txBox="1"/>
          <p:nvPr/>
        </p:nvSpPr>
        <p:spPr>
          <a:xfrm>
            <a:off x="6263640" y="1938528"/>
            <a:ext cx="5120640" cy="237744"/>
          </a:xfrm>
          <a:prstGeom prst="rect">
            <a:avLst/>
          </a:prstGeom>
          <a:noFill/>
          <a:ln/>
        </p:spPr>
        <p:txBody>
          <a:bodyPr wrap="square" lIns="0" tIns="0" rIns="0" bIns="0" rtlCol="0" anchor="ctr"/>
          <a:lstStyle/>
          <a:p>
            <a:pPr indent="0" marL="0">
              <a:buNone/>
            </a:pPr>
            <a:r>
              <a:rPr lang="en-US" sz="1050" b="1" dirty="0">
                <a:solidFill>
                  <a:srgbClr val="8B98A9"/>
                </a:solidFill>
                <a:latin typeface="Calibri" pitchFamily="34" charset="0"/>
                <a:ea typeface="Calibri" pitchFamily="34" charset="-122"/>
                <a:cs typeface="Calibri" pitchFamily="34" charset="-120"/>
              </a:rPr>
              <a:t>Observed draw rate by pre-match Elo gap  (%)</a:t>
            </a:r>
            <a:endParaRPr lang="en-US" sz="1050" dirty="0"/>
          </a:p>
        </p:txBody>
      </p:sp>
      <p:sp>
        <p:nvSpPr>
          <p:cNvPr id="10" name="Shape 8"/>
          <p:cNvSpPr/>
          <p:nvPr/>
        </p:nvSpPr>
        <p:spPr>
          <a:xfrm>
            <a:off x="6720840" y="3621024"/>
            <a:ext cx="4526280" cy="914"/>
          </a:xfrm>
          <a:prstGeom prst="line">
            <a:avLst/>
          </a:prstGeom>
          <a:noFill/>
          <a:ln w="6350">
            <a:solidFill>
              <a:srgbClr val="232D3A"/>
            </a:solidFill>
            <a:prstDash val="solid"/>
          </a:ln>
        </p:spPr>
      </p:sp>
      <p:sp>
        <p:nvSpPr>
          <p:cNvPr id="11" name="Text 9"/>
          <p:cNvSpPr txBox="1"/>
          <p:nvPr/>
        </p:nvSpPr>
        <p:spPr>
          <a:xfrm>
            <a:off x="6263640" y="3525012"/>
            <a:ext cx="393192" cy="192024"/>
          </a:xfrm>
          <a:prstGeom prst="rect">
            <a:avLst/>
          </a:prstGeom>
          <a:noFill/>
          <a:ln/>
        </p:spPr>
        <p:txBody>
          <a:bodyPr wrap="square" lIns="0" tIns="0" rIns="0" bIns="0" rtlCol="0" anchor="ctr"/>
          <a:lstStyle/>
          <a:p>
            <a:pPr algn="r" indent="0" marL="0">
              <a:buNone/>
            </a:pPr>
            <a:r>
              <a:rPr lang="en-US" sz="750" dirty="0">
                <a:solidFill>
                  <a:srgbClr val="6B7A8C"/>
                </a:solidFill>
                <a:latin typeface="Calibri" pitchFamily="34" charset="0"/>
                <a:ea typeface="Calibri" pitchFamily="34" charset="-122"/>
                <a:cs typeface="Calibri" pitchFamily="34" charset="-120"/>
              </a:rPr>
              <a:t>0</a:t>
            </a:r>
            <a:endParaRPr lang="en-US" sz="750" dirty="0"/>
          </a:p>
        </p:txBody>
      </p:sp>
      <p:sp>
        <p:nvSpPr>
          <p:cNvPr id="12" name="Shape 10"/>
          <p:cNvSpPr/>
          <p:nvPr/>
        </p:nvSpPr>
        <p:spPr>
          <a:xfrm>
            <a:off x="6720840" y="3163824"/>
            <a:ext cx="4526280" cy="914"/>
          </a:xfrm>
          <a:prstGeom prst="line">
            <a:avLst/>
          </a:prstGeom>
          <a:noFill/>
          <a:ln w="6350">
            <a:solidFill>
              <a:srgbClr val="232D3A"/>
            </a:solidFill>
            <a:prstDash val="solid"/>
          </a:ln>
        </p:spPr>
      </p:sp>
      <p:sp>
        <p:nvSpPr>
          <p:cNvPr id="13" name="Text 11"/>
          <p:cNvSpPr txBox="1"/>
          <p:nvPr/>
        </p:nvSpPr>
        <p:spPr>
          <a:xfrm>
            <a:off x="6263640" y="3067812"/>
            <a:ext cx="393192" cy="192024"/>
          </a:xfrm>
          <a:prstGeom prst="rect">
            <a:avLst/>
          </a:prstGeom>
          <a:noFill/>
          <a:ln/>
        </p:spPr>
        <p:txBody>
          <a:bodyPr wrap="square" lIns="0" tIns="0" rIns="0" bIns="0" rtlCol="0" anchor="ctr"/>
          <a:lstStyle/>
          <a:p>
            <a:pPr algn="r" indent="0" marL="0">
              <a:buNone/>
            </a:pPr>
            <a:r>
              <a:rPr lang="en-US" sz="750" dirty="0">
                <a:solidFill>
                  <a:srgbClr val="6B7A8C"/>
                </a:solidFill>
                <a:latin typeface="Calibri" pitchFamily="34" charset="0"/>
                <a:ea typeface="Calibri" pitchFamily="34" charset="-122"/>
                <a:cs typeface="Calibri" pitchFamily="34" charset="-120"/>
              </a:rPr>
              <a:t>10</a:t>
            </a:r>
            <a:endParaRPr lang="en-US" sz="750" dirty="0"/>
          </a:p>
        </p:txBody>
      </p:sp>
      <p:sp>
        <p:nvSpPr>
          <p:cNvPr id="14" name="Shape 12"/>
          <p:cNvSpPr/>
          <p:nvPr/>
        </p:nvSpPr>
        <p:spPr>
          <a:xfrm>
            <a:off x="6720840" y="2706624"/>
            <a:ext cx="4526280" cy="914"/>
          </a:xfrm>
          <a:prstGeom prst="line">
            <a:avLst/>
          </a:prstGeom>
          <a:noFill/>
          <a:ln w="6350">
            <a:solidFill>
              <a:srgbClr val="232D3A"/>
            </a:solidFill>
            <a:prstDash val="solid"/>
          </a:ln>
        </p:spPr>
      </p:sp>
      <p:sp>
        <p:nvSpPr>
          <p:cNvPr id="15" name="Text 13"/>
          <p:cNvSpPr txBox="1"/>
          <p:nvPr/>
        </p:nvSpPr>
        <p:spPr>
          <a:xfrm>
            <a:off x="6263640" y="2610612"/>
            <a:ext cx="393192" cy="192024"/>
          </a:xfrm>
          <a:prstGeom prst="rect">
            <a:avLst/>
          </a:prstGeom>
          <a:noFill/>
          <a:ln/>
        </p:spPr>
        <p:txBody>
          <a:bodyPr wrap="square" lIns="0" tIns="0" rIns="0" bIns="0" rtlCol="0" anchor="ctr"/>
          <a:lstStyle/>
          <a:p>
            <a:pPr algn="r" indent="0" marL="0">
              <a:buNone/>
            </a:pPr>
            <a:r>
              <a:rPr lang="en-US" sz="750" dirty="0">
                <a:solidFill>
                  <a:srgbClr val="6B7A8C"/>
                </a:solidFill>
                <a:latin typeface="Calibri" pitchFamily="34" charset="0"/>
                <a:ea typeface="Calibri" pitchFamily="34" charset="-122"/>
                <a:cs typeface="Calibri" pitchFamily="34" charset="-120"/>
              </a:rPr>
              <a:t>20</a:t>
            </a:r>
            <a:endParaRPr lang="en-US" sz="750" dirty="0"/>
          </a:p>
        </p:txBody>
      </p:sp>
      <p:sp>
        <p:nvSpPr>
          <p:cNvPr id="16" name="Shape 14"/>
          <p:cNvSpPr/>
          <p:nvPr/>
        </p:nvSpPr>
        <p:spPr>
          <a:xfrm>
            <a:off x="6720840" y="2249424"/>
            <a:ext cx="4526280" cy="914"/>
          </a:xfrm>
          <a:prstGeom prst="line">
            <a:avLst/>
          </a:prstGeom>
          <a:noFill/>
          <a:ln w="6350">
            <a:solidFill>
              <a:srgbClr val="232D3A"/>
            </a:solidFill>
            <a:prstDash val="solid"/>
          </a:ln>
        </p:spPr>
      </p:sp>
      <p:sp>
        <p:nvSpPr>
          <p:cNvPr id="17" name="Text 15"/>
          <p:cNvSpPr txBox="1"/>
          <p:nvPr/>
        </p:nvSpPr>
        <p:spPr>
          <a:xfrm>
            <a:off x="6263640" y="2153412"/>
            <a:ext cx="393192" cy="192024"/>
          </a:xfrm>
          <a:prstGeom prst="rect">
            <a:avLst/>
          </a:prstGeom>
          <a:noFill/>
          <a:ln/>
        </p:spPr>
        <p:txBody>
          <a:bodyPr wrap="square" lIns="0" tIns="0" rIns="0" bIns="0" rtlCol="0" anchor="ctr"/>
          <a:lstStyle/>
          <a:p>
            <a:pPr algn="r" indent="0" marL="0">
              <a:buNone/>
            </a:pPr>
            <a:r>
              <a:rPr lang="en-US" sz="750" dirty="0">
                <a:solidFill>
                  <a:srgbClr val="6B7A8C"/>
                </a:solidFill>
                <a:latin typeface="Calibri" pitchFamily="34" charset="0"/>
                <a:ea typeface="Calibri" pitchFamily="34" charset="-122"/>
                <a:cs typeface="Calibri" pitchFamily="34" charset="-120"/>
              </a:rPr>
              <a:t>30</a:t>
            </a:r>
            <a:endParaRPr lang="en-US" sz="750" dirty="0"/>
          </a:p>
        </p:txBody>
      </p:sp>
      <p:sp>
        <p:nvSpPr>
          <p:cNvPr id="18" name="Shape 16"/>
          <p:cNvSpPr/>
          <p:nvPr/>
        </p:nvSpPr>
        <p:spPr>
          <a:xfrm>
            <a:off x="6772138" y="2368296"/>
            <a:ext cx="199156" cy="1252728"/>
          </a:xfrm>
          <a:prstGeom prst="rect">
            <a:avLst/>
          </a:prstGeom>
          <a:solidFill>
            <a:srgbClr val="A78BFA"/>
          </a:solidFill>
          <a:ln w="12700">
            <a:solidFill>
              <a:srgbClr val="A78BFA"/>
            </a:solidFill>
            <a:prstDash val="solid"/>
          </a:ln>
        </p:spPr>
      </p:sp>
      <p:sp>
        <p:nvSpPr>
          <p:cNvPr id="19" name="Text 17"/>
          <p:cNvSpPr txBox="1"/>
          <p:nvPr/>
        </p:nvSpPr>
        <p:spPr>
          <a:xfrm>
            <a:off x="6611112" y="3739896"/>
            <a:ext cx="521208" cy="182880"/>
          </a:xfrm>
          <a:prstGeom prst="rect">
            <a:avLst/>
          </a:prstGeom>
          <a:noFill/>
          <a:ln/>
        </p:spPr>
        <p:txBody>
          <a:bodyPr wrap="square" lIns="0" tIns="0" rIns="0" bIns="0" rtlCol="0" anchor="t"/>
          <a:lstStyle/>
          <a:p>
            <a:pPr algn="ctr" indent="0" marL="0">
              <a:buNone/>
            </a:pPr>
            <a:r>
              <a:rPr lang="en-US" sz="650" dirty="0">
                <a:solidFill>
                  <a:srgbClr val="6B7A8C"/>
                </a:solidFill>
                <a:latin typeface="Calibri" pitchFamily="34" charset="0"/>
                <a:ea typeface="Calibri" pitchFamily="34" charset="-122"/>
                <a:cs typeface="Calibri" pitchFamily="34" charset="-120"/>
              </a:rPr>
              <a:t>0</a:t>
            </a:r>
            <a:endParaRPr lang="en-US" sz="650" dirty="0"/>
          </a:p>
        </p:txBody>
      </p:sp>
      <p:sp>
        <p:nvSpPr>
          <p:cNvPr id="20" name="Shape 18"/>
          <p:cNvSpPr/>
          <p:nvPr/>
        </p:nvSpPr>
        <p:spPr>
          <a:xfrm>
            <a:off x="7073890" y="2404872"/>
            <a:ext cx="199156" cy="1216152"/>
          </a:xfrm>
          <a:prstGeom prst="rect">
            <a:avLst/>
          </a:prstGeom>
          <a:solidFill>
            <a:srgbClr val="A78BFA"/>
          </a:solidFill>
          <a:ln w="12700">
            <a:solidFill>
              <a:srgbClr val="A78BFA"/>
            </a:solidFill>
            <a:prstDash val="solid"/>
          </a:ln>
        </p:spPr>
      </p:sp>
      <p:sp>
        <p:nvSpPr>
          <p:cNvPr id="21" name="Text 19"/>
          <p:cNvSpPr txBox="1"/>
          <p:nvPr/>
        </p:nvSpPr>
        <p:spPr>
          <a:xfrm>
            <a:off x="6912864" y="3739896"/>
            <a:ext cx="521208" cy="182880"/>
          </a:xfrm>
          <a:prstGeom prst="rect">
            <a:avLst/>
          </a:prstGeom>
          <a:noFill/>
          <a:ln/>
        </p:spPr>
        <p:txBody>
          <a:bodyPr wrap="square" lIns="0" tIns="0" rIns="0" bIns="0" rtlCol="0" anchor="t"/>
          <a:lstStyle/>
          <a:p>
            <a:pPr algn="ctr" indent="0" marL="0">
              <a:buNone/>
            </a:pPr>
            <a:r>
              <a:rPr lang="en-US" sz="650" dirty="0">
                <a:solidFill>
                  <a:srgbClr val="6B7A8C"/>
                </a:solidFill>
                <a:latin typeface="Calibri" pitchFamily="34" charset="0"/>
                <a:ea typeface="Calibri" pitchFamily="34" charset="-122"/>
                <a:cs typeface="Calibri" pitchFamily="34" charset="-120"/>
              </a:rPr>
              <a:t>50</a:t>
            </a:r>
            <a:endParaRPr lang="en-US" sz="650" dirty="0"/>
          </a:p>
        </p:txBody>
      </p:sp>
      <p:sp>
        <p:nvSpPr>
          <p:cNvPr id="22" name="Shape 20"/>
          <p:cNvSpPr/>
          <p:nvPr/>
        </p:nvSpPr>
        <p:spPr>
          <a:xfrm>
            <a:off x="7375642" y="2441448"/>
            <a:ext cx="199156" cy="1179576"/>
          </a:xfrm>
          <a:prstGeom prst="rect">
            <a:avLst/>
          </a:prstGeom>
          <a:solidFill>
            <a:srgbClr val="A78BFA"/>
          </a:solidFill>
          <a:ln w="12700">
            <a:solidFill>
              <a:srgbClr val="A78BFA"/>
            </a:solidFill>
            <a:prstDash val="solid"/>
          </a:ln>
        </p:spPr>
      </p:sp>
      <p:sp>
        <p:nvSpPr>
          <p:cNvPr id="23" name="Text 21"/>
          <p:cNvSpPr txBox="1"/>
          <p:nvPr/>
        </p:nvSpPr>
        <p:spPr>
          <a:xfrm>
            <a:off x="7214616" y="3739896"/>
            <a:ext cx="521208" cy="182880"/>
          </a:xfrm>
          <a:prstGeom prst="rect">
            <a:avLst/>
          </a:prstGeom>
          <a:noFill/>
          <a:ln/>
        </p:spPr>
        <p:txBody>
          <a:bodyPr wrap="square" lIns="0" tIns="0" rIns="0" bIns="0" rtlCol="0" anchor="t"/>
          <a:lstStyle/>
          <a:p>
            <a:pPr algn="ctr" indent="0" marL="0">
              <a:buNone/>
            </a:pPr>
            <a:r>
              <a:rPr lang="en-US" sz="650" dirty="0">
                <a:solidFill>
                  <a:srgbClr val="6B7A8C"/>
                </a:solidFill>
                <a:latin typeface="Calibri" pitchFamily="34" charset="0"/>
                <a:ea typeface="Calibri" pitchFamily="34" charset="-122"/>
                <a:cs typeface="Calibri" pitchFamily="34" charset="-120"/>
              </a:rPr>
              <a:t>100</a:t>
            </a:r>
            <a:endParaRPr lang="en-US" sz="650" dirty="0"/>
          </a:p>
        </p:txBody>
      </p:sp>
      <p:sp>
        <p:nvSpPr>
          <p:cNvPr id="24" name="Shape 22"/>
          <p:cNvSpPr/>
          <p:nvPr/>
        </p:nvSpPr>
        <p:spPr>
          <a:xfrm>
            <a:off x="7677394" y="2532888"/>
            <a:ext cx="199156" cy="1088136"/>
          </a:xfrm>
          <a:prstGeom prst="rect">
            <a:avLst/>
          </a:prstGeom>
          <a:solidFill>
            <a:srgbClr val="A78BFA"/>
          </a:solidFill>
          <a:ln w="12700">
            <a:solidFill>
              <a:srgbClr val="A78BFA"/>
            </a:solidFill>
            <a:prstDash val="solid"/>
          </a:ln>
        </p:spPr>
      </p:sp>
      <p:sp>
        <p:nvSpPr>
          <p:cNvPr id="25" name="Text 23"/>
          <p:cNvSpPr txBox="1"/>
          <p:nvPr/>
        </p:nvSpPr>
        <p:spPr>
          <a:xfrm>
            <a:off x="7516368" y="3739896"/>
            <a:ext cx="521208" cy="182880"/>
          </a:xfrm>
          <a:prstGeom prst="rect">
            <a:avLst/>
          </a:prstGeom>
          <a:noFill/>
          <a:ln/>
        </p:spPr>
        <p:txBody>
          <a:bodyPr wrap="square" lIns="0" tIns="0" rIns="0" bIns="0" rtlCol="0" anchor="t"/>
          <a:lstStyle/>
          <a:p>
            <a:pPr algn="ctr" indent="0" marL="0">
              <a:buNone/>
            </a:pPr>
            <a:r>
              <a:rPr lang="en-US" sz="650" dirty="0">
                <a:solidFill>
                  <a:srgbClr val="6B7A8C"/>
                </a:solidFill>
                <a:latin typeface="Calibri" pitchFamily="34" charset="0"/>
                <a:ea typeface="Calibri" pitchFamily="34" charset="-122"/>
                <a:cs typeface="Calibri" pitchFamily="34" charset="-120"/>
              </a:rPr>
              <a:t>150</a:t>
            </a:r>
            <a:endParaRPr lang="en-US" sz="650" dirty="0"/>
          </a:p>
        </p:txBody>
      </p:sp>
      <p:sp>
        <p:nvSpPr>
          <p:cNvPr id="26" name="Shape 24"/>
          <p:cNvSpPr/>
          <p:nvPr/>
        </p:nvSpPr>
        <p:spPr>
          <a:xfrm>
            <a:off x="7979146" y="2574036"/>
            <a:ext cx="199156" cy="1046988"/>
          </a:xfrm>
          <a:prstGeom prst="rect">
            <a:avLst/>
          </a:prstGeom>
          <a:solidFill>
            <a:srgbClr val="A78BFA"/>
          </a:solidFill>
          <a:ln w="12700">
            <a:solidFill>
              <a:srgbClr val="A78BFA"/>
            </a:solidFill>
            <a:prstDash val="solid"/>
          </a:ln>
        </p:spPr>
      </p:sp>
      <p:sp>
        <p:nvSpPr>
          <p:cNvPr id="27" name="Text 25"/>
          <p:cNvSpPr txBox="1"/>
          <p:nvPr/>
        </p:nvSpPr>
        <p:spPr>
          <a:xfrm>
            <a:off x="7818120" y="3739896"/>
            <a:ext cx="521208" cy="182880"/>
          </a:xfrm>
          <a:prstGeom prst="rect">
            <a:avLst/>
          </a:prstGeom>
          <a:noFill/>
          <a:ln/>
        </p:spPr>
        <p:txBody>
          <a:bodyPr wrap="square" lIns="0" tIns="0" rIns="0" bIns="0" rtlCol="0" anchor="t"/>
          <a:lstStyle/>
          <a:p>
            <a:pPr algn="ctr" indent="0" marL="0">
              <a:buNone/>
            </a:pPr>
            <a:r>
              <a:rPr lang="en-US" sz="650" dirty="0">
                <a:solidFill>
                  <a:srgbClr val="6B7A8C"/>
                </a:solidFill>
                <a:latin typeface="Calibri" pitchFamily="34" charset="0"/>
                <a:ea typeface="Calibri" pitchFamily="34" charset="-122"/>
                <a:cs typeface="Calibri" pitchFamily="34" charset="-120"/>
              </a:rPr>
              <a:t>200</a:t>
            </a:r>
            <a:endParaRPr lang="en-US" sz="650" dirty="0"/>
          </a:p>
        </p:txBody>
      </p:sp>
      <p:sp>
        <p:nvSpPr>
          <p:cNvPr id="28" name="Shape 26"/>
          <p:cNvSpPr/>
          <p:nvPr/>
        </p:nvSpPr>
        <p:spPr>
          <a:xfrm>
            <a:off x="8280898" y="2798064"/>
            <a:ext cx="199156" cy="822960"/>
          </a:xfrm>
          <a:prstGeom prst="rect">
            <a:avLst/>
          </a:prstGeom>
          <a:solidFill>
            <a:srgbClr val="A78BFA"/>
          </a:solidFill>
          <a:ln w="12700">
            <a:solidFill>
              <a:srgbClr val="A78BFA"/>
            </a:solidFill>
            <a:prstDash val="solid"/>
          </a:ln>
        </p:spPr>
      </p:sp>
      <p:sp>
        <p:nvSpPr>
          <p:cNvPr id="29" name="Text 27"/>
          <p:cNvSpPr txBox="1"/>
          <p:nvPr/>
        </p:nvSpPr>
        <p:spPr>
          <a:xfrm>
            <a:off x="8119872" y="3739896"/>
            <a:ext cx="521208" cy="182880"/>
          </a:xfrm>
          <a:prstGeom prst="rect">
            <a:avLst/>
          </a:prstGeom>
          <a:noFill/>
          <a:ln/>
        </p:spPr>
        <p:txBody>
          <a:bodyPr wrap="square" lIns="0" tIns="0" rIns="0" bIns="0" rtlCol="0" anchor="t"/>
          <a:lstStyle/>
          <a:p>
            <a:pPr algn="ctr" indent="0" marL="0">
              <a:buNone/>
            </a:pPr>
            <a:r>
              <a:rPr lang="en-US" sz="650" dirty="0">
                <a:solidFill>
                  <a:srgbClr val="6B7A8C"/>
                </a:solidFill>
                <a:latin typeface="Calibri" pitchFamily="34" charset="0"/>
                <a:ea typeface="Calibri" pitchFamily="34" charset="-122"/>
                <a:cs typeface="Calibri" pitchFamily="34" charset="-120"/>
              </a:rPr>
              <a:t>250</a:t>
            </a:r>
            <a:endParaRPr lang="en-US" sz="650" dirty="0"/>
          </a:p>
        </p:txBody>
      </p:sp>
      <p:sp>
        <p:nvSpPr>
          <p:cNvPr id="30" name="Shape 28"/>
          <p:cNvSpPr/>
          <p:nvPr/>
        </p:nvSpPr>
        <p:spPr>
          <a:xfrm>
            <a:off x="8582650" y="2921508"/>
            <a:ext cx="199156" cy="699516"/>
          </a:xfrm>
          <a:prstGeom prst="rect">
            <a:avLst/>
          </a:prstGeom>
          <a:solidFill>
            <a:srgbClr val="A78BFA"/>
          </a:solidFill>
          <a:ln w="12700">
            <a:solidFill>
              <a:srgbClr val="A78BFA"/>
            </a:solidFill>
            <a:prstDash val="solid"/>
          </a:ln>
        </p:spPr>
      </p:sp>
      <p:sp>
        <p:nvSpPr>
          <p:cNvPr id="31" name="Text 29"/>
          <p:cNvSpPr txBox="1"/>
          <p:nvPr/>
        </p:nvSpPr>
        <p:spPr>
          <a:xfrm>
            <a:off x="8421624" y="3739896"/>
            <a:ext cx="521208" cy="182880"/>
          </a:xfrm>
          <a:prstGeom prst="rect">
            <a:avLst/>
          </a:prstGeom>
          <a:noFill/>
          <a:ln/>
        </p:spPr>
        <p:txBody>
          <a:bodyPr wrap="square" lIns="0" tIns="0" rIns="0" bIns="0" rtlCol="0" anchor="t"/>
          <a:lstStyle/>
          <a:p>
            <a:pPr algn="ctr" indent="0" marL="0">
              <a:buNone/>
            </a:pPr>
            <a:r>
              <a:rPr lang="en-US" sz="650" dirty="0">
                <a:solidFill>
                  <a:srgbClr val="6B7A8C"/>
                </a:solidFill>
                <a:latin typeface="Calibri" pitchFamily="34" charset="0"/>
                <a:ea typeface="Calibri" pitchFamily="34" charset="-122"/>
                <a:cs typeface="Calibri" pitchFamily="34" charset="-120"/>
              </a:rPr>
              <a:t>300</a:t>
            </a:r>
            <a:endParaRPr lang="en-US" sz="650" dirty="0"/>
          </a:p>
        </p:txBody>
      </p:sp>
      <p:sp>
        <p:nvSpPr>
          <p:cNvPr id="32" name="Shape 30"/>
          <p:cNvSpPr/>
          <p:nvPr/>
        </p:nvSpPr>
        <p:spPr>
          <a:xfrm>
            <a:off x="8884402" y="2958084"/>
            <a:ext cx="199156" cy="662940"/>
          </a:xfrm>
          <a:prstGeom prst="rect">
            <a:avLst/>
          </a:prstGeom>
          <a:solidFill>
            <a:srgbClr val="A78BFA"/>
          </a:solidFill>
          <a:ln w="12700">
            <a:solidFill>
              <a:srgbClr val="A78BFA"/>
            </a:solidFill>
            <a:prstDash val="solid"/>
          </a:ln>
        </p:spPr>
      </p:sp>
      <p:sp>
        <p:nvSpPr>
          <p:cNvPr id="33" name="Text 31"/>
          <p:cNvSpPr txBox="1"/>
          <p:nvPr/>
        </p:nvSpPr>
        <p:spPr>
          <a:xfrm>
            <a:off x="8723376" y="3739896"/>
            <a:ext cx="521208" cy="182880"/>
          </a:xfrm>
          <a:prstGeom prst="rect">
            <a:avLst/>
          </a:prstGeom>
          <a:noFill/>
          <a:ln/>
        </p:spPr>
        <p:txBody>
          <a:bodyPr wrap="square" lIns="0" tIns="0" rIns="0" bIns="0" rtlCol="0" anchor="t"/>
          <a:lstStyle/>
          <a:p>
            <a:pPr algn="ctr" indent="0" marL="0">
              <a:buNone/>
            </a:pPr>
            <a:r>
              <a:rPr lang="en-US" sz="650" dirty="0">
                <a:solidFill>
                  <a:srgbClr val="6B7A8C"/>
                </a:solidFill>
                <a:latin typeface="Calibri" pitchFamily="34" charset="0"/>
                <a:ea typeface="Calibri" pitchFamily="34" charset="-122"/>
                <a:cs typeface="Calibri" pitchFamily="34" charset="-120"/>
              </a:rPr>
              <a:t>350</a:t>
            </a:r>
            <a:endParaRPr lang="en-US" sz="650" dirty="0"/>
          </a:p>
        </p:txBody>
      </p:sp>
      <p:sp>
        <p:nvSpPr>
          <p:cNvPr id="34" name="Shape 32"/>
          <p:cNvSpPr/>
          <p:nvPr/>
        </p:nvSpPr>
        <p:spPr>
          <a:xfrm>
            <a:off x="9186154" y="3154680"/>
            <a:ext cx="199156" cy="466344"/>
          </a:xfrm>
          <a:prstGeom prst="rect">
            <a:avLst/>
          </a:prstGeom>
          <a:solidFill>
            <a:srgbClr val="A78BFA"/>
          </a:solidFill>
          <a:ln w="12700">
            <a:solidFill>
              <a:srgbClr val="A78BFA"/>
            </a:solidFill>
            <a:prstDash val="solid"/>
          </a:ln>
        </p:spPr>
      </p:sp>
      <p:sp>
        <p:nvSpPr>
          <p:cNvPr id="35" name="Text 33"/>
          <p:cNvSpPr txBox="1"/>
          <p:nvPr/>
        </p:nvSpPr>
        <p:spPr>
          <a:xfrm>
            <a:off x="9025128" y="3739896"/>
            <a:ext cx="521208" cy="182880"/>
          </a:xfrm>
          <a:prstGeom prst="rect">
            <a:avLst/>
          </a:prstGeom>
          <a:noFill/>
          <a:ln/>
        </p:spPr>
        <p:txBody>
          <a:bodyPr wrap="square" lIns="0" tIns="0" rIns="0" bIns="0" rtlCol="0" anchor="t"/>
          <a:lstStyle/>
          <a:p>
            <a:pPr algn="ctr" indent="0" marL="0">
              <a:buNone/>
            </a:pPr>
            <a:r>
              <a:rPr lang="en-US" sz="650" dirty="0">
                <a:solidFill>
                  <a:srgbClr val="6B7A8C"/>
                </a:solidFill>
                <a:latin typeface="Calibri" pitchFamily="34" charset="0"/>
                <a:ea typeface="Calibri" pitchFamily="34" charset="-122"/>
                <a:cs typeface="Calibri" pitchFamily="34" charset="-120"/>
              </a:rPr>
              <a:t>400</a:t>
            </a:r>
            <a:endParaRPr lang="en-US" sz="650" dirty="0"/>
          </a:p>
        </p:txBody>
      </p:sp>
      <p:sp>
        <p:nvSpPr>
          <p:cNvPr id="36" name="Shape 34"/>
          <p:cNvSpPr/>
          <p:nvPr/>
        </p:nvSpPr>
        <p:spPr>
          <a:xfrm>
            <a:off x="9487906" y="3127248"/>
            <a:ext cx="199156" cy="493776"/>
          </a:xfrm>
          <a:prstGeom prst="rect">
            <a:avLst/>
          </a:prstGeom>
          <a:solidFill>
            <a:srgbClr val="A78BFA"/>
          </a:solidFill>
          <a:ln w="12700">
            <a:solidFill>
              <a:srgbClr val="A78BFA"/>
            </a:solidFill>
            <a:prstDash val="solid"/>
          </a:ln>
        </p:spPr>
      </p:sp>
      <p:sp>
        <p:nvSpPr>
          <p:cNvPr id="37" name="Text 35"/>
          <p:cNvSpPr txBox="1"/>
          <p:nvPr/>
        </p:nvSpPr>
        <p:spPr>
          <a:xfrm>
            <a:off x="9326880" y="3739896"/>
            <a:ext cx="521208" cy="182880"/>
          </a:xfrm>
          <a:prstGeom prst="rect">
            <a:avLst/>
          </a:prstGeom>
          <a:noFill/>
          <a:ln/>
        </p:spPr>
        <p:txBody>
          <a:bodyPr wrap="square" lIns="0" tIns="0" rIns="0" bIns="0" rtlCol="0" anchor="t"/>
          <a:lstStyle/>
          <a:p>
            <a:pPr algn="ctr" indent="0" marL="0">
              <a:buNone/>
            </a:pPr>
            <a:r>
              <a:rPr lang="en-US" sz="650" dirty="0">
                <a:solidFill>
                  <a:srgbClr val="6B7A8C"/>
                </a:solidFill>
                <a:latin typeface="Calibri" pitchFamily="34" charset="0"/>
                <a:ea typeface="Calibri" pitchFamily="34" charset="-122"/>
                <a:cs typeface="Calibri" pitchFamily="34" charset="-120"/>
              </a:rPr>
              <a:t>450</a:t>
            </a:r>
            <a:endParaRPr lang="en-US" sz="650" dirty="0"/>
          </a:p>
        </p:txBody>
      </p:sp>
      <p:sp>
        <p:nvSpPr>
          <p:cNvPr id="38" name="Shape 36"/>
          <p:cNvSpPr/>
          <p:nvPr/>
        </p:nvSpPr>
        <p:spPr>
          <a:xfrm>
            <a:off x="9789658" y="3337560"/>
            <a:ext cx="199156" cy="283464"/>
          </a:xfrm>
          <a:prstGeom prst="rect">
            <a:avLst/>
          </a:prstGeom>
          <a:solidFill>
            <a:srgbClr val="A78BFA"/>
          </a:solidFill>
          <a:ln w="12700">
            <a:solidFill>
              <a:srgbClr val="A78BFA"/>
            </a:solidFill>
            <a:prstDash val="solid"/>
          </a:ln>
        </p:spPr>
      </p:sp>
      <p:sp>
        <p:nvSpPr>
          <p:cNvPr id="39" name="Text 37"/>
          <p:cNvSpPr txBox="1"/>
          <p:nvPr/>
        </p:nvSpPr>
        <p:spPr>
          <a:xfrm>
            <a:off x="9628632" y="3739896"/>
            <a:ext cx="521208" cy="182880"/>
          </a:xfrm>
          <a:prstGeom prst="rect">
            <a:avLst/>
          </a:prstGeom>
          <a:noFill/>
          <a:ln/>
        </p:spPr>
        <p:txBody>
          <a:bodyPr wrap="square" lIns="0" tIns="0" rIns="0" bIns="0" rtlCol="0" anchor="t"/>
          <a:lstStyle/>
          <a:p>
            <a:pPr algn="ctr" indent="0" marL="0">
              <a:buNone/>
            </a:pPr>
            <a:r>
              <a:rPr lang="en-US" sz="650" dirty="0">
                <a:solidFill>
                  <a:srgbClr val="6B7A8C"/>
                </a:solidFill>
                <a:latin typeface="Calibri" pitchFamily="34" charset="0"/>
                <a:ea typeface="Calibri" pitchFamily="34" charset="-122"/>
                <a:cs typeface="Calibri" pitchFamily="34" charset="-120"/>
              </a:rPr>
              <a:t>500</a:t>
            </a:r>
            <a:endParaRPr lang="en-US" sz="650" dirty="0"/>
          </a:p>
        </p:txBody>
      </p:sp>
      <p:sp>
        <p:nvSpPr>
          <p:cNvPr id="40" name="Shape 38"/>
          <p:cNvSpPr/>
          <p:nvPr/>
        </p:nvSpPr>
        <p:spPr>
          <a:xfrm>
            <a:off x="10091410" y="3387852"/>
            <a:ext cx="199156" cy="233172"/>
          </a:xfrm>
          <a:prstGeom prst="rect">
            <a:avLst/>
          </a:prstGeom>
          <a:solidFill>
            <a:srgbClr val="A78BFA"/>
          </a:solidFill>
          <a:ln w="12700">
            <a:solidFill>
              <a:srgbClr val="A78BFA"/>
            </a:solidFill>
            <a:prstDash val="solid"/>
          </a:ln>
        </p:spPr>
      </p:sp>
      <p:sp>
        <p:nvSpPr>
          <p:cNvPr id="41" name="Text 39"/>
          <p:cNvSpPr txBox="1"/>
          <p:nvPr/>
        </p:nvSpPr>
        <p:spPr>
          <a:xfrm>
            <a:off x="9930384" y="3739896"/>
            <a:ext cx="521208" cy="182880"/>
          </a:xfrm>
          <a:prstGeom prst="rect">
            <a:avLst/>
          </a:prstGeom>
          <a:noFill/>
          <a:ln/>
        </p:spPr>
        <p:txBody>
          <a:bodyPr wrap="square" lIns="0" tIns="0" rIns="0" bIns="0" rtlCol="0" anchor="t"/>
          <a:lstStyle/>
          <a:p>
            <a:pPr algn="ctr" indent="0" marL="0">
              <a:buNone/>
            </a:pPr>
            <a:r>
              <a:rPr lang="en-US" sz="650" dirty="0">
                <a:solidFill>
                  <a:srgbClr val="6B7A8C"/>
                </a:solidFill>
                <a:latin typeface="Calibri" pitchFamily="34" charset="0"/>
                <a:ea typeface="Calibri" pitchFamily="34" charset="-122"/>
                <a:cs typeface="Calibri" pitchFamily="34" charset="-120"/>
              </a:rPr>
              <a:t>550</a:t>
            </a:r>
            <a:endParaRPr lang="en-US" sz="650" dirty="0"/>
          </a:p>
        </p:txBody>
      </p:sp>
      <p:sp>
        <p:nvSpPr>
          <p:cNvPr id="42" name="Shape 40"/>
          <p:cNvSpPr/>
          <p:nvPr/>
        </p:nvSpPr>
        <p:spPr>
          <a:xfrm>
            <a:off x="10393162" y="3456432"/>
            <a:ext cx="199156" cy="164592"/>
          </a:xfrm>
          <a:prstGeom prst="rect">
            <a:avLst/>
          </a:prstGeom>
          <a:solidFill>
            <a:srgbClr val="A78BFA"/>
          </a:solidFill>
          <a:ln w="12700">
            <a:solidFill>
              <a:srgbClr val="A78BFA"/>
            </a:solidFill>
            <a:prstDash val="solid"/>
          </a:ln>
        </p:spPr>
      </p:sp>
      <p:sp>
        <p:nvSpPr>
          <p:cNvPr id="43" name="Text 41"/>
          <p:cNvSpPr txBox="1"/>
          <p:nvPr/>
        </p:nvSpPr>
        <p:spPr>
          <a:xfrm>
            <a:off x="10232136" y="3739896"/>
            <a:ext cx="521208" cy="182880"/>
          </a:xfrm>
          <a:prstGeom prst="rect">
            <a:avLst/>
          </a:prstGeom>
          <a:noFill/>
          <a:ln/>
        </p:spPr>
        <p:txBody>
          <a:bodyPr wrap="square" lIns="0" tIns="0" rIns="0" bIns="0" rtlCol="0" anchor="t"/>
          <a:lstStyle/>
          <a:p>
            <a:pPr algn="ctr" indent="0" marL="0">
              <a:buNone/>
            </a:pPr>
            <a:r>
              <a:rPr lang="en-US" sz="650" dirty="0">
                <a:solidFill>
                  <a:srgbClr val="6B7A8C"/>
                </a:solidFill>
                <a:latin typeface="Calibri" pitchFamily="34" charset="0"/>
                <a:ea typeface="Calibri" pitchFamily="34" charset="-122"/>
                <a:cs typeface="Calibri" pitchFamily="34" charset="-120"/>
              </a:rPr>
              <a:t>600</a:t>
            </a:r>
            <a:endParaRPr lang="en-US" sz="650" dirty="0"/>
          </a:p>
        </p:txBody>
      </p:sp>
      <p:sp>
        <p:nvSpPr>
          <p:cNvPr id="44" name="Shape 42"/>
          <p:cNvSpPr/>
          <p:nvPr/>
        </p:nvSpPr>
        <p:spPr>
          <a:xfrm>
            <a:off x="10694914" y="3543300"/>
            <a:ext cx="199156" cy="77724"/>
          </a:xfrm>
          <a:prstGeom prst="rect">
            <a:avLst/>
          </a:prstGeom>
          <a:solidFill>
            <a:srgbClr val="A78BFA"/>
          </a:solidFill>
          <a:ln w="12700">
            <a:solidFill>
              <a:srgbClr val="A78BFA"/>
            </a:solidFill>
            <a:prstDash val="solid"/>
          </a:ln>
        </p:spPr>
      </p:sp>
      <p:sp>
        <p:nvSpPr>
          <p:cNvPr id="45" name="Text 43"/>
          <p:cNvSpPr txBox="1"/>
          <p:nvPr/>
        </p:nvSpPr>
        <p:spPr>
          <a:xfrm>
            <a:off x="10533888" y="3739896"/>
            <a:ext cx="521208" cy="182880"/>
          </a:xfrm>
          <a:prstGeom prst="rect">
            <a:avLst/>
          </a:prstGeom>
          <a:noFill/>
          <a:ln/>
        </p:spPr>
        <p:txBody>
          <a:bodyPr wrap="square" lIns="0" tIns="0" rIns="0" bIns="0" rtlCol="0" anchor="t"/>
          <a:lstStyle/>
          <a:p>
            <a:pPr algn="ctr" indent="0" marL="0">
              <a:buNone/>
            </a:pPr>
            <a:r>
              <a:rPr lang="en-US" sz="650" dirty="0">
                <a:solidFill>
                  <a:srgbClr val="6B7A8C"/>
                </a:solidFill>
                <a:latin typeface="Calibri" pitchFamily="34" charset="0"/>
                <a:ea typeface="Calibri" pitchFamily="34" charset="-122"/>
                <a:cs typeface="Calibri" pitchFamily="34" charset="-120"/>
              </a:rPr>
              <a:t>650</a:t>
            </a:r>
            <a:endParaRPr lang="en-US" sz="650" dirty="0"/>
          </a:p>
        </p:txBody>
      </p:sp>
      <p:sp>
        <p:nvSpPr>
          <p:cNvPr id="46" name="Shape 44"/>
          <p:cNvSpPr/>
          <p:nvPr/>
        </p:nvSpPr>
        <p:spPr>
          <a:xfrm>
            <a:off x="10996666" y="3579876"/>
            <a:ext cx="199156" cy="41148"/>
          </a:xfrm>
          <a:prstGeom prst="rect">
            <a:avLst/>
          </a:prstGeom>
          <a:solidFill>
            <a:srgbClr val="A78BFA"/>
          </a:solidFill>
          <a:ln w="12700">
            <a:solidFill>
              <a:srgbClr val="A78BFA"/>
            </a:solidFill>
            <a:prstDash val="solid"/>
          </a:ln>
        </p:spPr>
      </p:sp>
      <p:sp>
        <p:nvSpPr>
          <p:cNvPr id="47" name="Text 45"/>
          <p:cNvSpPr txBox="1"/>
          <p:nvPr/>
        </p:nvSpPr>
        <p:spPr>
          <a:xfrm>
            <a:off x="10835640" y="3739896"/>
            <a:ext cx="521208" cy="182880"/>
          </a:xfrm>
          <a:prstGeom prst="rect">
            <a:avLst/>
          </a:prstGeom>
          <a:noFill/>
          <a:ln/>
        </p:spPr>
        <p:txBody>
          <a:bodyPr wrap="square" lIns="0" tIns="0" rIns="0" bIns="0" rtlCol="0" anchor="t"/>
          <a:lstStyle/>
          <a:p>
            <a:pPr algn="ctr" indent="0" marL="0">
              <a:buNone/>
            </a:pPr>
            <a:r>
              <a:rPr lang="en-US" sz="650" dirty="0">
                <a:solidFill>
                  <a:srgbClr val="6B7A8C"/>
                </a:solidFill>
                <a:latin typeface="Calibri" pitchFamily="34" charset="0"/>
                <a:ea typeface="Calibri" pitchFamily="34" charset="-122"/>
                <a:cs typeface="Calibri" pitchFamily="34" charset="-120"/>
              </a:rPr>
              <a:t>700</a:t>
            </a:r>
            <a:endParaRPr lang="en-US" sz="650" dirty="0"/>
          </a:p>
        </p:txBody>
      </p:sp>
      <p:sp>
        <p:nvSpPr>
          <p:cNvPr id="48" name="Text 46"/>
          <p:cNvSpPr txBox="1"/>
          <p:nvPr/>
        </p:nvSpPr>
        <p:spPr>
          <a:xfrm>
            <a:off x="6720840" y="3877056"/>
            <a:ext cx="4526280" cy="182880"/>
          </a:xfrm>
          <a:prstGeom prst="rect">
            <a:avLst/>
          </a:prstGeom>
          <a:noFill/>
          <a:ln/>
        </p:spPr>
        <p:txBody>
          <a:bodyPr wrap="square" lIns="0" tIns="0" rIns="0" bIns="0" rtlCol="0" anchor="t"/>
          <a:lstStyle/>
          <a:p>
            <a:pPr algn="ctr" indent="0" marL="0">
              <a:buNone/>
            </a:pPr>
            <a:r>
              <a:rPr lang="en-US" sz="800" dirty="0">
                <a:solidFill>
                  <a:srgbClr val="6B7A8C"/>
                </a:solidFill>
                <a:latin typeface="Calibri" pitchFamily="34" charset="0"/>
                <a:ea typeface="Calibri" pitchFamily="34" charset="-122"/>
                <a:cs typeface="Calibri" pitchFamily="34" charset="-120"/>
              </a:rPr>
              <a:t>pre-match Elo gap</a:t>
            </a:r>
            <a:endParaRPr lang="en-US" sz="800" dirty="0"/>
          </a:p>
        </p:txBody>
      </p:sp>
      <p:sp>
        <p:nvSpPr>
          <p:cNvPr id="49" name="Shape 47"/>
          <p:cNvSpPr/>
          <p:nvPr/>
        </p:nvSpPr>
        <p:spPr>
          <a:xfrm>
            <a:off x="640080" y="4224528"/>
            <a:ext cx="5120640" cy="2103120"/>
          </a:xfrm>
          <a:prstGeom prst="roundRect">
            <a:avLst>
              <a:gd name="adj" fmla="val 2609"/>
            </a:avLst>
          </a:prstGeom>
          <a:solidFill>
            <a:srgbClr val="1C2531"/>
          </a:solidFill>
          <a:ln w="9525">
            <a:solidFill>
              <a:srgbClr val="2A3542"/>
            </a:solidFill>
            <a:prstDash val="solid"/>
          </a:ln>
        </p:spPr>
      </p:sp>
      <p:sp>
        <p:nvSpPr>
          <p:cNvPr id="50" name="Text 48"/>
          <p:cNvSpPr txBox="1"/>
          <p:nvPr/>
        </p:nvSpPr>
        <p:spPr>
          <a:xfrm>
            <a:off x="914400" y="4389120"/>
            <a:ext cx="4572000" cy="256032"/>
          </a:xfrm>
          <a:prstGeom prst="rect">
            <a:avLst/>
          </a:prstGeom>
          <a:noFill/>
          <a:ln/>
        </p:spPr>
        <p:txBody>
          <a:bodyPr wrap="square" lIns="0" tIns="0" rIns="0" bIns="0" rtlCol="0" anchor="ctr"/>
          <a:lstStyle/>
          <a:p>
            <a:pPr indent="0" marL="0">
              <a:buNone/>
            </a:pPr>
            <a:r>
              <a:rPr lang="en-US" sz="1400" b="1" dirty="0">
                <a:solidFill>
                  <a:srgbClr val="E6EDF3"/>
                </a:solidFill>
                <a:latin typeface="Arial" pitchFamily="34" charset="0"/>
                <a:ea typeface="Arial" pitchFamily="34" charset="-122"/>
                <a:cs typeface="Arial" pitchFamily="34" charset="-120"/>
              </a:rPr>
              <a:t>The algebra</a:t>
            </a:r>
            <a:endParaRPr lang="en-US" sz="1400" dirty="0"/>
          </a:p>
        </p:txBody>
      </p:sp>
      <p:sp>
        <p:nvSpPr>
          <p:cNvPr id="51" name="Text 49"/>
          <p:cNvSpPr txBox="1"/>
          <p:nvPr/>
        </p:nvSpPr>
        <p:spPr>
          <a:xfrm>
            <a:off x="914400" y="4681728"/>
            <a:ext cx="4572000" cy="274320"/>
          </a:xfrm>
          <a:prstGeom prst="rect">
            <a:avLst/>
          </a:prstGeom>
          <a:noFill/>
          <a:ln/>
        </p:spPr>
        <p:txBody>
          <a:bodyPr wrap="square" lIns="0" tIns="0" rIns="0" bIns="0" rtlCol="0" anchor="ctr"/>
          <a:lstStyle/>
          <a:p>
            <a:pPr indent="0" marL="0">
              <a:buNone/>
            </a:pPr>
            <a:r>
              <a:rPr lang="en-US" sz="1250" b="1" dirty="0">
                <a:solidFill>
                  <a:srgbClr val="2DD4A7"/>
                </a:solidFill>
                <a:latin typeface="Courier New" pitchFamily="34" charset="0"/>
                <a:ea typeface="Courier New" pitchFamily="34" charset="-122"/>
                <a:cs typeface="Courier New" pitchFamily="34" charset="-120"/>
              </a:rPr>
              <a:t>Since  E = P(win) + ½ · P(draw)</a:t>
            </a:r>
            <a:endParaRPr lang="en-US" sz="1250" dirty="0"/>
          </a:p>
        </p:txBody>
      </p:sp>
      <p:sp>
        <p:nvSpPr>
          <p:cNvPr id="52" name="Text 50"/>
          <p:cNvSpPr txBox="1"/>
          <p:nvPr/>
        </p:nvSpPr>
        <p:spPr>
          <a:xfrm>
            <a:off x="914400" y="4992624"/>
            <a:ext cx="4572000" cy="731520"/>
          </a:xfrm>
          <a:prstGeom prst="rect">
            <a:avLst/>
          </a:prstGeom>
          <a:noFill/>
          <a:ln/>
        </p:spPr>
        <p:txBody>
          <a:bodyPr wrap="square" lIns="0" tIns="0" rIns="0" bIns="0" rtlCol="0" anchor="t"/>
          <a:lstStyle/>
          <a:p>
            <a:pPr indent="0" marL="0">
              <a:lnSpc>
                <a:spcPct val="125000"/>
              </a:lnSpc>
              <a:buNone/>
            </a:pPr>
            <a:r>
              <a:rPr lang="en-US" sz="1100" dirty="0">
                <a:solidFill>
                  <a:srgbClr val="E6EDF3"/>
                </a:solidFill>
                <a:latin typeface="Courier New" pitchFamily="34" charset="0"/>
                <a:ea typeface="Courier New" pitchFamily="34" charset="-122"/>
                <a:cs typeface="Courier New" pitchFamily="34" charset="-120"/>
              </a:rPr>
              <a:t>P(draw)  =  measured rate for this gap</a:t>
            </a:r>
            <a:endParaRPr lang="en-US" sz="1100" dirty="0"/>
          </a:p>
          <a:p>
            <a:pPr indent="0" marL="0">
              <a:lnSpc>
                <a:spcPct val="125000"/>
              </a:lnSpc>
              <a:buNone/>
            </a:pPr>
            <a:r>
              <a:rPr lang="en-US" sz="1100" dirty="0">
                <a:solidFill>
                  <a:srgbClr val="E6EDF3"/>
                </a:solidFill>
                <a:latin typeface="Courier New" pitchFamily="34" charset="0"/>
                <a:ea typeface="Courier New" pitchFamily="34" charset="-122"/>
                <a:cs typeface="Courier New" pitchFamily="34" charset="-120"/>
              </a:rPr>
              <a:t>P(win)   =  E − P(draw) / 2</a:t>
            </a:r>
            <a:endParaRPr lang="en-US" sz="1100" dirty="0"/>
          </a:p>
          <a:p>
            <a:pPr indent="0" marL="0">
              <a:lnSpc>
                <a:spcPct val="125000"/>
              </a:lnSpc>
              <a:buNone/>
            </a:pPr>
            <a:r>
              <a:rPr lang="en-US" sz="1100" dirty="0">
                <a:solidFill>
                  <a:srgbClr val="E6EDF3"/>
                </a:solidFill>
                <a:latin typeface="Courier New" pitchFamily="34" charset="0"/>
                <a:ea typeface="Courier New" pitchFamily="34" charset="-122"/>
                <a:cs typeface="Courier New" pitchFamily="34" charset="-120"/>
              </a:rPr>
              <a:t>P(loss)  =  1 − P(win) − P(draw)</a:t>
            </a:r>
            <a:endParaRPr lang="en-US" sz="1100" dirty="0"/>
          </a:p>
        </p:txBody>
      </p:sp>
      <p:sp>
        <p:nvSpPr>
          <p:cNvPr id="53" name="Text 51"/>
          <p:cNvSpPr txBox="1"/>
          <p:nvPr/>
        </p:nvSpPr>
        <p:spPr>
          <a:xfrm>
            <a:off x="914400" y="5724144"/>
            <a:ext cx="4572000" cy="457200"/>
          </a:xfrm>
          <a:prstGeom prst="rect">
            <a:avLst/>
          </a:prstGeom>
          <a:noFill/>
          <a:ln/>
        </p:spPr>
        <p:txBody>
          <a:bodyPr wrap="square" lIns="0" tIns="0" rIns="0" bIns="0" rtlCol="0" anchor="t"/>
          <a:lstStyle/>
          <a:p>
            <a:pPr indent="0" marL="0">
              <a:lnSpc>
                <a:spcPct val="112000"/>
              </a:lnSpc>
              <a:buNone/>
            </a:pPr>
            <a:r>
              <a:rPr lang="en-US" sz="950" i="1" dirty="0">
                <a:solidFill>
                  <a:srgbClr val="6B7A8C"/>
                </a:solidFill>
                <a:latin typeface="Calibri" pitchFamily="34" charset="0"/>
                <a:ea typeface="Calibri" pitchFamily="34" charset="-122"/>
                <a:cs typeface="Calibri" pitchFamily="34" charset="-120"/>
              </a:rPr>
              <a:t>At extreme gaps P(loss) can go negative, so values are clamped and renormalised — a unit test drives a 1,400-point gap through it.</a:t>
            </a:r>
            <a:endParaRPr lang="en-US" sz="950" dirty="0"/>
          </a:p>
        </p:txBody>
      </p:sp>
      <p:sp>
        <p:nvSpPr>
          <p:cNvPr id="54" name="Shape 52"/>
          <p:cNvSpPr/>
          <p:nvPr/>
        </p:nvSpPr>
        <p:spPr>
          <a:xfrm>
            <a:off x="6035040" y="4224528"/>
            <a:ext cx="5513832" cy="2103120"/>
          </a:xfrm>
          <a:prstGeom prst="roundRect">
            <a:avLst>
              <a:gd name="adj" fmla="val 2174"/>
            </a:avLst>
          </a:prstGeom>
          <a:solidFill>
            <a:srgbClr val="0A0E14"/>
          </a:solidFill>
          <a:ln w="9525">
            <a:solidFill>
              <a:srgbClr val="2A3542"/>
            </a:solidFill>
            <a:prstDash val="solid"/>
          </a:ln>
        </p:spPr>
      </p:sp>
      <p:sp>
        <p:nvSpPr>
          <p:cNvPr id="55" name="Text 53"/>
          <p:cNvSpPr txBox="1"/>
          <p:nvPr/>
        </p:nvSpPr>
        <p:spPr>
          <a:xfrm>
            <a:off x="6199632" y="4352544"/>
            <a:ext cx="5202936" cy="1847088"/>
          </a:xfrm>
          <a:prstGeom prst="rect">
            <a:avLst/>
          </a:prstGeom>
          <a:noFill/>
          <a:ln/>
        </p:spPr>
        <p:txBody>
          <a:bodyPr wrap="square" lIns="0" tIns="0" rIns="0" bIns="0" rtlCol="0" anchor="t"/>
          <a:lstStyle/>
          <a:p>
            <a:pPr indent="0" marL="0">
              <a:lnSpc>
                <a:spcPct val="114000"/>
              </a:lnSpc>
              <a:buNone/>
            </a:pPr>
            <a:r>
              <a:rPr lang="en-US" sz="1000" dirty="0">
                <a:solidFill>
                  <a:srgbClr val="C9D6E2"/>
                </a:solidFill>
                <a:latin typeface="Courier New" pitchFamily="34" charset="0"/>
                <a:ea typeface="Courier New" pitchFamily="34" charset="-122"/>
                <a:cs typeface="Courier New" pitchFamily="34" charset="-120"/>
              </a:rPr>
              <a:t>def probabilities(r_a, r_b, calib, neutral):</a:t>
            </a:r>
            <a:endParaRPr lang="en-US" sz="1000" dirty="0"/>
          </a:p>
          <a:p>
            <a:pPr indent="0" marL="0">
              <a:lnSpc>
                <a:spcPct val="114000"/>
              </a:lnSpc>
              <a:buNone/>
            </a:pPr>
            <a:r>
              <a:rPr lang="en-US" sz="1000" dirty="0">
                <a:solidFill>
                  <a:srgbClr val="C9D6E2"/>
                </a:solidFill>
                <a:latin typeface="Courier New" pitchFamily="34" charset="0"/>
                <a:ea typeface="Courier New" pitchFamily="34" charset="-122"/>
                <a:cs typeface="Courier New" pitchFamily="34" charset="-120"/>
              </a:rPr>
              <a:t>    adv = 0 if neutral else ELO_HOME_ADVANTAGE</a:t>
            </a:r>
            <a:endParaRPr lang="en-US" sz="1000" dirty="0"/>
          </a:p>
          <a:p>
            <a:pPr indent="0" marL="0">
              <a:lnSpc>
                <a:spcPct val="114000"/>
              </a:lnSpc>
              <a:buNone/>
            </a:pPr>
            <a:r>
              <a:rPr lang="en-US" sz="1000" dirty="0">
                <a:solidFill>
                  <a:srgbClr val="C9D6E2"/>
                </a:solidFill>
                <a:latin typeface="Courier New" pitchFamily="34" charset="0"/>
                <a:ea typeface="Courier New" pitchFamily="34" charset="-122"/>
                <a:cs typeface="Courier New" pitchFamily="34" charset="-120"/>
              </a:rPr>
              <a:t>    E   = expected_score(r_a, r_b, adv)</a:t>
            </a:r>
            <a:endParaRPr lang="en-US" sz="1000" dirty="0"/>
          </a:p>
          <a:p>
            <a:pPr indent="0" marL="0">
              <a:lnSpc>
                <a:spcPct val="114000"/>
              </a:lnSpc>
              <a:buNone/>
            </a:pPr>
            <a:r>
              <a:rPr lang="en-US" sz="1000" dirty="0">
                <a:solidFill>
                  <a:srgbClr val="C9D6E2"/>
                </a:solidFill>
                <a:latin typeface="Courier New" pitchFamily="34" charset="0"/>
                <a:ea typeface="Courier New" pitchFamily="34" charset="-122"/>
                <a:cs typeface="Courier New" pitchFamily="34" charset="-120"/>
              </a:rPr>
              <a:t>    gap = (r_a + adv) - r_b</a:t>
            </a:r>
            <a:endParaRPr lang="en-US" sz="1000" dirty="0"/>
          </a:p>
          <a:p>
            <a:pPr indent="0" marL="0">
              <a:lnSpc>
                <a:spcPct val="114000"/>
              </a:lnSpc>
              <a:buNone/>
            </a:pPr>
            <a:endParaRPr lang="en-US" sz="1000" dirty="0"/>
          </a:p>
          <a:p>
            <a:pPr indent="0" marL="0">
              <a:lnSpc>
                <a:spcPct val="114000"/>
              </a:lnSpc>
              <a:buNone/>
            </a:pPr>
            <a:r>
              <a:rPr lang="en-US" sz="1000" dirty="0">
                <a:solidFill>
                  <a:srgbClr val="C9D6E2"/>
                </a:solidFill>
                <a:latin typeface="Courier New" pitchFamily="34" charset="0"/>
                <a:ea typeface="Courier New" pitchFamily="34" charset="-122"/>
                <a:cs typeface="Courier New" pitchFamily="34" charset="-120"/>
              </a:rPr>
              <a:t>    p_draw = draw_probability(gap, calib)</a:t>
            </a:r>
            <a:endParaRPr lang="en-US" sz="1000" dirty="0"/>
          </a:p>
          <a:p>
            <a:pPr indent="0" marL="0">
              <a:lnSpc>
                <a:spcPct val="114000"/>
              </a:lnSpc>
              <a:buNone/>
            </a:pPr>
            <a:r>
              <a:rPr lang="en-US" sz="1000" dirty="0">
                <a:solidFill>
                  <a:srgbClr val="C9D6E2"/>
                </a:solidFill>
                <a:latin typeface="Courier New" pitchFamily="34" charset="0"/>
                <a:ea typeface="Courier New" pitchFamily="34" charset="-122"/>
                <a:cs typeface="Courier New" pitchFamily="34" charset="-120"/>
              </a:rPr>
              <a:t>    p_a    = E - p_draw / 2</a:t>
            </a:r>
            <a:endParaRPr lang="en-US" sz="1000" dirty="0"/>
          </a:p>
          <a:p>
            <a:pPr indent="0" marL="0">
              <a:lnSpc>
                <a:spcPct val="114000"/>
              </a:lnSpc>
              <a:buNone/>
            </a:pPr>
            <a:r>
              <a:rPr lang="en-US" sz="1000" dirty="0">
                <a:solidFill>
                  <a:srgbClr val="C9D6E2"/>
                </a:solidFill>
                <a:latin typeface="Courier New" pitchFamily="34" charset="0"/>
                <a:ea typeface="Courier New" pitchFamily="34" charset="-122"/>
                <a:cs typeface="Courier New" pitchFamily="34" charset="-120"/>
              </a:rPr>
              <a:t>    p_b    = 1 - p_a - p_draw</a:t>
            </a:r>
            <a:endParaRPr lang="en-US" sz="1000" dirty="0"/>
          </a:p>
          <a:p>
            <a:pPr indent="0" marL="0">
              <a:lnSpc>
                <a:spcPct val="114000"/>
              </a:lnSpc>
              <a:buNone/>
            </a:pPr>
            <a:endParaRPr lang="en-US" sz="1000" dirty="0"/>
          </a:p>
          <a:p>
            <a:pPr indent="0" marL="0">
              <a:lnSpc>
                <a:spcPct val="114000"/>
              </a:lnSpc>
              <a:buNone/>
            </a:pPr>
            <a:r>
              <a:rPr lang="en-US" sz="1000" dirty="0">
                <a:solidFill>
                  <a:srgbClr val="C9D6E2"/>
                </a:solidFill>
                <a:latin typeface="Courier New" pitchFamily="34" charset="0"/>
                <a:ea typeface="Courier New" pitchFamily="34" charset="-122"/>
                <a:cs typeface="Courier New" pitchFamily="34" charset="-120"/>
              </a:rPr>
              <a:t>    # clamp, then renormalise</a:t>
            </a:r>
            <a:endParaRPr lang="en-US" sz="1000" dirty="0"/>
          </a:p>
          <a:p>
            <a:pPr indent="0" marL="0">
              <a:lnSpc>
                <a:spcPct val="114000"/>
              </a:lnSpc>
              <a:buNone/>
            </a:pPr>
            <a:r>
              <a:rPr lang="en-US" sz="1000" dirty="0">
                <a:solidFill>
                  <a:srgbClr val="C9D6E2"/>
                </a:solidFill>
                <a:latin typeface="Courier New" pitchFamily="34" charset="0"/>
                <a:ea typeface="Courier New" pitchFamily="34" charset="-122"/>
                <a:cs typeface="Courier New" pitchFamily="34" charset="-120"/>
              </a:rPr>
              <a:t>    total = p_a + p_draw + p_b</a:t>
            </a:r>
            <a:endParaRPr lang="en-US" sz="1000" dirty="0"/>
          </a:p>
          <a:p>
            <a:pPr indent="0" marL="0">
              <a:lnSpc>
                <a:spcPct val="114000"/>
              </a:lnSpc>
              <a:buNone/>
            </a:pPr>
            <a:r>
              <a:rPr lang="en-US" sz="1000" dirty="0">
                <a:solidFill>
                  <a:srgbClr val="C9D6E2"/>
                </a:solidFill>
                <a:latin typeface="Courier New" pitchFamily="34" charset="0"/>
                <a:ea typeface="Courier New" pitchFamily="34" charset="-122"/>
                <a:cs typeface="Courier New" pitchFamily="34" charset="-120"/>
              </a:rPr>
              <a:t>    return p_a/total, p_draw/total, p_b/total</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117"/>
        </a:solidFill>
      </p:bgPr>
    </p:bg>
    <p:spTree>
      <p:nvGrpSpPr>
        <p:cNvPr id="1" name=""/>
        <p:cNvGrpSpPr/>
        <p:nvPr/>
      </p:nvGrpSpPr>
      <p:grpSpPr>
        <a:xfrm>
          <a:off x="0" y="0"/>
          <a:ext cx="0" cy="0"/>
          <a:chOff x="0" y="0"/>
          <a:chExt cx="0" cy="0"/>
        </a:xfrm>
      </p:grpSpPr>
      <p:sp>
        <p:nvSpPr>
          <p:cNvPr id="2" name="Text 0"/>
          <p:cNvSpPr txBox="1"/>
          <p:nvPr/>
        </p:nvSpPr>
        <p:spPr>
          <a:xfrm>
            <a:off x="640080" y="384048"/>
            <a:ext cx="10058400" cy="256032"/>
          </a:xfrm>
          <a:prstGeom prst="rect">
            <a:avLst/>
          </a:prstGeom>
          <a:noFill/>
          <a:ln/>
        </p:spPr>
        <p:txBody>
          <a:bodyPr wrap="square" lIns="0" tIns="0" rIns="0" bIns="0" rtlCol="0" anchor="ctr"/>
          <a:lstStyle/>
          <a:p>
            <a:pPr indent="0" marL="0">
              <a:buNone/>
            </a:pPr>
            <a:r>
              <a:rPr lang="en-US" sz="1100" b="1" spc="200" kern="0" dirty="0">
                <a:solidFill>
                  <a:srgbClr val="2DD4A7"/>
                </a:solidFill>
                <a:latin typeface="Calibri" pitchFamily="34" charset="0"/>
                <a:ea typeface="Calibri" pitchFamily="34" charset="-122"/>
                <a:cs typeface="Calibri" pitchFamily="34" charset="-120"/>
              </a:rPr>
              <a:t>STAGE 5  ·  RIGOUR</a:t>
            </a:r>
            <a:endParaRPr lang="en-US" sz="1100" dirty="0"/>
          </a:p>
        </p:txBody>
      </p:sp>
      <p:sp>
        <p:nvSpPr>
          <p:cNvPr id="3" name="Text 1"/>
          <p:cNvSpPr txBox="1"/>
          <p:nvPr/>
        </p:nvSpPr>
        <p:spPr>
          <a:xfrm>
            <a:off x="640080" y="658368"/>
            <a:ext cx="10881360" cy="566928"/>
          </a:xfrm>
          <a:prstGeom prst="rect">
            <a:avLst/>
          </a:prstGeom>
          <a:noFill/>
          <a:ln/>
        </p:spPr>
        <p:txBody>
          <a:bodyPr wrap="square" lIns="0" tIns="0" rIns="0" bIns="0" rtlCol="0" anchor="ctr"/>
          <a:lstStyle/>
          <a:p>
            <a:pPr indent="0" marL="0">
              <a:buNone/>
            </a:pPr>
            <a:r>
              <a:rPr lang="en-US" sz="3200" b="1" dirty="0">
                <a:solidFill>
                  <a:srgbClr val="E6EDF3"/>
                </a:solidFill>
                <a:latin typeface="Arial" pitchFamily="34" charset="0"/>
                <a:ea typeface="Arial" pitchFamily="34" charset="-122"/>
                <a:cs typeface="Arial" pitchFamily="34" charset="-120"/>
              </a:rPr>
              <a:t>Tuned by search, judged on data it never saw</a:t>
            </a:r>
            <a:endParaRPr lang="en-US" sz="3200" dirty="0"/>
          </a:p>
        </p:txBody>
      </p:sp>
      <p:sp>
        <p:nvSpPr>
          <p:cNvPr id="4" name="Text 2"/>
          <p:cNvSpPr txBox="1"/>
          <p:nvPr/>
        </p:nvSpPr>
        <p:spPr>
          <a:xfrm>
            <a:off x="640080" y="1243584"/>
            <a:ext cx="10881360" cy="310896"/>
          </a:xfrm>
          <a:prstGeom prst="rect">
            <a:avLst/>
          </a:prstGeom>
          <a:noFill/>
          <a:ln/>
        </p:spPr>
        <p:txBody>
          <a:bodyPr wrap="square" lIns="0" tIns="0" rIns="0" bIns="0" rtlCol="0" anchor="ctr"/>
          <a:lstStyle/>
          <a:p>
            <a:pPr indent="0" marL="0">
              <a:buNone/>
            </a:pPr>
            <a:r>
              <a:rPr lang="en-US" sz="1350" dirty="0">
                <a:solidFill>
                  <a:srgbClr val="8B98A9"/>
                </a:solidFill>
                <a:latin typeface="Calibri" pitchFamily="34" charset="0"/>
                <a:ea typeface="Calibri" pitchFamily="34" charset="-122"/>
                <a:cs typeface="Calibri" pitchFamily="34" charset="-120"/>
              </a:rPr>
              <a:t>The two things that separate a model you can defend from a model you merely built.</a:t>
            </a:r>
            <a:endParaRPr lang="en-US" sz="1350" dirty="0"/>
          </a:p>
        </p:txBody>
      </p:sp>
      <p:sp>
        <p:nvSpPr>
          <p:cNvPr id="5" name="Shape 3"/>
          <p:cNvSpPr/>
          <p:nvPr/>
        </p:nvSpPr>
        <p:spPr>
          <a:xfrm>
            <a:off x="640080" y="1828800"/>
            <a:ext cx="5349240" cy="2395728"/>
          </a:xfrm>
          <a:prstGeom prst="roundRect">
            <a:avLst>
              <a:gd name="adj" fmla="val 2290"/>
            </a:avLst>
          </a:prstGeom>
          <a:solidFill>
            <a:srgbClr val="1C2531"/>
          </a:solidFill>
          <a:ln w="9525">
            <a:solidFill>
              <a:srgbClr val="2A3542"/>
            </a:solidFill>
            <a:prstDash val="solid"/>
          </a:ln>
        </p:spPr>
      </p:sp>
      <p:sp>
        <p:nvSpPr>
          <p:cNvPr id="6" name="Text 4"/>
          <p:cNvSpPr txBox="1"/>
          <p:nvPr/>
        </p:nvSpPr>
        <p:spPr>
          <a:xfrm>
            <a:off x="932688" y="1993392"/>
            <a:ext cx="4754880" cy="256032"/>
          </a:xfrm>
          <a:prstGeom prst="rect">
            <a:avLst/>
          </a:prstGeom>
          <a:noFill/>
          <a:ln/>
        </p:spPr>
        <p:txBody>
          <a:bodyPr wrap="square" lIns="0" tIns="0" rIns="0" bIns="0" rtlCol="0" anchor="ctr"/>
          <a:lstStyle/>
          <a:p>
            <a:pPr indent="0" marL="0">
              <a:buNone/>
            </a:pPr>
            <a:r>
              <a:rPr lang="en-US" sz="1400" b="1" dirty="0">
                <a:solidFill>
                  <a:srgbClr val="E6EDF3"/>
                </a:solidFill>
                <a:latin typeface="Arial" pitchFamily="34" charset="0"/>
                <a:ea typeface="Arial" pitchFamily="34" charset="-122"/>
                <a:cs typeface="Arial" pitchFamily="34" charset="-120"/>
              </a:rPr>
              <a:t>Constants were searched, not guessed</a:t>
            </a:r>
            <a:endParaRPr lang="en-US" sz="1400" dirty="0"/>
          </a:p>
        </p:txBody>
      </p:sp>
      <p:sp>
        <p:nvSpPr>
          <p:cNvPr id="7" name="Text 5"/>
          <p:cNvSpPr txBox="1"/>
          <p:nvPr/>
        </p:nvSpPr>
        <p:spPr>
          <a:xfrm>
            <a:off x="932688" y="2359152"/>
            <a:ext cx="4754880" cy="640080"/>
          </a:xfrm>
          <a:prstGeom prst="rect">
            <a:avLst/>
          </a:prstGeom>
          <a:noFill/>
          <a:ln/>
        </p:spPr>
        <p:txBody>
          <a:bodyPr wrap="square" lIns="0" tIns="0" rIns="0" bIns="0" rtlCol="0" anchor="t"/>
          <a:lstStyle/>
          <a:p>
            <a:pPr indent="0" marL="0">
              <a:lnSpc>
                <a:spcPct val="116000"/>
              </a:lnSpc>
              <a:buNone/>
            </a:pPr>
            <a:r>
              <a:rPr lang="en-US" sz="1150" dirty="0">
                <a:solidFill>
                  <a:srgbClr val="8B98A9"/>
                </a:solidFill>
                <a:latin typeface="Calibri" pitchFamily="34" charset="0"/>
                <a:ea typeface="Calibri" pitchFamily="34" charset="-122"/>
                <a:cs typeface="Calibri" pitchFamily="34" charset="-120"/>
              </a:rPr>
              <a:t>scripts/tune_elo.py sweeps 96 combinations of K, home advantage and margin cap. For each one it replays the entire match history and scores it on held-out matches.</a:t>
            </a:r>
            <a:endParaRPr lang="en-US" sz="1150" dirty="0"/>
          </a:p>
        </p:txBody>
      </p:sp>
      <p:sp>
        <p:nvSpPr>
          <p:cNvPr id="8" name="Shape 6"/>
          <p:cNvSpPr/>
          <p:nvPr/>
        </p:nvSpPr>
        <p:spPr>
          <a:xfrm>
            <a:off x="932688" y="2962656"/>
            <a:ext cx="4754880" cy="621792"/>
          </a:xfrm>
          <a:prstGeom prst="roundRect">
            <a:avLst>
              <a:gd name="adj" fmla="val 7353"/>
            </a:avLst>
          </a:prstGeom>
          <a:solidFill>
            <a:srgbClr val="0A0E14"/>
          </a:solidFill>
          <a:ln w="9525">
            <a:solidFill>
              <a:srgbClr val="2A3542"/>
            </a:solidFill>
            <a:prstDash val="solid"/>
          </a:ln>
        </p:spPr>
      </p:sp>
      <p:sp>
        <p:nvSpPr>
          <p:cNvPr id="9" name="Text 7"/>
          <p:cNvSpPr txBox="1"/>
          <p:nvPr/>
        </p:nvSpPr>
        <p:spPr>
          <a:xfrm>
            <a:off x="1097280" y="3090672"/>
            <a:ext cx="4443984" cy="365760"/>
          </a:xfrm>
          <a:prstGeom prst="rect">
            <a:avLst/>
          </a:prstGeom>
          <a:noFill/>
          <a:ln/>
        </p:spPr>
        <p:txBody>
          <a:bodyPr wrap="square" lIns="0" tIns="0" rIns="0" bIns="0" rtlCol="0" anchor="t"/>
          <a:lstStyle/>
          <a:p>
            <a:pPr indent="0" marL="0">
              <a:lnSpc>
                <a:spcPct val="114000"/>
              </a:lnSpc>
              <a:buNone/>
            </a:pPr>
            <a:r>
              <a:rPr lang="en-US" sz="1000" dirty="0">
                <a:solidFill>
                  <a:srgbClr val="C9D6E2"/>
                </a:solidFill>
                <a:latin typeface="Courier New" pitchFamily="34" charset="0"/>
                <a:ea typeface="Courier New" pitchFamily="34" charset="-122"/>
                <a:cs typeface="Courier New" pitchFamily="34" charset="-120"/>
              </a:rPr>
              <a:t>K = 25   home = 65   margin cap = 3.0</a:t>
            </a:r>
            <a:endParaRPr lang="en-US" sz="1000" dirty="0"/>
          </a:p>
          <a:p>
            <a:pPr indent="0" marL="0">
              <a:lnSpc>
                <a:spcPct val="114000"/>
              </a:lnSpc>
              <a:buNone/>
            </a:pPr>
            <a:r>
              <a:rPr lang="en-US" sz="1000" dirty="0">
                <a:solidFill>
                  <a:srgbClr val="C9D6E2"/>
                </a:solidFill>
                <a:latin typeface="Courier New" pitchFamily="34" charset="0"/>
                <a:ea typeface="Courier New" pitchFamily="34" charset="-122"/>
                <a:cs typeface="Courier New" pitchFamily="34" charset="-120"/>
              </a:rPr>
              <a:t>-&gt; best Brier of 96 combinations</a:t>
            </a:r>
            <a:endParaRPr lang="en-US" sz="1000" dirty="0"/>
          </a:p>
        </p:txBody>
      </p:sp>
      <p:sp>
        <p:nvSpPr>
          <p:cNvPr id="10" name="Text 8"/>
          <p:cNvSpPr txBox="1"/>
          <p:nvPr/>
        </p:nvSpPr>
        <p:spPr>
          <a:xfrm>
            <a:off x="932688" y="3657600"/>
            <a:ext cx="4754880" cy="384048"/>
          </a:xfrm>
          <a:prstGeom prst="rect">
            <a:avLst/>
          </a:prstGeom>
          <a:noFill/>
          <a:ln/>
        </p:spPr>
        <p:txBody>
          <a:bodyPr wrap="square" lIns="0" tIns="0" rIns="0" bIns="0" rtlCol="0" anchor="t"/>
          <a:lstStyle/>
          <a:p>
            <a:pPr indent="0" marL="0">
              <a:lnSpc>
                <a:spcPct val="112000"/>
              </a:lnSpc>
              <a:buNone/>
            </a:pPr>
            <a:r>
              <a:rPr lang="en-US" sz="1000" i="1" dirty="0">
                <a:solidFill>
                  <a:srgbClr val="6B7A8C"/>
                </a:solidFill>
                <a:latin typeface="Calibri" pitchFamily="34" charset="0"/>
                <a:ea typeface="Calibri" pitchFamily="34" charset="-122"/>
                <a:cs typeface="Calibri" pitchFamily="34" charset="-120"/>
              </a:rPr>
              <a:t>My first hand-picked K produced wildly overconfident forecasts. The search fixed that.</a:t>
            </a:r>
            <a:endParaRPr lang="en-US" sz="1000" dirty="0"/>
          </a:p>
        </p:txBody>
      </p:sp>
      <p:sp>
        <p:nvSpPr>
          <p:cNvPr id="11" name="Shape 9"/>
          <p:cNvSpPr/>
          <p:nvPr/>
        </p:nvSpPr>
        <p:spPr>
          <a:xfrm>
            <a:off x="6263640" y="1828800"/>
            <a:ext cx="5285232" cy="2395728"/>
          </a:xfrm>
          <a:prstGeom prst="roundRect">
            <a:avLst>
              <a:gd name="adj" fmla="val 2290"/>
            </a:avLst>
          </a:prstGeom>
          <a:solidFill>
            <a:srgbClr val="1C2531"/>
          </a:solidFill>
          <a:ln w="9525">
            <a:solidFill>
              <a:srgbClr val="2A3542"/>
            </a:solidFill>
            <a:prstDash val="solid"/>
          </a:ln>
        </p:spPr>
      </p:sp>
      <p:sp>
        <p:nvSpPr>
          <p:cNvPr id="12" name="Text 10"/>
          <p:cNvSpPr txBox="1"/>
          <p:nvPr/>
        </p:nvSpPr>
        <p:spPr>
          <a:xfrm>
            <a:off x="6556248" y="2011680"/>
            <a:ext cx="4754880" cy="256032"/>
          </a:xfrm>
          <a:prstGeom prst="rect">
            <a:avLst/>
          </a:prstGeom>
          <a:noFill/>
          <a:ln/>
        </p:spPr>
        <p:txBody>
          <a:bodyPr wrap="square" lIns="0" tIns="0" rIns="0" bIns="0" rtlCol="0" anchor="ctr"/>
          <a:lstStyle/>
          <a:p>
            <a:pPr indent="0" marL="0">
              <a:buNone/>
            </a:pPr>
            <a:r>
              <a:rPr lang="en-US" sz="1400" b="1" dirty="0">
                <a:solidFill>
                  <a:srgbClr val="E6EDF3"/>
                </a:solidFill>
                <a:latin typeface="Arial" pitchFamily="34" charset="0"/>
                <a:ea typeface="Arial" pitchFamily="34" charset="-122"/>
                <a:cs typeface="Arial" pitchFamily="34" charset="-120"/>
              </a:rPr>
              <a:t>A clean train / test split</a:t>
            </a:r>
            <a:endParaRPr lang="en-US" sz="1400" dirty="0"/>
          </a:p>
        </p:txBody>
      </p:sp>
      <p:sp>
        <p:nvSpPr>
          <p:cNvPr id="13" name="Text 11"/>
          <p:cNvSpPr txBox="1"/>
          <p:nvPr/>
        </p:nvSpPr>
        <p:spPr>
          <a:xfrm>
            <a:off x="6556248" y="2340864"/>
            <a:ext cx="685800" cy="237744"/>
          </a:xfrm>
          <a:prstGeom prst="rect">
            <a:avLst/>
          </a:prstGeom>
          <a:noFill/>
          <a:ln/>
        </p:spPr>
        <p:txBody>
          <a:bodyPr wrap="square" lIns="0" tIns="0" rIns="0" bIns="0" rtlCol="0" anchor="ctr"/>
          <a:lstStyle/>
          <a:p>
            <a:pPr indent="0" marL="0">
              <a:buNone/>
            </a:pPr>
            <a:r>
              <a:rPr lang="en-US" sz="1150" b="1" dirty="0">
                <a:solidFill>
                  <a:srgbClr val="2DD4A7"/>
                </a:solidFill>
                <a:latin typeface="Arial" pitchFamily="34" charset="0"/>
                <a:ea typeface="Arial" pitchFamily="34" charset="-122"/>
                <a:cs typeface="Arial" pitchFamily="34" charset="-120"/>
              </a:rPr>
              <a:t>Fit</a:t>
            </a:r>
            <a:endParaRPr lang="en-US" sz="1150" dirty="0"/>
          </a:p>
        </p:txBody>
      </p:sp>
      <p:sp>
        <p:nvSpPr>
          <p:cNvPr id="14" name="Text 12"/>
          <p:cNvSpPr txBox="1"/>
          <p:nvPr/>
        </p:nvSpPr>
        <p:spPr>
          <a:xfrm>
            <a:off x="7269480" y="2340864"/>
            <a:ext cx="4023360" cy="237744"/>
          </a:xfrm>
          <a:prstGeom prst="rect">
            <a:avLst/>
          </a:prstGeom>
          <a:noFill/>
          <a:ln/>
        </p:spPr>
        <p:txBody>
          <a:bodyPr wrap="square" lIns="0" tIns="0" rIns="0" bIns="0" rtlCol="0" anchor="ctr"/>
          <a:lstStyle/>
          <a:p>
            <a:pPr indent="0" marL="0">
              <a:buNone/>
            </a:pPr>
            <a:r>
              <a:rPr lang="en-US" sz="1150" dirty="0">
                <a:solidFill>
                  <a:srgbClr val="8B98A9"/>
                </a:solidFill>
                <a:latin typeface="Calibri" pitchFamily="34" charset="0"/>
                <a:ea typeface="Calibri" pitchFamily="34" charset="-122"/>
                <a:cs typeface="Calibri" pitchFamily="34" charset="-120"/>
              </a:rPr>
              <a:t>the draw model on matches before 2015 only</a:t>
            </a:r>
            <a:endParaRPr lang="en-US" sz="1150" dirty="0"/>
          </a:p>
        </p:txBody>
      </p:sp>
      <p:sp>
        <p:nvSpPr>
          <p:cNvPr id="15" name="Text 13"/>
          <p:cNvSpPr txBox="1"/>
          <p:nvPr/>
        </p:nvSpPr>
        <p:spPr>
          <a:xfrm>
            <a:off x="6556248" y="2761488"/>
            <a:ext cx="685800" cy="237744"/>
          </a:xfrm>
          <a:prstGeom prst="rect">
            <a:avLst/>
          </a:prstGeom>
          <a:noFill/>
          <a:ln/>
        </p:spPr>
        <p:txBody>
          <a:bodyPr wrap="square" lIns="0" tIns="0" rIns="0" bIns="0" rtlCol="0" anchor="ctr"/>
          <a:lstStyle/>
          <a:p>
            <a:pPr indent="0" marL="0">
              <a:buNone/>
            </a:pPr>
            <a:r>
              <a:rPr lang="en-US" sz="1150" b="1" dirty="0">
                <a:solidFill>
                  <a:srgbClr val="F5C451"/>
                </a:solidFill>
                <a:latin typeface="Arial" pitchFamily="34" charset="0"/>
                <a:ea typeface="Arial" pitchFamily="34" charset="-122"/>
                <a:cs typeface="Arial" pitchFamily="34" charset="-120"/>
              </a:rPr>
              <a:t>Score</a:t>
            </a:r>
            <a:endParaRPr lang="en-US" sz="1150" dirty="0"/>
          </a:p>
        </p:txBody>
      </p:sp>
      <p:sp>
        <p:nvSpPr>
          <p:cNvPr id="16" name="Text 14"/>
          <p:cNvSpPr txBox="1"/>
          <p:nvPr/>
        </p:nvSpPr>
        <p:spPr>
          <a:xfrm>
            <a:off x="7269480" y="2761488"/>
            <a:ext cx="4023360" cy="237744"/>
          </a:xfrm>
          <a:prstGeom prst="rect">
            <a:avLst/>
          </a:prstGeom>
          <a:noFill/>
          <a:ln/>
        </p:spPr>
        <p:txBody>
          <a:bodyPr wrap="square" lIns="0" tIns="0" rIns="0" bIns="0" rtlCol="0" anchor="ctr"/>
          <a:lstStyle/>
          <a:p>
            <a:pPr indent="0" marL="0">
              <a:buNone/>
            </a:pPr>
            <a:r>
              <a:rPr lang="en-US" sz="1150" dirty="0">
                <a:solidFill>
                  <a:srgbClr val="8B98A9"/>
                </a:solidFill>
                <a:latin typeface="Calibri" pitchFamily="34" charset="0"/>
                <a:ea typeface="Calibri" pitchFamily="34" charset="-122"/>
                <a:cs typeface="Calibri" pitchFamily="34" charset="-120"/>
              </a:rPr>
              <a:t>on the 11,130 matches played since</a:t>
            </a:r>
            <a:endParaRPr lang="en-US" sz="1150" dirty="0"/>
          </a:p>
        </p:txBody>
      </p:sp>
      <p:sp>
        <p:nvSpPr>
          <p:cNvPr id="17" name="Text 15"/>
          <p:cNvSpPr txBox="1"/>
          <p:nvPr/>
        </p:nvSpPr>
        <p:spPr>
          <a:xfrm>
            <a:off x="6556248" y="3182112"/>
            <a:ext cx="685800" cy="237744"/>
          </a:xfrm>
          <a:prstGeom prst="rect">
            <a:avLst/>
          </a:prstGeom>
          <a:noFill/>
          <a:ln/>
        </p:spPr>
        <p:txBody>
          <a:bodyPr wrap="square" lIns="0" tIns="0" rIns="0" bIns="0" rtlCol="0" anchor="ctr"/>
          <a:lstStyle/>
          <a:p>
            <a:pPr indent="0" marL="0">
              <a:buNone/>
            </a:pPr>
            <a:r>
              <a:rPr lang="en-US" sz="1150" b="1" dirty="0">
                <a:solidFill>
                  <a:srgbClr val="5AA9F5"/>
                </a:solidFill>
                <a:latin typeface="Arial" pitchFamily="34" charset="0"/>
                <a:ea typeface="Arial" pitchFamily="34" charset="-122"/>
                <a:cs typeface="Arial" pitchFamily="34" charset="-120"/>
              </a:rPr>
              <a:t>Never</a:t>
            </a:r>
            <a:endParaRPr lang="en-US" sz="1150" dirty="0"/>
          </a:p>
        </p:txBody>
      </p:sp>
      <p:sp>
        <p:nvSpPr>
          <p:cNvPr id="18" name="Text 16"/>
          <p:cNvSpPr txBox="1"/>
          <p:nvPr/>
        </p:nvSpPr>
        <p:spPr>
          <a:xfrm>
            <a:off x="7269480" y="3182112"/>
            <a:ext cx="4023360" cy="237744"/>
          </a:xfrm>
          <a:prstGeom prst="rect">
            <a:avLst/>
          </a:prstGeom>
          <a:noFill/>
          <a:ln/>
        </p:spPr>
        <p:txBody>
          <a:bodyPr wrap="square" lIns="0" tIns="0" rIns="0" bIns="0" rtlCol="0" anchor="ctr"/>
          <a:lstStyle/>
          <a:p>
            <a:pPr indent="0" marL="0">
              <a:buNone/>
            </a:pPr>
            <a:r>
              <a:rPr lang="en-US" sz="1150" dirty="0">
                <a:solidFill>
                  <a:srgbClr val="8B98A9"/>
                </a:solidFill>
                <a:latin typeface="Calibri" pitchFamily="34" charset="0"/>
                <a:ea typeface="Calibri" pitchFamily="34" charset="-122"/>
                <a:cs typeface="Calibri" pitchFamily="34" charset="-120"/>
              </a:rPr>
              <a:t>use a rating from after the match being predicted</a:t>
            </a:r>
            <a:endParaRPr lang="en-US" sz="1150" dirty="0"/>
          </a:p>
        </p:txBody>
      </p:sp>
      <p:sp>
        <p:nvSpPr>
          <p:cNvPr id="19" name="Text 17"/>
          <p:cNvSpPr txBox="1"/>
          <p:nvPr/>
        </p:nvSpPr>
        <p:spPr>
          <a:xfrm>
            <a:off x="6556248" y="3639312"/>
            <a:ext cx="4754880" cy="457200"/>
          </a:xfrm>
          <a:prstGeom prst="rect">
            <a:avLst/>
          </a:prstGeom>
          <a:noFill/>
          <a:ln/>
        </p:spPr>
        <p:txBody>
          <a:bodyPr wrap="square" lIns="0" tIns="0" rIns="0" bIns="0" rtlCol="0" anchor="t"/>
          <a:lstStyle/>
          <a:p>
            <a:pPr indent="0" marL="0">
              <a:lnSpc>
                <a:spcPct val="112000"/>
              </a:lnSpc>
              <a:buNone/>
            </a:pPr>
            <a:r>
              <a:rPr lang="en-US" sz="1050" i="1" dirty="0">
                <a:solidFill>
                  <a:srgbClr val="6B7A8C"/>
                </a:solidFill>
                <a:latin typeface="Calibri" pitchFamily="34" charset="0"/>
                <a:ea typeface="Calibri" pitchFamily="34" charset="-122"/>
                <a:cs typeface="Calibri" pitchFamily="34" charset="-120"/>
              </a:rPr>
              <a:t>Every prediction uses only ratings that existed before kick-off, so this is a walk-forward evaluation — not hindsight.</a:t>
            </a:r>
            <a:endParaRPr lang="en-US" sz="1050" dirty="0"/>
          </a:p>
        </p:txBody>
      </p:sp>
      <p:sp>
        <p:nvSpPr>
          <p:cNvPr id="20" name="Shape 18"/>
          <p:cNvSpPr/>
          <p:nvPr/>
        </p:nvSpPr>
        <p:spPr>
          <a:xfrm>
            <a:off x="640080" y="4434840"/>
            <a:ext cx="5349240" cy="1874520"/>
          </a:xfrm>
          <a:prstGeom prst="roundRect">
            <a:avLst>
              <a:gd name="adj" fmla="val 2927"/>
            </a:avLst>
          </a:prstGeom>
          <a:solidFill>
            <a:srgbClr val="161D27"/>
          </a:solidFill>
          <a:ln w="9525">
            <a:solidFill>
              <a:srgbClr val="2A3542"/>
            </a:solidFill>
            <a:prstDash val="solid"/>
          </a:ln>
        </p:spPr>
      </p:sp>
      <p:sp>
        <p:nvSpPr>
          <p:cNvPr id="21" name="Text 19"/>
          <p:cNvSpPr txBox="1"/>
          <p:nvPr/>
        </p:nvSpPr>
        <p:spPr>
          <a:xfrm>
            <a:off x="914400" y="4553712"/>
            <a:ext cx="4846320" cy="237744"/>
          </a:xfrm>
          <a:prstGeom prst="rect">
            <a:avLst/>
          </a:prstGeom>
          <a:noFill/>
          <a:ln/>
        </p:spPr>
        <p:txBody>
          <a:bodyPr wrap="square" lIns="0" tIns="0" rIns="0" bIns="0" rtlCol="0" anchor="ctr"/>
          <a:lstStyle/>
          <a:p>
            <a:pPr indent="0" marL="0">
              <a:buNone/>
            </a:pPr>
            <a:r>
              <a:rPr lang="en-US" sz="1050" b="1" dirty="0">
                <a:solidFill>
                  <a:srgbClr val="8B98A9"/>
                </a:solidFill>
                <a:latin typeface="Calibri" pitchFamily="34" charset="0"/>
                <a:ea typeface="Calibri" pitchFamily="34" charset="-122"/>
                <a:cs typeface="Calibri" pitchFamily="34" charset="-120"/>
              </a:rPr>
              <a:t>Accuracy on 11,130 unseen matches</a:t>
            </a:r>
            <a:endParaRPr lang="en-US" sz="1050" dirty="0"/>
          </a:p>
        </p:txBody>
      </p:sp>
      <p:sp>
        <p:nvSpPr>
          <p:cNvPr id="22" name="Text 20"/>
          <p:cNvSpPr txBox="1"/>
          <p:nvPr/>
        </p:nvSpPr>
        <p:spPr>
          <a:xfrm>
            <a:off x="914400" y="4937760"/>
            <a:ext cx="3566160" cy="237744"/>
          </a:xfrm>
          <a:prstGeom prst="rect">
            <a:avLst/>
          </a:prstGeom>
          <a:noFill/>
          <a:ln/>
        </p:spPr>
        <p:txBody>
          <a:bodyPr wrap="square" lIns="0" tIns="0" rIns="0" bIns="0" rtlCol="0" anchor="b"/>
          <a:lstStyle/>
          <a:p>
            <a:pPr indent="0" marL="0">
              <a:buNone/>
            </a:pPr>
            <a:r>
              <a:rPr lang="en-US" sz="1150" dirty="0">
                <a:solidFill>
                  <a:srgbClr val="E6EDF3"/>
                </a:solidFill>
                <a:latin typeface="Calibri" pitchFamily="34" charset="0"/>
                <a:ea typeface="Calibri" pitchFamily="34" charset="-122"/>
                <a:cs typeface="Calibri" pitchFamily="34" charset="-120"/>
              </a:rPr>
              <a:t>This model</a:t>
            </a:r>
            <a:endParaRPr lang="en-US" sz="1150" dirty="0"/>
          </a:p>
        </p:txBody>
      </p:sp>
      <p:sp>
        <p:nvSpPr>
          <p:cNvPr id="23" name="Shape 21"/>
          <p:cNvSpPr/>
          <p:nvPr/>
        </p:nvSpPr>
        <p:spPr>
          <a:xfrm>
            <a:off x="914400" y="5212080"/>
            <a:ext cx="2857683" cy="274320"/>
          </a:xfrm>
          <a:prstGeom prst="rect">
            <a:avLst/>
          </a:prstGeom>
          <a:solidFill>
            <a:srgbClr val="2DD4A7"/>
          </a:solidFill>
          <a:ln w="12700">
            <a:solidFill>
              <a:srgbClr val="2DD4A7"/>
            </a:solidFill>
            <a:prstDash val="solid"/>
          </a:ln>
        </p:spPr>
      </p:sp>
      <p:sp>
        <p:nvSpPr>
          <p:cNvPr id="24" name="Text 22"/>
          <p:cNvSpPr txBox="1"/>
          <p:nvPr/>
        </p:nvSpPr>
        <p:spPr>
          <a:xfrm>
            <a:off x="3881811" y="5212080"/>
            <a:ext cx="914400" cy="274320"/>
          </a:xfrm>
          <a:prstGeom prst="rect">
            <a:avLst/>
          </a:prstGeom>
          <a:noFill/>
          <a:ln/>
        </p:spPr>
        <p:txBody>
          <a:bodyPr wrap="square" lIns="0" tIns="0" rIns="0" bIns="0" rtlCol="0" anchor="ctr"/>
          <a:lstStyle/>
          <a:p>
            <a:pPr indent="0" marL="0">
              <a:buNone/>
            </a:pPr>
            <a:r>
              <a:rPr lang="en-US" sz="1400" b="1" dirty="0">
                <a:solidFill>
                  <a:srgbClr val="2DD4A7"/>
                </a:solidFill>
                <a:latin typeface="Arial" pitchFamily="34" charset="0"/>
                <a:ea typeface="Arial" pitchFamily="34" charset="-122"/>
                <a:cs typeface="Arial" pitchFamily="34" charset="-120"/>
              </a:rPr>
              <a:t>60.1%</a:t>
            </a:r>
            <a:endParaRPr lang="en-US" sz="1400" dirty="0"/>
          </a:p>
        </p:txBody>
      </p:sp>
      <p:sp>
        <p:nvSpPr>
          <p:cNvPr id="25" name="Text 23"/>
          <p:cNvSpPr txBox="1"/>
          <p:nvPr/>
        </p:nvSpPr>
        <p:spPr>
          <a:xfrm>
            <a:off x="914400" y="5486400"/>
            <a:ext cx="3566160" cy="237744"/>
          </a:xfrm>
          <a:prstGeom prst="rect">
            <a:avLst/>
          </a:prstGeom>
          <a:noFill/>
          <a:ln/>
        </p:spPr>
        <p:txBody>
          <a:bodyPr wrap="square" lIns="0" tIns="0" rIns="0" bIns="0" rtlCol="0" anchor="b"/>
          <a:lstStyle/>
          <a:p>
            <a:pPr indent="0" marL="0">
              <a:buNone/>
            </a:pPr>
            <a:r>
              <a:rPr lang="en-US" sz="1150" dirty="0">
                <a:solidFill>
                  <a:srgbClr val="E6EDF3"/>
                </a:solidFill>
                <a:latin typeface="Calibri" pitchFamily="34" charset="0"/>
                <a:ea typeface="Calibri" pitchFamily="34" charset="-122"/>
                <a:cs typeface="Calibri" pitchFamily="34" charset="-120"/>
              </a:rPr>
              <a:t>Home-win baseline</a:t>
            </a:r>
            <a:endParaRPr lang="en-US" sz="1150" dirty="0"/>
          </a:p>
        </p:txBody>
      </p:sp>
      <p:sp>
        <p:nvSpPr>
          <p:cNvPr id="26" name="Shape 24"/>
          <p:cNvSpPr/>
          <p:nvPr/>
        </p:nvSpPr>
        <p:spPr>
          <a:xfrm>
            <a:off x="914400" y="5760720"/>
            <a:ext cx="2268078" cy="274320"/>
          </a:xfrm>
          <a:prstGeom prst="rect">
            <a:avLst/>
          </a:prstGeom>
          <a:solidFill>
            <a:srgbClr val="6B7A8C"/>
          </a:solidFill>
          <a:ln w="12700">
            <a:solidFill>
              <a:srgbClr val="6B7A8C"/>
            </a:solidFill>
            <a:prstDash val="solid"/>
          </a:ln>
        </p:spPr>
      </p:sp>
      <p:sp>
        <p:nvSpPr>
          <p:cNvPr id="27" name="Text 25"/>
          <p:cNvSpPr txBox="1"/>
          <p:nvPr/>
        </p:nvSpPr>
        <p:spPr>
          <a:xfrm>
            <a:off x="3292206" y="5760720"/>
            <a:ext cx="914400" cy="274320"/>
          </a:xfrm>
          <a:prstGeom prst="rect">
            <a:avLst/>
          </a:prstGeom>
          <a:noFill/>
          <a:ln/>
        </p:spPr>
        <p:txBody>
          <a:bodyPr wrap="square" lIns="0" tIns="0" rIns="0" bIns="0" rtlCol="0" anchor="ctr"/>
          <a:lstStyle/>
          <a:p>
            <a:pPr indent="0" marL="0">
              <a:buNone/>
            </a:pPr>
            <a:r>
              <a:rPr lang="en-US" sz="1400" b="1" dirty="0">
                <a:solidFill>
                  <a:srgbClr val="6B7A8C"/>
                </a:solidFill>
                <a:latin typeface="Arial" pitchFamily="34" charset="0"/>
                <a:ea typeface="Arial" pitchFamily="34" charset="-122"/>
                <a:cs typeface="Arial" pitchFamily="34" charset="-120"/>
              </a:rPr>
              <a:t>47.7%</a:t>
            </a:r>
            <a:endParaRPr lang="en-US" sz="1400" dirty="0"/>
          </a:p>
        </p:txBody>
      </p:sp>
      <p:sp>
        <p:nvSpPr>
          <p:cNvPr id="28" name="Shape 26"/>
          <p:cNvSpPr/>
          <p:nvPr/>
        </p:nvSpPr>
        <p:spPr>
          <a:xfrm>
            <a:off x="6263640" y="4434840"/>
            <a:ext cx="5285232" cy="1874520"/>
          </a:xfrm>
          <a:prstGeom prst="roundRect">
            <a:avLst>
              <a:gd name="adj" fmla="val 2927"/>
            </a:avLst>
          </a:prstGeom>
          <a:solidFill>
            <a:srgbClr val="161D27"/>
          </a:solidFill>
          <a:ln w="9525">
            <a:solidFill>
              <a:srgbClr val="2A3542"/>
            </a:solidFill>
            <a:prstDash val="solid"/>
          </a:ln>
        </p:spPr>
      </p:sp>
      <p:sp>
        <p:nvSpPr>
          <p:cNvPr id="29" name="Text 27"/>
          <p:cNvSpPr txBox="1"/>
          <p:nvPr/>
        </p:nvSpPr>
        <p:spPr>
          <a:xfrm>
            <a:off x="6556248" y="4572000"/>
            <a:ext cx="2103120" cy="475488"/>
          </a:xfrm>
          <a:prstGeom prst="rect">
            <a:avLst/>
          </a:prstGeom>
          <a:noFill/>
          <a:ln/>
        </p:spPr>
        <p:txBody>
          <a:bodyPr wrap="square" lIns="0" tIns="0" rIns="0" bIns="0" rtlCol="0" anchor="ctr"/>
          <a:lstStyle/>
          <a:p>
            <a:pPr indent="0" marL="0">
              <a:buNone/>
            </a:pPr>
            <a:r>
              <a:rPr lang="en-US" sz="2800" b="1" dirty="0">
                <a:solidFill>
                  <a:srgbClr val="F5C451"/>
                </a:solidFill>
                <a:latin typeface="Arial" pitchFamily="34" charset="0"/>
                <a:ea typeface="Arial" pitchFamily="34" charset="-122"/>
                <a:cs typeface="Arial" pitchFamily="34" charset="-120"/>
              </a:rPr>
              <a:t>0.516</a:t>
            </a:r>
            <a:endParaRPr lang="en-US" sz="2800" dirty="0"/>
          </a:p>
        </p:txBody>
      </p:sp>
      <p:sp>
        <p:nvSpPr>
          <p:cNvPr id="30" name="Text 28"/>
          <p:cNvSpPr txBox="1"/>
          <p:nvPr/>
        </p:nvSpPr>
        <p:spPr>
          <a:xfrm>
            <a:off x="6556248" y="5047488"/>
            <a:ext cx="2103120" cy="237744"/>
          </a:xfrm>
          <a:prstGeom prst="rect">
            <a:avLst/>
          </a:prstGeom>
          <a:noFill/>
          <a:ln/>
        </p:spPr>
        <p:txBody>
          <a:bodyPr wrap="square" lIns="0" tIns="0" rIns="0" bIns="0" rtlCol="0" anchor="ctr"/>
          <a:lstStyle/>
          <a:p>
            <a:pPr indent="0" marL="0">
              <a:buNone/>
            </a:pPr>
            <a:r>
              <a:rPr lang="en-US" sz="1050" b="1" spc="110" kern="0" dirty="0">
                <a:solidFill>
                  <a:srgbClr val="8B98A9"/>
                </a:solidFill>
                <a:latin typeface="Calibri" pitchFamily="34" charset="0"/>
                <a:ea typeface="Calibri" pitchFamily="34" charset="-122"/>
                <a:cs typeface="Calibri" pitchFamily="34" charset="-120"/>
              </a:rPr>
              <a:t>BRIER SCORE</a:t>
            </a:r>
            <a:endParaRPr lang="en-US" sz="1050" dirty="0"/>
          </a:p>
        </p:txBody>
      </p:sp>
      <p:sp>
        <p:nvSpPr>
          <p:cNvPr id="31" name="Text 29"/>
          <p:cNvSpPr txBox="1"/>
          <p:nvPr/>
        </p:nvSpPr>
        <p:spPr>
          <a:xfrm>
            <a:off x="6556248" y="5303520"/>
            <a:ext cx="2103120" cy="365760"/>
          </a:xfrm>
          <a:prstGeom prst="rect">
            <a:avLst/>
          </a:prstGeom>
          <a:noFill/>
          <a:ln/>
        </p:spPr>
        <p:txBody>
          <a:bodyPr wrap="square" lIns="0" tIns="0" rIns="0" bIns="0" rtlCol="0" anchor="t"/>
          <a:lstStyle/>
          <a:p>
            <a:pPr indent="0" marL="0">
              <a:lnSpc>
                <a:spcPct val="112000"/>
              </a:lnSpc>
              <a:buNone/>
            </a:pPr>
            <a:r>
              <a:rPr lang="en-US" sz="1000" dirty="0">
                <a:solidFill>
                  <a:srgbClr val="8B98A9"/>
                </a:solidFill>
                <a:latin typeface="Calibri" pitchFamily="34" charset="0"/>
                <a:ea typeface="Calibri" pitchFamily="34" charset="-122"/>
                <a:cs typeface="Calibri" pitchFamily="34" charset="-120"/>
              </a:rPr>
              <a:t>Guessing scores 0.667. Lower is better.</a:t>
            </a:r>
            <a:endParaRPr lang="en-US" sz="1000" dirty="0"/>
          </a:p>
        </p:txBody>
      </p:sp>
      <p:sp>
        <p:nvSpPr>
          <p:cNvPr id="32" name="Text 30"/>
          <p:cNvSpPr txBox="1"/>
          <p:nvPr/>
        </p:nvSpPr>
        <p:spPr>
          <a:xfrm>
            <a:off x="9052560" y="4572000"/>
            <a:ext cx="2194560" cy="475488"/>
          </a:xfrm>
          <a:prstGeom prst="rect">
            <a:avLst/>
          </a:prstGeom>
          <a:noFill/>
          <a:ln/>
        </p:spPr>
        <p:txBody>
          <a:bodyPr wrap="square" lIns="0" tIns="0" rIns="0" bIns="0" rtlCol="0" anchor="ctr"/>
          <a:lstStyle/>
          <a:p>
            <a:pPr indent="0" marL="0">
              <a:buNone/>
            </a:pPr>
            <a:r>
              <a:rPr lang="en-US" sz="2800" b="1" dirty="0">
                <a:solidFill>
                  <a:srgbClr val="5AA9F5"/>
                </a:solidFill>
                <a:latin typeface="Arial" pitchFamily="34" charset="0"/>
                <a:ea typeface="Arial" pitchFamily="34" charset="-122"/>
                <a:cs typeface="Arial" pitchFamily="34" charset="-120"/>
              </a:rPr>
              <a:t>11,130</a:t>
            </a:r>
            <a:endParaRPr lang="en-US" sz="2800" dirty="0"/>
          </a:p>
        </p:txBody>
      </p:sp>
      <p:sp>
        <p:nvSpPr>
          <p:cNvPr id="33" name="Text 31"/>
          <p:cNvSpPr txBox="1"/>
          <p:nvPr/>
        </p:nvSpPr>
        <p:spPr>
          <a:xfrm>
            <a:off x="9052560" y="5047488"/>
            <a:ext cx="2194560" cy="237744"/>
          </a:xfrm>
          <a:prstGeom prst="rect">
            <a:avLst/>
          </a:prstGeom>
          <a:noFill/>
          <a:ln/>
        </p:spPr>
        <p:txBody>
          <a:bodyPr wrap="square" lIns="0" tIns="0" rIns="0" bIns="0" rtlCol="0" anchor="ctr"/>
          <a:lstStyle/>
          <a:p>
            <a:pPr indent="0" marL="0">
              <a:buNone/>
            </a:pPr>
            <a:r>
              <a:rPr lang="en-US" sz="1050" b="1" spc="110" kern="0" dirty="0">
                <a:solidFill>
                  <a:srgbClr val="8B98A9"/>
                </a:solidFill>
                <a:latin typeface="Calibri" pitchFamily="34" charset="0"/>
                <a:ea typeface="Calibri" pitchFamily="34" charset="-122"/>
                <a:cs typeface="Calibri" pitchFamily="34" charset="-120"/>
              </a:rPr>
              <a:t>TEST MATCHES</a:t>
            </a:r>
            <a:endParaRPr lang="en-US" sz="1050" dirty="0"/>
          </a:p>
        </p:txBody>
      </p:sp>
      <p:sp>
        <p:nvSpPr>
          <p:cNvPr id="34" name="Text 32"/>
          <p:cNvSpPr txBox="1"/>
          <p:nvPr/>
        </p:nvSpPr>
        <p:spPr>
          <a:xfrm>
            <a:off x="9052560" y="5303520"/>
            <a:ext cx="2194560" cy="365760"/>
          </a:xfrm>
          <a:prstGeom prst="rect">
            <a:avLst/>
          </a:prstGeom>
          <a:noFill/>
          <a:ln/>
        </p:spPr>
        <p:txBody>
          <a:bodyPr wrap="square" lIns="0" tIns="0" rIns="0" bIns="0" rtlCol="0" anchor="t"/>
          <a:lstStyle/>
          <a:p>
            <a:pPr indent="0" marL="0">
              <a:lnSpc>
                <a:spcPct val="112000"/>
              </a:lnSpc>
              <a:buNone/>
            </a:pPr>
            <a:r>
              <a:rPr lang="en-US" sz="1000" dirty="0">
                <a:solidFill>
                  <a:srgbClr val="8B98A9"/>
                </a:solidFill>
                <a:latin typeface="Calibri" pitchFamily="34" charset="0"/>
                <a:ea typeface="Calibri" pitchFamily="34" charset="-122"/>
                <a:cs typeface="Calibri" pitchFamily="34" charset="-120"/>
              </a:rPr>
              <a:t>Large enough not to be noise.</a:t>
            </a:r>
            <a:endParaRPr lang="en-US" sz="1000" dirty="0"/>
          </a:p>
        </p:txBody>
      </p:sp>
      <p:sp>
        <p:nvSpPr>
          <p:cNvPr id="35" name="Text 33"/>
          <p:cNvSpPr txBox="1"/>
          <p:nvPr/>
        </p:nvSpPr>
        <p:spPr>
          <a:xfrm>
            <a:off x="6556248" y="5705856"/>
            <a:ext cx="4709160" cy="548640"/>
          </a:xfrm>
          <a:prstGeom prst="rect">
            <a:avLst/>
          </a:prstGeom>
          <a:noFill/>
          <a:ln/>
        </p:spPr>
        <p:txBody>
          <a:bodyPr wrap="square" lIns="0" tIns="0" rIns="0" bIns="0" rtlCol="0" anchor="t"/>
          <a:lstStyle/>
          <a:p>
            <a:pPr indent="0" marL="0">
              <a:lnSpc>
                <a:spcPct val="114000"/>
              </a:lnSpc>
              <a:buNone/>
            </a:pPr>
            <a:r>
              <a:rPr lang="en-US" sz="1050" i="1" dirty="0">
                <a:solidFill>
                  <a:srgbClr val="2DD4A7"/>
                </a:solidFill>
                <a:latin typeface="Calibri" pitchFamily="34" charset="0"/>
                <a:ea typeface="Calibri" pitchFamily="34" charset="-122"/>
                <a:cs typeface="Calibri" pitchFamily="34" charset="-120"/>
              </a:rPr>
              <a:t>Is 60% good? For three-way football outcomes, yes — professional models sit in the mid-to-high 50s. A model claiming 90% would be a model with a bug.</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117"/>
        </a:solidFill>
      </p:bgPr>
    </p:bg>
    <p:spTree>
      <p:nvGrpSpPr>
        <p:cNvPr id="1" name=""/>
        <p:cNvGrpSpPr/>
        <p:nvPr/>
      </p:nvGrpSpPr>
      <p:grpSpPr>
        <a:xfrm>
          <a:off x="0" y="0"/>
          <a:ext cx="0" cy="0"/>
          <a:chOff x="0" y="0"/>
          <a:chExt cx="0" cy="0"/>
        </a:xfrm>
      </p:grpSpPr>
      <p:sp>
        <p:nvSpPr>
          <p:cNvPr id="2" name="Text 0"/>
          <p:cNvSpPr txBox="1"/>
          <p:nvPr/>
        </p:nvSpPr>
        <p:spPr>
          <a:xfrm>
            <a:off x="640080" y="384048"/>
            <a:ext cx="10058400" cy="256032"/>
          </a:xfrm>
          <a:prstGeom prst="rect">
            <a:avLst/>
          </a:prstGeom>
          <a:noFill/>
          <a:ln/>
        </p:spPr>
        <p:txBody>
          <a:bodyPr wrap="square" lIns="0" tIns="0" rIns="0" bIns="0" rtlCol="0" anchor="ctr"/>
          <a:lstStyle/>
          <a:p>
            <a:pPr indent="0" marL="0">
              <a:buNone/>
            </a:pPr>
            <a:r>
              <a:rPr lang="en-US" sz="1100" b="1" spc="200" kern="0" dirty="0">
                <a:solidFill>
                  <a:srgbClr val="2DD4A7"/>
                </a:solidFill>
                <a:latin typeface="Calibri" pitchFamily="34" charset="0"/>
                <a:ea typeface="Calibri" pitchFamily="34" charset="-122"/>
                <a:cs typeface="Calibri" pitchFamily="34" charset="-120"/>
              </a:rPr>
              <a:t>THE PRODUCT</a:t>
            </a:r>
            <a:endParaRPr lang="en-US" sz="1100" dirty="0"/>
          </a:p>
        </p:txBody>
      </p:sp>
      <p:sp>
        <p:nvSpPr>
          <p:cNvPr id="3" name="Text 1"/>
          <p:cNvSpPr txBox="1"/>
          <p:nvPr/>
        </p:nvSpPr>
        <p:spPr>
          <a:xfrm>
            <a:off x="640080" y="658368"/>
            <a:ext cx="10881360" cy="566928"/>
          </a:xfrm>
          <a:prstGeom prst="rect">
            <a:avLst/>
          </a:prstGeom>
          <a:noFill/>
          <a:ln/>
        </p:spPr>
        <p:txBody>
          <a:bodyPr wrap="square" lIns="0" tIns="0" rIns="0" bIns="0" rtlCol="0" anchor="ctr"/>
          <a:lstStyle/>
          <a:p>
            <a:pPr indent="0" marL="0">
              <a:buNone/>
            </a:pPr>
            <a:r>
              <a:rPr lang="en-US" sz="3200" b="1" dirty="0">
                <a:solidFill>
                  <a:srgbClr val="E6EDF3"/>
                </a:solidFill>
                <a:latin typeface="Arial" pitchFamily="34" charset="0"/>
                <a:ea typeface="Arial" pitchFamily="34" charset="-122"/>
                <a:cs typeface="Arial" pitchFamily="34" charset="-120"/>
              </a:rPr>
              <a:t>Eight pages and a JSON API over one service layer</a:t>
            </a:r>
            <a:endParaRPr lang="en-US" sz="3200" dirty="0"/>
          </a:p>
        </p:txBody>
      </p:sp>
      <p:sp>
        <p:nvSpPr>
          <p:cNvPr id="4" name="Text 2"/>
          <p:cNvSpPr txBox="1"/>
          <p:nvPr/>
        </p:nvSpPr>
        <p:spPr>
          <a:xfrm>
            <a:off x="640080" y="1243584"/>
            <a:ext cx="10881360" cy="310896"/>
          </a:xfrm>
          <a:prstGeom prst="rect">
            <a:avLst/>
          </a:prstGeom>
          <a:noFill/>
          <a:ln/>
        </p:spPr>
        <p:txBody>
          <a:bodyPr wrap="square" lIns="0" tIns="0" rIns="0" bIns="0" rtlCol="0" anchor="ctr"/>
          <a:lstStyle/>
          <a:p>
            <a:pPr indent="0" marL="0">
              <a:buNone/>
            </a:pPr>
            <a:r>
              <a:rPr lang="en-US" sz="1350" dirty="0">
                <a:solidFill>
                  <a:srgbClr val="8B98A9"/>
                </a:solidFill>
                <a:latin typeface="Calibri" pitchFamily="34" charset="0"/>
                <a:ea typeface="Calibri" pitchFamily="34" charset="-122"/>
                <a:cs typeface="Calibri" pitchFamily="34" charset="-120"/>
              </a:rPr>
              <a:t>Server-rendered Jinja2 with Chart.js. No build step, no bundler, no frontend framework.</a:t>
            </a:r>
            <a:endParaRPr lang="en-US" sz="1350" dirty="0"/>
          </a:p>
        </p:txBody>
      </p:sp>
      <p:pic>
        <p:nvPicPr>
          <p:cNvPr id="5" name="Image 0" descr="/private/tmp/claude-501/-Users-majeedkhan2005-SWE-Endsem-Project/f280e148-7bbf-440e-bf6e-8ea00252318d/scratchpad/shots/predict.png">    </p:cNvPr>
          <p:cNvPicPr>
            <a:picLocks noChangeAspect="1"/>
          </p:cNvPicPr>
          <p:nvPr/>
        </p:nvPicPr>
        <p:blipFill>
          <a:blip r:embed="rId1"/>
          <a:stretch>
            <a:fillRect/>
          </a:stretch>
        </p:blipFill>
        <p:spPr>
          <a:xfrm>
            <a:off x="640080" y="1828800"/>
            <a:ext cx="5029200" cy="3666744"/>
          </a:xfrm>
          <a:prstGeom prst="rect">
            <a:avLst/>
          </a:prstGeom>
          <a:effectLst>
            <a:outerShdw sx="100000" sy="100000" kx="0" ky="0" algn="bl" rotWithShape="0" blurRad="228600" dist="63500" dir="5400000">
              <a:srgbClr val="000000">
                <a:alpha val="50000"/>
              </a:srgbClr>
            </a:outerShdw>
          </a:effectLst>
        </p:spPr>
      </p:pic>
      <p:sp>
        <p:nvSpPr>
          <p:cNvPr id="6" name="Text 3"/>
          <p:cNvSpPr txBox="1"/>
          <p:nvPr/>
        </p:nvSpPr>
        <p:spPr>
          <a:xfrm>
            <a:off x="640080" y="5559552"/>
            <a:ext cx="5029200" cy="274320"/>
          </a:xfrm>
          <a:prstGeom prst="rect">
            <a:avLst/>
          </a:prstGeom>
          <a:noFill/>
          <a:ln/>
        </p:spPr>
        <p:txBody>
          <a:bodyPr wrap="square" lIns="0" tIns="0" rIns="0" bIns="0" rtlCol="0" anchor="ctr"/>
          <a:lstStyle/>
          <a:p>
            <a:pPr indent="0" marL="0">
              <a:buNone/>
            </a:pPr>
            <a:r>
              <a:rPr lang="en-US" sz="1050" i="1" dirty="0">
                <a:solidFill>
                  <a:srgbClr val="6B7A8C"/>
                </a:solidFill>
                <a:latin typeface="Calibri" pitchFamily="34" charset="0"/>
                <a:ea typeface="Calibri" pitchFamily="34" charset="-122"/>
                <a:cs typeface="Calibri" pitchFamily="34" charset="-120"/>
              </a:rPr>
              <a:t>The predictor shows its own working — and its own accuracy</a:t>
            </a:r>
            <a:endParaRPr lang="en-US" sz="1050" dirty="0"/>
          </a:p>
        </p:txBody>
      </p:sp>
      <p:pic>
        <p:nvPicPr>
          <p:cNvPr id="7" name="Image 1" descr="/private/tmp/claude-501/-Users-majeedkhan2005-SWE-Endsem-Project/f280e148-7bbf-440e-bf6e-8ea00252318d/scratchpad/shots/team.png">    </p:cNvPr>
          <p:cNvPicPr>
            <a:picLocks noChangeAspect="1"/>
          </p:cNvPicPr>
          <p:nvPr/>
        </p:nvPicPr>
        <p:blipFill>
          <a:blip r:embed="rId2"/>
          <a:stretch>
            <a:fillRect/>
          </a:stretch>
        </p:blipFill>
        <p:spPr>
          <a:xfrm>
            <a:off x="5943600" y="1828800"/>
            <a:ext cx="2788920" cy="2029968"/>
          </a:xfrm>
          <a:prstGeom prst="rect">
            <a:avLst/>
          </a:prstGeom>
          <a:effectLst>
            <a:outerShdw sx="100000" sy="100000" kx="0" ky="0" algn="bl" rotWithShape="0" blurRad="177800" dist="50800" dir="5400000">
              <a:srgbClr val="000000">
                <a:alpha val="50000"/>
              </a:srgbClr>
            </a:outerShdw>
          </a:effectLst>
        </p:spPr>
      </p:pic>
      <p:pic>
        <p:nvPicPr>
          <p:cNvPr id="8" name="Image 2" descr="/private/tmp/claude-501/-Users-majeedkhan2005-SWE-Endsem-Project/f280e148-7bbf-440e-bf6e-8ea00252318d/scratchpad/shots/rankings.png">    </p:cNvPr>
          <p:cNvPicPr>
            <a:picLocks noChangeAspect="1"/>
          </p:cNvPicPr>
          <p:nvPr/>
        </p:nvPicPr>
        <p:blipFill>
          <a:blip r:embed="rId3"/>
          <a:stretch>
            <a:fillRect/>
          </a:stretch>
        </p:blipFill>
        <p:spPr>
          <a:xfrm>
            <a:off x="8778240" y="1828800"/>
            <a:ext cx="2788920" cy="2029968"/>
          </a:xfrm>
          <a:prstGeom prst="rect">
            <a:avLst/>
          </a:prstGeom>
          <a:effectLst>
            <a:outerShdw sx="100000" sy="100000" kx="0" ky="0" algn="bl" rotWithShape="0" blurRad="177800" dist="50800" dir="5400000">
              <a:srgbClr val="000000">
                <a:alpha val="50000"/>
              </a:srgbClr>
            </a:outerShdw>
          </a:effectLst>
        </p:spPr>
      </p:pic>
      <p:sp>
        <p:nvSpPr>
          <p:cNvPr id="9" name="Text 4"/>
          <p:cNvSpPr txBox="1"/>
          <p:nvPr/>
        </p:nvSpPr>
        <p:spPr>
          <a:xfrm>
            <a:off x="5943600" y="3913632"/>
            <a:ext cx="2788920" cy="256032"/>
          </a:xfrm>
          <a:prstGeom prst="rect">
            <a:avLst/>
          </a:prstGeom>
          <a:noFill/>
          <a:ln/>
        </p:spPr>
        <p:txBody>
          <a:bodyPr wrap="square" lIns="0" tIns="0" rIns="0" bIns="0" rtlCol="0" anchor="ctr"/>
          <a:lstStyle/>
          <a:p>
            <a:pPr indent="0" marL="0">
              <a:buNone/>
            </a:pPr>
            <a:r>
              <a:rPr lang="en-US" sz="950" i="1" dirty="0">
                <a:solidFill>
                  <a:srgbClr val="6B7A8C"/>
                </a:solidFill>
                <a:latin typeface="Calibri" pitchFamily="34" charset="0"/>
                <a:ea typeface="Calibri" pitchFamily="34" charset="-122"/>
                <a:cs typeface="Calibri" pitchFamily="34" charset="-120"/>
              </a:rPr>
              <a:t>Team explorer — 1,077 matches replayed</a:t>
            </a:r>
            <a:endParaRPr lang="en-US" sz="950" dirty="0"/>
          </a:p>
        </p:txBody>
      </p:sp>
      <p:sp>
        <p:nvSpPr>
          <p:cNvPr id="10" name="Text 5"/>
          <p:cNvSpPr txBox="1"/>
          <p:nvPr/>
        </p:nvSpPr>
        <p:spPr>
          <a:xfrm>
            <a:off x="8778240" y="3913632"/>
            <a:ext cx="2788920" cy="256032"/>
          </a:xfrm>
          <a:prstGeom prst="rect">
            <a:avLst/>
          </a:prstGeom>
          <a:noFill/>
          <a:ln/>
        </p:spPr>
        <p:txBody>
          <a:bodyPr wrap="square" lIns="0" tIns="0" rIns="0" bIns="0" rtlCol="0" anchor="ctr"/>
          <a:lstStyle/>
          <a:p>
            <a:pPr indent="0" marL="0">
              <a:buNone/>
            </a:pPr>
            <a:r>
              <a:rPr lang="en-US" sz="950" i="1" dirty="0">
                <a:solidFill>
                  <a:srgbClr val="6B7A8C"/>
                </a:solidFill>
                <a:latin typeface="Calibri" pitchFamily="34" charset="0"/>
                <a:ea typeface="Calibri" pitchFamily="34" charset="-122"/>
                <a:cs typeface="Calibri" pitchFamily="34" charset="-120"/>
              </a:rPr>
              <a:t>Elo world rankings</a:t>
            </a:r>
            <a:endParaRPr lang="en-US" sz="950" dirty="0"/>
          </a:p>
        </p:txBody>
      </p:sp>
      <p:sp>
        <p:nvSpPr>
          <p:cNvPr id="11" name="Shape 6"/>
          <p:cNvSpPr/>
          <p:nvPr/>
        </p:nvSpPr>
        <p:spPr>
          <a:xfrm>
            <a:off x="5943600" y="4279392"/>
            <a:ext cx="5605272" cy="2084832"/>
          </a:xfrm>
          <a:prstGeom prst="roundRect">
            <a:avLst>
              <a:gd name="adj" fmla="val 2632"/>
            </a:avLst>
          </a:prstGeom>
          <a:solidFill>
            <a:srgbClr val="1C2531"/>
          </a:solidFill>
          <a:ln w="9525">
            <a:solidFill>
              <a:srgbClr val="2A3542"/>
            </a:solidFill>
            <a:prstDash val="solid"/>
          </a:ln>
        </p:spPr>
      </p:sp>
      <p:sp>
        <p:nvSpPr>
          <p:cNvPr id="12" name="Text 7"/>
          <p:cNvSpPr txBox="1"/>
          <p:nvPr/>
        </p:nvSpPr>
        <p:spPr>
          <a:xfrm>
            <a:off x="6217920" y="4443984"/>
            <a:ext cx="5029200" cy="256032"/>
          </a:xfrm>
          <a:prstGeom prst="rect">
            <a:avLst/>
          </a:prstGeom>
          <a:noFill/>
          <a:ln/>
        </p:spPr>
        <p:txBody>
          <a:bodyPr wrap="square" lIns="0" tIns="0" rIns="0" bIns="0" rtlCol="0" anchor="ctr"/>
          <a:lstStyle/>
          <a:p>
            <a:pPr indent="0" marL="0">
              <a:buNone/>
            </a:pPr>
            <a:r>
              <a:rPr lang="en-US" sz="1350" b="1" dirty="0">
                <a:solidFill>
                  <a:srgbClr val="E6EDF3"/>
                </a:solidFill>
                <a:latin typeface="Arial" pitchFamily="34" charset="0"/>
                <a:ea typeface="Arial" pitchFamily="34" charset="-122"/>
                <a:cs typeface="Arial" pitchFamily="34" charset="-120"/>
              </a:rPr>
              <a:t>Same services, two front doors</a:t>
            </a:r>
            <a:endParaRPr lang="en-US" sz="1350" dirty="0"/>
          </a:p>
        </p:txBody>
      </p:sp>
      <p:sp>
        <p:nvSpPr>
          <p:cNvPr id="13" name="Text 8"/>
          <p:cNvSpPr txBox="1"/>
          <p:nvPr/>
        </p:nvSpPr>
        <p:spPr>
          <a:xfrm>
            <a:off x="6217920" y="4791456"/>
            <a:ext cx="5029200" cy="502920"/>
          </a:xfrm>
          <a:prstGeom prst="rect">
            <a:avLst/>
          </a:prstGeom>
          <a:noFill/>
          <a:ln/>
        </p:spPr>
        <p:txBody>
          <a:bodyPr wrap="square" lIns="0" tIns="0" rIns="0" bIns="0" rtlCol="0" anchor="t"/>
          <a:lstStyle/>
          <a:p>
            <a:pPr indent="0" marL="0">
              <a:lnSpc>
                <a:spcPct val="115000"/>
              </a:lnSpc>
              <a:buNone/>
            </a:pPr>
            <a:r>
              <a:rPr lang="en-US" sz="1100" dirty="0">
                <a:solidFill>
                  <a:srgbClr val="8B98A9"/>
                </a:solidFill>
                <a:latin typeface="Calibri" pitchFamily="34" charset="0"/>
                <a:ea typeface="Calibri" pitchFamily="34" charset="-122"/>
                <a:cs typeface="Calibri" pitchFamily="34" charset="-120"/>
              </a:rPr>
              <a:t>Every figure on the site is also machine-readable — 14 JSON endpoints backed by the identical service functions the pages use.</a:t>
            </a:r>
            <a:endParaRPr lang="en-US" sz="1100" dirty="0"/>
          </a:p>
        </p:txBody>
      </p:sp>
      <p:sp>
        <p:nvSpPr>
          <p:cNvPr id="14" name="Shape 9"/>
          <p:cNvSpPr/>
          <p:nvPr/>
        </p:nvSpPr>
        <p:spPr>
          <a:xfrm>
            <a:off x="6217920" y="5285232"/>
            <a:ext cx="5056632" cy="932688"/>
          </a:xfrm>
          <a:prstGeom prst="roundRect">
            <a:avLst>
              <a:gd name="adj" fmla="val 4902"/>
            </a:avLst>
          </a:prstGeom>
          <a:solidFill>
            <a:srgbClr val="0A0E14"/>
          </a:solidFill>
          <a:ln w="9525">
            <a:solidFill>
              <a:srgbClr val="2A3542"/>
            </a:solidFill>
            <a:prstDash val="solid"/>
          </a:ln>
        </p:spPr>
      </p:sp>
      <p:sp>
        <p:nvSpPr>
          <p:cNvPr id="15" name="Text 10"/>
          <p:cNvSpPr txBox="1"/>
          <p:nvPr/>
        </p:nvSpPr>
        <p:spPr>
          <a:xfrm>
            <a:off x="6382512" y="5413248"/>
            <a:ext cx="4745736" cy="676656"/>
          </a:xfrm>
          <a:prstGeom prst="rect">
            <a:avLst/>
          </a:prstGeom>
          <a:noFill/>
          <a:ln/>
        </p:spPr>
        <p:txBody>
          <a:bodyPr wrap="square" lIns="0" tIns="0" rIns="0" bIns="0" rtlCol="0" anchor="t"/>
          <a:lstStyle/>
          <a:p>
            <a:pPr indent="0" marL="0">
              <a:lnSpc>
                <a:spcPct val="114000"/>
              </a:lnSpc>
              <a:buNone/>
            </a:pPr>
            <a:r>
              <a:rPr lang="en-US" sz="950" dirty="0">
                <a:solidFill>
                  <a:srgbClr val="C9D6E2"/>
                </a:solidFill>
                <a:latin typeface="Courier New" pitchFamily="34" charset="0"/>
                <a:ea typeface="Courier New" pitchFamily="34" charset="-122"/>
                <a:cs typeface="Courier New" pitchFamily="34" charset="-120"/>
              </a:rPr>
              <a:t>$ curl '.../api/predict?a=Spain&amp;b=Brazil'</a:t>
            </a:r>
            <a:endParaRPr lang="en-US" sz="950" dirty="0"/>
          </a:p>
          <a:p>
            <a:pPr indent="0" marL="0">
              <a:lnSpc>
                <a:spcPct val="114000"/>
              </a:lnSpc>
              <a:buNone/>
            </a:pPr>
            <a:r>
              <a:rPr lang="en-US" sz="950" dirty="0">
                <a:solidFill>
                  <a:srgbClr val="C9D6E2"/>
                </a:solidFill>
                <a:latin typeface="Courier New" pitchFamily="34" charset="0"/>
                <a:ea typeface="Courier New" pitchFamily="34" charset="-122"/>
                <a:cs typeface="Courier New" pitchFamily="34" charset="-120"/>
              </a:rPr>
              <a:t>{"pct_a": 66.3, "pct_draw": 22.9,</a:t>
            </a:r>
            <a:endParaRPr lang="en-US" sz="950" dirty="0"/>
          </a:p>
          <a:p>
            <a:pPr indent="0" marL="0">
              <a:lnSpc>
                <a:spcPct val="114000"/>
              </a:lnSpc>
              <a:buNone/>
            </a:pPr>
            <a:r>
              <a:rPr lang="en-US" sz="950" dirty="0">
                <a:solidFill>
                  <a:srgbClr val="C9D6E2"/>
                </a:solidFill>
                <a:latin typeface="Courier New" pitchFamily="34" charset="0"/>
                <a:ea typeface="Courier New" pitchFamily="34" charset="-122"/>
                <a:cs typeface="Courier New" pitchFamily="34" charset="-120"/>
              </a:rPr>
              <a:t> "pct_b": 10.8, "favourite": "Spain"}</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117"/>
        </a:solidFill>
      </p:bgPr>
    </p:bg>
    <p:spTree>
      <p:nvGrpSpPr>
        <p:cNvPr id="1" name=""/>
        <p:cNvGrpSpPr/>
        <p:nvPr/>
      </p:nvGrpSpPr>
      <p:grpSpPr>
        <a:xfrm>
          <a:off x="0" y="0"/>
          <a:ext cx="0" cy="0"/>
          <a:chOff x="0" y="0"/>
          <a:chExt cx="0" cy="0"/>
        </a:xfrm>
      </p:grpSpPr>
      <p:sp>
        <p:nvSpPr>
          <p:cNvPr id="2" name="Text 0"/>
          <p:cNvSpPr txBox="1"/>
          <p:nvPr/>
        </p:nvSpPr>
        <p:spPr>
          <a:xfrm>
            <a:off x="640080" y="384048"/>
            <a:ext cx="10058400" cy="256032"/>
          </a:xfrm>
          <a:prstGeom prst="rect">
            <a:avLst/>
          </a:prstGeom>
          <a:noFill/>
          <a:ln/>
        </p:spPr>
        <p:txBody>
          <a:bodyPr wrap="square" lIns="0" tIns="0" rIns="0" bIns="0" rtlCol="0" anchor="ctr"/>
          <a:lstStyle/>
          <a:p>
            <a:pPr indent="0" marL="0">
              <a:buNone/>
            </a:pPr>
            <a:r>
              <a:rPr lang="en-US" sz="1100" b="1" spc="200" kern="0" dirty="0">
                <a:solidFill>
                  <a:srgbClr val="2DD4A7"/>
                </a:solidFill>
                <a:latin typeface="Calibri" pitchFamily="34" charset="0"/>
                <a:ea typeface="Calibri" pitchFamily="34" charset="-122"/>
                <a:cs typeface="Calibri" pitchFamily="34" charset="-120"/>
              </a:rPr>
              <a:t>QUALITY</a:t>
            </a:r>
            <a:endParaRPr lang="en-US" sz="1100" dirty="0"/>
          </a:p>
        </p:txBody>
      </p:sp>
      <p:sp>
        <p:nvSpPr>
          <p:cNvPr id="3" name="Text 1"/>
          <p:cNvSpPr txBox="1"/>
          <p:nvPr/>
        </p:nvSpPr>
        <p:spPr>
          <a:xfrm>
            <a:off x="640080" y="658368"/>
            <a:ext cx="10881360" cy="566928"/>
          </a:xfrm>
          <a:prstGeom prst="rect">
            <a:avLst/>
          </a:prstGeom>
          <a:noFill/>
          <a:ln/>
        </p:spPr>
        <p:txBody>
          <a:bodyPr wrap="square" lIns="0" tIns="0" rIns="0" bIns="0" rtlCol="0" anchor="ctr"/>
          <a:lstStyle/>
          <a:p>
            <a:pPr indent="0" marL="0">
              <a:buNone/>
            </a:pPr>
            <a:r>
              <a:rPr lang="en-US" sz="3200" b="1" dirty="0">
                <a:solidFill>
                  <a:srgbClr val="E6EDF3"/>
                </a:solidFill>
                <a:latin typeface="Arial" pitchFamily="34" charset="0"/>
                <a:ea typeface="Arial" pitchFamily="34" charset="-122"/>
                <a:cs typeface="Arial" pitchFamily="34" charset="-120"/>
              </a:rPr>
              <a:t>91 tests, shaped by the fact that the core logic is pure</a:t>
            </a:r>
            <a:endParaRPr lang="en-US" sz="3200" dirty="0"/>
          </a:p>
        </p:txBody>
      </p:sp>
      <p:sp>
        <p:nvSpPr>
          <p:cNvPr id="4" name="Text 2"/>
          <p:cNvSpPr txBox="1"/>
          <p:nvPr/>
        </p:nvSpPr>
        <p:spPr>
          <a:xfrm>
            <a:off x="640080" y="1243584"/>
            <a:ext cx="10881360" cy="310896"/>
          </a:xfrm>
          <a:prstGeom prst="rect">
            <a:avLst/>
          </a:prstGeom>
          <a:noFill/>
          <a:ln/>
        </p:spPr>
        <p:txBody>
          <a:bodyPr wrap="square" lIns="0" tIns="0" rIns="0" bIns="0" rtlCol="0" anchor="ctr"/>
          <a:lstStyle/>
          <a:p>
            <a:pPr indent="0" marL="0">
              <a:buNone/>
            </a:pPr>
            <a:r>
              <a:rPr lang="en-US" sz="1350" dirty="0">
                <a:solidFill>
                  <a:srgbClr val="8B98A9"/>
                </a:solidFill>
                <a:latin typeface="Calibri" pitchFamily="34" charset="0"/>
                <a:ea typeface="Calibri" pitchFamily="34" charset="-122"/>
                <a:cs typeface="Calibri" pitchFamily="34" charset="-120"/>
              </a:rPr>
              <a:t>The Elo maths and the probability functions take numbers and return numbers — so the code most likely to be wrong is also the cheapest to test.</a:t>
            </a:r>
            <a:endParaRPr lang="en-US" sz="1350" dirty="0"/>
          </a:p>
        </p:txBody>
      </p:sp>
      <p:sp>
        <p:nvSpPr>
          <p:cNvPr id="5" name="Shape 3"/>
          <p:cNvSpPr/>
          <p:nvPr/>
        </p:nvSpPr>
        <p:spPr>
          <a:xfrm>
            <a:off x="1783080" y="1874520"/>
            <a:ext cx="4023360" cy="566928"/>
          </a:xfrm>
          <a:prstGeom prst="roundRect">
            <a:avLst>
              <a:gd name="adj" fmla="val 8065"/>
            </a:avLst>
          </a:prstGeom>
          <a:solidFill>
            <a:srgbClr val="161D27"/>
          </a:solidFill>
          <a:ln w="12700">
            <a:solidFill>
              <a:srgbClr val="F5C451"/>
            </a:solidFill>
            <a:prstDash val="solid"/>
          </a:ln>
        </p:spPr>
      </p:sp>
      <p:sp>
        <p:nvSpPr>
          <p:cNvPr id="6" name="Text 4"/>
          <p:cNvSpPr txBox="1"/>
          <p:nvPr/>
        </p:nvSpPr>
        <p:spPr>
          <a:xfrm>
            <a:off x="1929384" y="1874520"/>
            <a:ext cx="502920" cy="566928"/>
          </a:xfrm>
          <a:prstGeom prst="rect">
            <a:avLst/>
          </a:prstGeom>
          <a:noFill/>
          <a:ln/>
        </p:spPr>
        <p:txBody>
          <a:bodyPr wrap="square" lIns="0" tIns="0" rIns="0" bIns="0" rtlCol="0" anchor="ctr"/>
          <a:lstStyle/>
          <a:p>
            <a:pPr indent="0" marL="0">
              <a:buNone/>
            </a:pPr>
            <a:r>
              <a:rPr lang="en-US" sz="1800" b="1" dirty="0">
                <a:solidFill>
                  <a:srgbClr val="F5C451"/>
                </a:solidFill>
                <a:latin typeface="Arial" pitchFamily="34" charset="0"/>
                <a:ea typeface="Arial" pitchFamily="34" charset="-122"/>
                <a:cs typeface="Arial" pitchFamily="34" charset="-120"/>
              </a:rPr>
              <a:t>21</a:t>
            </a:r>
            <a:endParaRPr lang="en-US" sz="1800" dirty="0"/>
          </a:p>
        </p:txBody>
      </p:sp>
      <p:sp>
        <p:nvSpPr>
          <p:cNvPr id="7" name="Text 5"/>
          <p:cNvSpPr txBox="1"/>
          <p:nvPr/>
        </p:nvSpPr>
        <p:spPr>
          <a:xfrm>
            <a:off x="2496312" y="1965960"/>
            <a:ext cx="1828800" cy="219456"/>
          </a:xfrm>
          <a:prstGeom prst="rect">
            <a:avLst/>
          </a:prstGeom>
          <a:noFill/>
          <a:ln/>
        </p:spPr>
        <p:txBody>
          <a:bodyPr wrap="square" lIns="0" tIns="0" rIns="0" bIns="0" rtlCol="0" anchor="ctr"/>
          <a:lstStyle/>
          <a:p>
            <a:pPr indent="0" marL="0">
              <a:buNone/>
            </a:pPr>
            <a:r>
              <a:rPr lang="en-US" sz="1250" b="1" dirty="0">
                <a:solidFill>
                  <a:srgbClr val="E6EDF3"/>
                </a:solidFill>
                <a:latin typeface="Arial" pitchFamily="34" charset="0"/>
                <a:ea typeface="Arial" pitchFamily="34" charset="-122"/>
                <a:cs typeface="Arial" pitchFamily="34" charset="-120"/>
              </a:rPr>
              <a:t>Integration</a:t>
            </a:r>
            <a:endParaRPr lang="en-US" sz="1250" dirty="0"/>
          </a:p>
        </p:txBody>
      </p:sp>
      <p:sp>
        <p:nvSpPr>
          <p:cNvPr id="8" name="Text 6"/>
          <p:cNvSpPr txBox="1"/>
          <p:nvPr/>
        </p:nvSpPr>
        <p:spPr>
          <a:xfrm>
            <a:off x="2496312" y="2167128"/>
            <a:ext cx="3154680" cy="219456"/>
          </a:xfrm>
          <a:prstGeom prst="rect">
            <a:avLst/>
          </a:prstGeom>
          <a:noFill/>
          <a:ln/>
        </p:spPr>
        <p:txBody>
          <a:bodyPr wrap="square" lIns="0" tIns="0" rIns="0" bIns="0" rtlCol="0" anchor="ctr"/>
          <a:lstStyle/>
          <a:p>
            <a:pPr indent="0" marL="0">
              <a:buNone/>
            </a:pPr>
            <a:r>
              <a:rPr lang="en-US" sz="1000" dirty="0">
                <a:solidFill>
                  <a:srgbClr val="8B98A9"/>
                </a:solidFill>
                <a:latin typeface="Calibri" pitchFamily="34" charset="0"/>
                <a:ea typeface="Calibri" pitchFamily="34" charset="-122"/>
                <a:cs typeface="Calibri" pitchFamily="34" charset="-120"/>
              </a:rPr>
              <a:t>every route through Flask's test client</a:t>
            </a:r>
            <a:endParaRPr lang="en-US" sz="1000" dirty="0"/>
          </a:p>
        </p:txBody>
      </p:sp>
      <p:sp>
        <p:nvSpPr>
          <p:cNvPr id="9" name="Shape 7"/>
          <p:cNvSpPr/>
          <p:nvPr/>
        </p:nvSpPr>
        <p:spPr>
          <a:xfrm>
            <a:off x="1234440" y="2532888"/>
            <a:ext cx="5120640" cy="566928"/>
          </a:xfrm>
          <a:prstGeom prst="roundRect">
            <a:avLst>
              <a:gd name="adj" fmla="val 8065"/>
            </a:avLst>
          </a:prstGeom>
          <a:solidFill>
            <a:srgbClr val="161D27"/>
          </a:solidFill>
          <a:ln w="12700">
            <a:solidFill>
              <a:srgbClr val="5AA9F5"/>
            </a:solidFill>
            <a:prstDash val="solid"/>
          </a:ln>
        </p:spPr>
      </p:sp>
      <p:sp>
        <p:nvSpPr>
          <p:cNvPr id="10" name="Text 8"/>
          <p:cNvSpPr txBox="1"/>
          <p:nvPr/>
        </p:nvSpPr>
        <p:spPr>
          <a:xfrm>
            <a:off x="1380744" y="2532888"/>
            <a:ext cx="502920" cy="566928"/>
          </a:xfrm>
          <a:prstGeom prst="rect">
            <a:avLst/>
          </a:prstGeom>
          <a:noFill/>
          <a:ln/>
        </p:spPr>
        <p:txBody>
          <a:bodyPr wrap="square" lIns="0" tIns="0" rIns="0" bIns="0" rtlCol="0" anchor="ctr"/>
          <a:lstStyle/>
          <a:p>
            <a:pPr indent="0" marL="0">
              <a:buNone/>
            </a:pPr>
            <a:r>
              <a:rPr lang="en-US" sz="1800" b="1" dirty="0">
                <a:solidFill>
                  <a:srgbClr val="5AA9F5"/>
                </a:solidFill>
                <a:latin typeface="Arial" pitchFamily="34" charset="0"/>
                <a:ea typeface="Arial" pitchFamily="34" charset="-122"/>
                <a:cs typeface="Arial" pitchFamily="34" charset="-120"/>
              </a:rPr>
              <a:t>30</a:t>
            </a:r>
            <a:endParaRPr lang="en-US" sz="1800" dirty="0"/>
          </a:p>
        </p:txBody>
      </p:sp>
      <p:sp>
        <p:nvSpPr>
          <p:cNvPr id="11" name="Text 9"/>
          <p:cNvSpPr txBox="1"/>
          <p:nvPr/>
        </p:nvSpPr>
        <p:spPr>
          <a:xfrm>
            <a:off x="1947672" y="2624328"/>
            <a:ext cx="1828800" cy="219456"/>
          </a:xfrm>
          <a:prstGeom prst="rect">
            <a:avLst/>
          </a:prstGeom>
          <a:noFill/>
          <a:ln/>
        </p:spPr>
        <p:txBody>
          <a:bodyPr wrap="square" lIns="0" tIns="0" rIns="0" bIns="0" rtlCol="0" anchor="ctr"/>
          <a:lstStyle/>
          <a:p>
            <a:pPr indent="0" marL="0">
              <a:buNone/>
            </a:pPr>
            <a:r>
              <a:rPr lang="en-US" sz="1250" b="1" dirty="0">
                <a:solidFill>
                  <a:srgbClr val="E6EDF3"/>
                </a:solidFill>
                <a:latin typeface="Arial" pitchFamily="34" charset="0"/>
                <a:ea typeface="Arial" pitchFamily="34" charset="-122"/>
                <a:cs typeface="Arial" pitchFamily="34" charset="-120"/>
              </a:rPr>
              <a:t>Data</a:t>
            </a:r>
            <a:endParaRPr lang="en-US" sz="1250" dirty="0"/>
          </a:p>
        </p:txBody>
      </p:sp>
      <p:sp>
        <p:nvSpPr>
          <p:cNvPr id="12" name="Text 10"/>
          <p:cNvSpPr txBox="1"/>
          <p:nvPr/>
        </p:nvSpPr>
        <p:spPr>
          <a:xfrm>
            <a:off x="1947672" y="2825496"/>
            <a:ext cx="4251960" cy="219456"/>
          </a:xfrm>
          <a:prstGeom prst="rect">
            <a:avLst/>
          </a:prstGeom>
          <a:noFill/>
          <a:ln/>
        </p:spPr>
        <p:txBody>
          <a:bodyPr wrap="square" lIns="0" tIns="0" rIns="0" bIns="0" rtlCol="0" anchor="ctr"/>
          <a:lstStyle/>
          <a:p>
            <a:pPr indent="0" marL="0">
              <a:buNone/>
            </a:pPr>
            <a:r>
              <a:rPr lang="en-US" sz="1000" dirty="0">
                <a:solidFill>
                  <a:srgbClr val="8B98A9"/>
                </a:solidFill>
                <a:latin typeface="Calibri" pitchFamily="34" charset="0"/>
                <a:ea typeface="Calibri" pitchFamily="34" charset="-122"/>
                <a:cs typeface="Calibri" pitchFamily="34" charset="-120"/>
              </a:rPr>
              <a:t>services against the real 49,547-match database</a:t>
            </a:r>
            <a:endParaRPr lang="en-US" sz="1000" dirty="0"/>
          </a:p>
        </p:txBody>
      </p:sp>
      <p:sp>
        <p:nvSpPr>
          <p:cNvPr id="13" name="Shape 11"/>
          <p:cNvSpPr/>
          <p:nvPr/>
        </p:nvSpPr>
        <p:spPr>
          <a:xfrm>
            <a:off x="685800" y="3191256"/>
            <a:ext cx="6217920" cy="566928"/>
          </a:xfrm>
          <a:prstGeom prst="roundRect">
            <a:avLst>
              <a:gd name="adj" fmla="val 8065"/>
            </a:avLst>
          </a:prstGeom>
          <a:solidFill>
            <a:srgbClr val="161D27"/>
          </a:solidFill>
          <a:ln w="12700">
            <a:solidFill>
              <a:srgbClr val="2DD4A7"/>
            </a:solidFill>
            <a:prstDash val="solid"/>
          </a:ln>
        </p:spPr>
      </p:sp>
      <p:sp>
        <p:nvSpPr>
          <p:cNvPr id="14" name="Text 12"/>
          <p:cNvSpPr txBox="1"/>
          <p:nvPr/>
        </p:nvSpPr>
        <p:spPr>
          <a:xfrm>
            <a:off x="832104" y="3191256"/>
            <a:ext cx="502920" cy="566928"/>
          </a:xfrm>
          <a:prstGeom prst="rect">
            <a:avLst/>
          </a:prstGeom>
          <a:noFill/>
          <a:ln/>
        </p:spPr>
        <p:txBody>
          <a:bodyPr wrap="square" lIns="0" tIns="0" rIns="0" bIns="0" rtlCol="0" anchor="ctr"/>
          <a:lstStyle/>
          <a:p>
            <a:pPr indent="0" marL="0">
              <a:buNone/>
            </a:pPr>
            <a:r>
              <a:rPr lang="en-US" sz="1800" b="1" dirty="0">
                <a:solidFill>
                  <a:srgbClr val="2DD4A7"/>
                </a:solidFill>
                <a:latin typeface="Arial" pitchFamily="34" charset="0"/>
                <a:ea typeface="Arial" pitchFamily="34" charset="-122"/>
                <a:cs typeface="Arial" pitchFamily="34" charset="-120"/>
              </a:rPr>
              <a:t>40</a:t>
            </a:r>
            <a:endParaRPr lang="en-US" sz="1800" dirty="0"/>
          </a:p>
        </p:txBody>
      </p:sp>
      <p:sp>
        <p:nvSpPr>
          <p:cNvPr id="15" name="Text 13"/>
          <p:cNvSpPr txBox="1"/>
          <p:nvPr/>
        </p:nvSpPr>
        <p:spPr>
          <a:xfrm>
            <a:off x="1399032" y="3282696"/>
            <a:ext cx="1828800" cy="219456"/>
          </a:xfrm>
          <a:prstGeom prst="rect">
            <a:avLst/>
          </a:prstGeom>
          <a:noFill/>
          <a:ln/>
        </p:spPr>
        <p:txBody>
          <a:bodyPr wrap="square" lIns="0" tIns="0" rIns="0" bIns="0" rtlCol="0" anchor="ctr"/>
          <a:lstStyle/>
          <a:p>
            <a:pPr indent="0" marL="0">
              <a:buNone/>
            </a:pPr>
            <a:r>
              <a:rPr lang="en-US" sz="1250" b="1" dirty="0">
                <a:solidFill>
                  <a:srgbClr val="E6EDF3"/>
                </a:solidFill>
                <a:latin typeface="Arial" pitchFamily="34" charset="0"/>
                <a:ea typeface="Arial" pitchFamily="34" charset="-122"/>
                <a:cs typeface="Arial" pitchFamily="34" charset="-120"/>
              </a:rPr>
              <a:t>Unit</a:t>
            </a:r>
            <a:endParaRPr lang="en-US" sz="1250" dirty="0"/>
          </a:p>
        </p:txBody>
      </p:sp>
      <p:sp>
        <p:nvSpPr>
          <p:cNvPr id="16" name="Text 14"/>
          <p:cNvSpPr txBox="1"/>
          <p:nvPr/>
        </p:nvSpPr>
        <p:spPr>
          <a:xfrm>
            <a:off x="1399032" y="3483864"/>
            <a:ext cx="5349240" cy="219456"/>
          </a:xfrm>
          <a:prstGeom prst="rect">
            <a:avLst/>
          </a:prstGeom>
          <a:noFill/>
          <a:ln/>
        </p:spPr>
        <p:txBody>
          <a:bodyPr wrap="square" lIns="0" tIns="0" rIns="0" bIns="0" rtlCol="0" anchor="ctr"/>
          <a:lstStyle/>
          <a:p>
            <a:pPr indent="0" marL="0">
              <a:buNone/>
            </a:pPr>
            <a:r>
              <a:rPr lang="en-US" sz="1000" dirty="0">
                <a:solidFill>
                  <a:srgbClr val="8B98A9"/>
                </a:solidFill>
                <a:latin typeface="Calibri" pitchFamily="34" charset="0"/>
                <a:ea typeface="Calibri" pitchFamily="34" charset="-122"/>
                <a:cs typeface="Calibri" pitchFamily="34" charset="-120"/>
              </a:rPr>
              <a:t>pure functions: Elo, probabilities, ETL transforms</a:t>
            </a:r>
            <a:endParaRPr lang="en-US" sz="1000" dirty="0"/>
          </a:p>
        </p:txBody>
      </p:sp>
      <p:sp>
        <p:nvSpPr>
          <p:cNvPr id="17" name="Text 15"/>
          <p:cNvSpPr txBox="1"/>
          <p:nvPr/>
        </p:nvSpPr>
        <p:spPr>
          <a:xfrm>
            <a:off x="640080" y="3913632"/>
            <a:ext cx="6309360" cy="365760"/>
          </a:xfrm>
          <a:prstGeom prst="rect">
            <a:avLst/>
          </a:prstGeom>
          <a:noFill/>
          <a:ln/>
        </p:spPr>
        <p:txBody>
          <a:bodyPr wrap="square" lIns="0" tIns="0" rIns="0" bIns="0" rtlCol="0" anchor="ctr"/>
          <a:lstStyle/>
          <a:p>
            <a:pPr algn="ctr" indent="0" marL="0">
              <a:buNone/>
            </a:pPr>
            <a:r>
              <a:rPr lang="en-US" sz="1050" i="1" dirty="0">
                <a:solidFill>
                  <a:srgbClr val="6B7A8C"/>
                </a:solidFill>
                <a:latin typeface="Calibri" pitchFamily="34" charset="0"/>
                <a:ea typeface="Calibri" pitchFamily="34" charset="-122"/>
                <a:cs typeface="Calibri" pitchFamily="34" charset="-120"/>
              </a:rPr>
              <a:t>On a fresh checkout, before the database exists, 40 tests still pass and 51 skip with a clear message.</a:t>
            </a:r>
            <a:endParaRPr lang="en-US" sz="1050" dirty="0"/>
          </a:p>
        </p:txBody>
      </p:sp>
      <p:sp>
        <p:nvSpPr>
          <p:cNvPr id="18" name="Shape 16"/>
          <p:cNvSpPr/>
          <p:nvPr/>
        </p:nvSpPr>
        <p:spPr>
          <a:xfrm>
            <a:off x="7223760" y="1828800"/>
            <a:ext cx="4325112" cy="2377440"/>
          </a:xfrm>
          <a:prstGeom prst="roundRect">
            <a:avLst>
              <a:gd name="adj" fmla="val 2308"/>
            </a:avLst>
          </a:prstGeom>
          <a:solidFill>
            <a:srgbClr val="1C2531"/>
          </a:solidFill>
          <a:ln w="9525">
            <a:solidFill>
              <a:srgbClr val="2A3542"/>
            </a:solidFill>
            <a:prstDash val="solid"/>
          </a:ln>
        </p:spPr>
      </p:sp>
      <p:sp>
        <p:nvSpPr>
          <p:cNvPr id="19" name="Text 17"/>
          <p:cNvSpPr txBox="1"/>
          <p:nvPr/>
        </p:nvSpPr>
        <p:spPr>
          <a:xfrm>
            <a:off x="7479792" y="1993392"/>
            <a:ext cx="3840480" cy="256032"/>
          </a:xfrm>
          <a:prstGeom prst="rect">
            <a:avLst/>
          </a:prstGeom>
          <a:noFill/>
          <a:ln/>
        </p:spPr>
        <p:txBody>
          <a:bodyPr wrap="square" lIns="0" tIns="0" rIns="0" bIns="0" rtlCol="0" anchor="ctr"/>
          <a:lstStyle/>
          <a:p>
            <a:pPr indent="0" marL="0">
              <a:buNone/>
            </a:pPr>
            <a:r>
              <a:rPr lang="en-US" sz="1350" b="1" dirty="0">
                <a:solidFill>
                  <a:srgbClr val="E6EDF3"/>
                </a:solidFill>
                <a:latin typeface="Arial" pitchFamily="34" charset="0"/>
                <a:ea typeface="Arial" pitchFamily="34" charset="-122"/>
                <a:cs typeface="Arial" pitchFamily="34" charset="-120"/>
              </a:rPr>
              <a:t>Properties, not examples</a:t>
            </a:r>
            <a:endParaRPr lang="en-US" sz="1350" dirty="0"/>
          </a:p>
        </p:txBody>
      </p:sp>
      <p:sp>
        <p:nvSpPr>
          <p:cNvPr id="20" name="Text 18"/>
          <p:cNvSpPr txBox="1"/>
          <p:nvPr/>
        </p:nvSpPr>
        <p:spPr>
          <a:xfrm>
            <a:off x="7479792" y="2359152"/>
            <a:ext cx="3840480" cy="457200"/>
          </a:xfrm>
          <a:prstGeom prst="rect">
            <a:avLst/>
          </a:prstGeom>
          <a:noFill/>
          <a:ln/>
        </p:spPr>
        <p:txBody>
          <a:bodyPr wrap="square" lIns="0" tIns="0" rIns="0" bIns="0" rtlCol="0" anchor="t"/>
          <a:lstStyle/>
          <a:p>
            <a:pPr indent="0" marL="0">
              <a:lnSpc>
                <a:spcPct val="114000"/>
              </a:lnSpc>
              <a:buNone/>
            </a:pPr>
            <a:r>
              <a:rPr lang="en-US" sz="1050" dirty="0">
                <a:solidFill>
                  <a:srgbClr val="8B98A9"/>
                </a:solidFill>
                <a:latin typeface="Calibri" pitchFamily="34" charset="0"/>
                <a:ea typeface="Calibri" pitchFamily="34" charset="-122"/>
                <a:cs typeface="Calibri" pitchFamily="34" charset="-120"/>
              </a:rPr>
              <a:t>Rather than asserting hard-coded outputs, the tests assert the properties the model must have:</a:t>
            </a:r>
            <a:endParaRPr lang="en-US" sz="1050" dirty="0"/>
          </a:p>
        </p:txBody>
      </p:sp>
      <p:sp>
        <p:nvSpPr>
          <p:cNvPr id="21" name="Text 19"/>
          <p:cNvSpPr txBox="1"/>
          <p:nvPr/>
        </p:nvSpPr>
        <p:spPr>
          <a:xfrm>
            <a:off x="7479792" y="2761488"/>
            <a:ext cx="3840480" cy="1325880"/>
          </a:xfrm>
          <a:prstGeom prst="rect">
            <a:avLst/>
          </a:prstGeom>
          <a:noFill/>
          <a:ln/>
        </p:spPr>
        <p:txBody>
          <a:bodyPr wrap="square" lIns="0" tIns="0" rIns="0" bIns="0" rtlCol="0" anchor="t"/>
          <a:lstStyle/>
          <a:p>
            <a:pPr marL="342900" indent="-342900">
              <a:lnSpc>
                <a:spcPct val="110000"/>
              </a:lnSpc>
              <a:spcAft>
                <a:spcPts val="700"/>
              </a:spcAft>
              <a:buSzPct val="100000"/>
              <a:buChar char="•"/>
            </a:pPr>
            <a:r>
              <a:rPr lang="en-US" sz="1000" dirty="0">
                <a:solidFill>
                  <a:srgbClr val="8B98A9"/>
                </a:solidFill>
                <a:latin typeface="Calibri" pitchFamily="34" charset="0"/>
                <a:ea typeface="Calibri" pitchFamily="34" charset="-122"/>
                <a:cs typeface="Calibri" pitchFamily="34" charset="-120"/>
              </a:rPr>
              <a:t>A 400-point gap gives exactly 10:1 odds</a:t>
            </a:r>
            <a:endParaRPr lang="en-US" sz="1000" dirty="0"/>
          </a:p>
          <a:p>
            <a:pPr marL="342900" indent="-342900">
              <a:lnSpc>
                <a:spcPct val="110000"/>
              </a:lnSpc>
              <a:spcAft>
                <a:spcPts val="700"/>
              </a:spcAft>
              <a:buSzPct val="100000"/>
              <a:buChar char="•"/>
            </a:pPr>
            <a:r>
              <a:rPr lang="en-US" sz="1000" dirty="0">
                <a:solidFill>
                  <a:srgbClr val="8B98A9"/>
                </a:solidFill>
                <a:latin typeface="Calibri" pitchFamily="34" charset="0"/>
                <a:ea typeface="Calibri" pitchFamily="34" charset="-122"/>
                <a:cs typeface="Calibri" pitchFamily="34" charset="-120"/>
              </a:rPr>
              <a:t>Rating changes are always zero-sum</a:t>
            </a:r>
            <a:endParaRPr lang="en-US" sz="1000" dirty="0"/>
          </a:p>
          <a:p>
            <a:pPr marL="342900" indent="-342900">
              <a:lnSpc>
                <a:spcPct val="110000"/>
              </a:lnSpc>
              <a:spcAft>
                <a:spcPts val="700"/>
              </a:spcAft>
              <a:buSzPct val="100000"/>
              <a:buChar char="•"/>
            </a:pPr>
            <a:r>
              <a:rPr lang="en-US" sz="1000" dirty="0">
                <a:solidFill>
                  <a:srgbClr val="8B98A9"/>
                </a:solidFill>
                <a:latin typeface="Calibri" pitchFamily="34" charset="0"/>
                <a:ea typeface="Calibri" pitchFamily="34" charset="-122"/>
                <a:cs typeface="Calibri" pitchFamily="34" charset="-120"/>
              </a:rPr>
              <a:t>Both sides' expectations sum to 1</a:t>
            </a:r>
            <a:endParaRPr lang="en-US" sz="1000" dirty="0"/>
          </a:p>
          <a:p>
            <a:pPr marL="342900" indent="-342900">
              <a:lnSpc>
                <a:spcPct val="110000"/>
              </a:lnSpc>
              <a:spcAft>
                <a:spcPts val="700"/>
              </a:spcAft>
              <a:buSzPct val="100000"/>
              <a:buChar char="•"/>
            </a:pPr>
            <a:r>
              <a:rPr lang="en-US" sz="1000" dirty="0">
                <a:solidFill>
                  <a:srgbClr val="8B98A9"/>
                </a:solidFill>
                <a:latin typeface="Calibri" pitchFamily="34" charset="0"/>
                <a:ea typeface="Calibri" pitchFamily="34" charset="-122"/>
                <a:cs typeface="Calibri" pitchFamily="34" charset="-120"/>
              </a:rPr>
              <a:t>Probabilities stay valid at a 1,400-point gap</a:t>
            </a:r>
            <a:endParaRPr lang="en-US" sz="1000" dirty="0"/>
          </a:p>
          <a:p>
            <a:pPr marL="342900" indent="-342900">
              <a:lnSpc>
                <a:spcPct val="110000"/>
              </a:lnSpc>
              <a:spcAft>
                <a:spcPts val="700"/>
              </a:spcAft>
              <a:buSzPct val="100000"/>
              <a:buChar char="•"/>
            </a:pPr>
            <a:r>
              <a:rPr lang="en-US" sz="1000" dirty="0">
                <a:solidFill>
                  <a:srgbClr val="8B98A9"/>
                </a:solidFill>
                <a:latin typeface="Calibri" pitchFamily="34" charset="0"/>
                <a:ea typeface="Calibri" pitchFamily="34" charset="-122"/>
                <a:cs typeface="Calibri" pitchFamily="34" charset="-120"/>
              </a:rPr>
              <a:t>Pre-match ratings are captured before the update</a:t>
            </a:r>
            <a:endParaRPr lang="en-US" sz="1000" dirty="0"/>
          </a:p>
        </p:txBody>
      </p:sp>
      <p:sp>
        <p:nvSpPr>
          <p:cNvPr id="22" name="Shape 20"/>
          <p:cNvSpPr/>
          <p:nvPr/>
        </p:nvSpPr>
        <p:spPr>
          <a:xfrm>
            <a:off x="640080" y="4480560"/>
            <a:ext cx="10908792" cy="1627632"/>
          </a:xfrm>
          <a:prstGeom prst="roundRect">
            <a:avLst>
              <a:gd name="adj" fmla="val 3371"/>
            </a:avLst>
          </a:prstGeom>
          <a:solidFill>
            <a:srgbClr val="1C2531"/>
          </a:solidFill>
          <a:ln w="9525">
            <a:solidFill>
              <a:srgbClr val="2A3542"/>
            </a:solidFill>
            <a:prstDash val="solid"/>
          </a:ln>
        </p:spPr>
      </p:sp>
      <p:sp>
        <p:nvSpPr>
          <p:cNvPr id="23" name="Text 21"/>
          <p:cNvSpPr txBox="1"/>
          <p:nvPr/>
        </p:nvSpPr>
        <p:spPr>
          <a:xfrm>
            <a:off x="960120" y="4645152"/>
            <a:ext cx="5029200" cy="256032"/>
          </a:xfrm>
          <a:prstGeom prst="rect">
            <a:avLst/>
          </a:prstGeom>
          <a:noFill/>
          <a:ln/>
        </p:spPr>
        <p:txBody>
          <a:bodyPr wrap="square" lIns="0" tIns="0" rIns="0" bIns="0" rtlCol="0" anchor="ctr"/>
          <a:lstStyle/>
          <a:p>
            <a:pPr indent="0" marL="0">
              <a:buNone/>
            </a:pPr>
            <a:r>
              <a:rPr lang="en-US" sz="1400" b="1" dirty="0">
                <a:solidFill>
                  <a:srgbClr val="F5C451"/>
                </a:solidFill>
                <a:latin typeface="Arial" pitchFamily="34" charset="0"/>
                <a:ea typeface="Arial" pitchFamily="34" charset="-122"/>
                <a:cs typeface="Arial" pitchFamily="34" charset="-120"/>
              </a:rPr>
              <a:t>The test that matters most</a:t>
            </a:r>
            <a:endParaRPr lang="en-US" sz="1400" dirty="0"/>
          </a:p>
        </p:txBody>
      </p:sp>
      <p:sp>
        <p:nvSpPr>
          <p:cNvPr id="24" name="Text 22"/>
          <p:cNvSpPr txBox="1"/>
          <p:nvPr/>
        </p:nvSpPr>
        <p:spPr>
          <a:xfrm>
            <a:off x="960120" y="4992624"/>
            <a:ext cx="4572000" cy="914400"/>
          </a:xfrm>
          <a:prstGeom prst="rect">
            <a:avLst/>
          </a:prstGeom>
          <a:noFill/>
          <a:ln/>
        </p:spPr>
        <p:txBody>
          <a:bodyPr wrap="square" lIns="0" tIns="0" rIns="0" bIns="0" rtlCol="0" anchor="t"/>
          <a:lstStyle/>
          <a:p>
            <a:pPr indent="0" marL="0">
              <a:lnSpc>
                <a:spcPct val="116000"/>
              </a:lnSpc>
              <a:buNone/>
            </a:pPr>
            <a:r>
              <a:rPr lang="en-US" sz="1150" dirty="0">
                <a:solidFill>
                  <a:srgbClr val="8B98A9"/>
                </a:solidFill>
                <a:latin typeface="Calibri" pitchFamily="34" charset="0"/>
                <a:ea typeface="Calibri" pitchFamily="34" charset="-122"/>
                <a:cs typeface="Calibri" pitchFamily="34" charset="-120"/>
              </a:rPr>
              <a:t>If pre-match ratings were recorded after the update instead of before, every accuracy figure in this deck would be inflated by hindsight — and nothing would look broken. One test pins that ordering in place.</a:t>
            </a:r>
            <a:endParaRPr lang="en-US" sz="1150" dirty="0"/>
          </a:p>
        </p:txBody>
      </p:sp>
      <p:sp>
        <p:nvSpPr>
          <p:cNvPr id="25" name="Shape 23"/>
          <p:cNvSpPr/>
          <p:nvPr/>
        </p:nvSpPr>
        <p:spPr>
          <a:xfrm>
            <a:off x="5760720" y="4645152"/>
            <a:ext cx="5788152" cy="1298448"/>
          </a:xfrm>
          <a:prstGeom prst="roundRect">
            <a:avLst>
              <a:gd name="adj" fmla="val 3521"/>
            </a:avLst>
          </a:prstGeom>
          <a:solidFill>
            <a:srgbClr val="0A0E14"/>
          </a:solidFill>
          <a:ln w="9525">
            <a:solidFill>
              <a:srgbClr val="2A3542"/>
            </a:solidFill>
            <a:prstDash val="solid"/>
          </a:ln>
        </p:spPr>
      </p:sp>
      <p:sp>
        <p:nvSpPr>
          <p:cNvPr id="26" name="Text 24"/>
          <p:cNvSpPr txBox="1"/>
          <p:nvPr/>
        </p:nvSpPr>
        <p:spPr>
          <a:xfrm>
            <a:off x="5925312" y="4773168"/>
            <a:ext cx="5477256" cy="1042416"/>
          </a:xfrm>
          <a:prstGeom prst="rect">
            <a:avLst/>
          </a:prstGeom>
          <a:noFill/>
          <a:ln/>
        </p:spPr>
        <p:txBody>
          <a:bodyPr wrap="square" lIns="0" tIns="0" rIns="0" bIns="0" rtlCol="0" anchor="t"/>
          <a:lstStyle/>
          <a:p>
            <a:pPr indent="0" marL="0">
              <a:lnSpc>
                <a:spcPct val="114000"/>
              </a:lnSpc>
              <a:buNone/>
            </a:pPr>
            <a:r>
              <a:rPr lang="en-US" sz="950" dirty="0">
                <a:solidFill>
                  <a:srgbClr val="C9D6E2"/>
                </a:solidFill>
                <a:latin typeface="Courier New" pitchFamily="34" charset="0"/>
                <a:ea typeface="Courier New" pitchFamily="34" charset="-122"/>
                <a:cs typeface="Courier New" pitchFamily="34" charset="-120"/>
              </a:rPr>
              <a:t>def test_pre_match_ratings_are_recorded</a:t>
            </a:r>
            <a:endParaRPr lang="en-US" sz="950" dirty="0"/>
          </a:p>
          <a:p>
            <a:pPr indent="0" marL="0">
              <a:lnSpc>
                <a:spcPct val="114000"/>
              </a:lnSpc>
              <a:buNone/>
            </a:pPr>
            <a:r>
              <a:rPr lang="en-US" sz="950" dirty="0">
                <a:solidFill>
                  <a:srgbClr val="C9D6E2"/>
                </a:solidFill>
                <a:latin typeface="Courier New" pitchFamily="34" charset="0"/>
                <a:ea typeface="Courier New" pitchFamily="34" charset="-122"/>
                <a:cs typeface="Courier New" pitchFamily="34" charset="-120"/>
              </a:rPr>
              <a:t>        _before_the_update(self):</a:t>
            </a:r>
            <a:endParaRPr lang="en-US" sz="950" dirty="0"/>
          </a:p>
          <a:p>
            <a:pPr indent="0" marL="0">
              <a:lnSpc>
                <a:spcPct val="114000"/>
              </a:lnSpc>
              <a:buNone/>
            </a:pPr>
            <a:r>
              <a:rPr lang="en-US" sz="950" dirty="0">
                <a:solidFill>
                  <a:srgbClr val="C9D6E2"/>
                </a:solidFill>
                <a:latin typeface="Courier New" pitchFamily="34" charset="0"/>
                <a:ea typeface="Courier New" pitchFamily="34" charset="-122"/>
                <a:cs typeface="Courier New" pitchFamily="34" charset="-120"/>
              </a:rPr>
              <a:t>    engine = EloEngine()</a:t>
            </a:r>
            <a:endParaRPr lang="en-US" sz="950" dirty="0"/>
          </a:p>
          <a:p>
            <a:pPr indent="0" marL="0">
              <a:lnSpc>
                <a:spcPct val="114000"/>
              </a:lnSpc>
              <a:buNone/>
            </a:pPr>
            <a:r>
              <a:rPr lang="en-US" sz="950" dirty="0">
                <a:solidFill>
                  <a:srgbClr val="C9D6E2"/>
                </a:solidFill>
                <a:latin typeface="Courier New" pitchFamily="34" charset="0"/>
                <a:ea typeface="Courier New" pitchFamily="34" charset="-122"/>
                <a:cs typeface="Courier New" pitchFamily="34" charset="-120"/>
              </a:rPr>
              <a:t>    engine.process(match)</a:t>
            </a:r>
            <a:endParaRPr lang="en-US" sz="950" dirty="0"/>
          </a:p>
          <a:p>
            <a:pPr indent="0" marL="0">
              <a:lnSpc>
                <a:spcPct val="114000"/>
              </a:lnSpc>
              <a:buNone/>
            </a:pPr>
            <a:r>
              <a:rPr lang="en-US" sz="950" dirty="0">
                <a:solidFill>
                  <a:srgbClr val="C9D6E2"/>
                </a:solidFill>
                <a:latin typeface="Courier New" pitchFamily="34" charset="0"/>
                <a:ea typeface="Courier New" pitchFamily="34" charset="-122"/>
                <a:cs typeface="Courier New" pitchFamily="34" charset="-120"/>
              </a:rPr>
              <a:t>    assert engine.pre_match[match["id"]] == (1500, 1500)</a:t>
            </a:r>
            <a:endParaRPr lang="en-US" sz="950" dirty="0"/>
          </a:p>
          <a:p>
            <a:pPr indent="0" marL="0">
              <a:lnSpc>
                <a:spcPct val="114000"/>
              </a:lnSpc>
              <a:buNone/>
            </a:pPr>
            <a:r>
              <a:rPr lang="en-US" sz="950" dirty="0">
                <a:solidFill>
                  <a:srgbClr val="C9D6E2"/>
                </a:solidFill>
                <a:latin typeface="Courier New" pitchFamily="34" charset="0"/>
                <a:ea typeface="Courier New" pitchFamily="34" charset="-122"/>
                <a:cs typeface="Courier New" pitchFamily="34" charset="-120"/>
              </a:rPr>
              <a:t>    assert engine.rating("A") &gt; 1500</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117"/>
        </a:solidFill>
      </p:bgPr>
    </p:bg>
    <p:spTree>
      <p:nvGrpSpPr>
        <p:cNvPr id="1" name=""/>
        <p:cNvGrpSpPr/>
        <p:nvPr/>
      </p:nvGrpSpPr>
      <p:grpSpPr>
        <a:xfrm>
          <a:off x="0" y="0"/>
          <a:ext cx="0" cy="0"/>
          <a:chOff x="0" y="0"/>
          <a:chExt cx="0" cy="0"/>
        </a:xfrm>
      </p:grpSpPr>
      <p:sp>
        <p:nvSpPr>
          <p:cNvPr id="2" name="Text 0"/>
          <p:cNvSpPr txBox="1"/>
          <p:nvPr/>
        </p:nvSpPr>
        <p:spPr>
          <a:xfrm>
            <a:off x="640080" y="384048"/>
            <a:ext cx="10058400" cy="256032"/>
          </a:xfrm>
          <a:prstGeom prst="rect">
            <a:avLst/>
          </a:prstGeom>
          <a:noFill/>
          <a:ln/>
        </p:spPr>
        <p:txBody>
          <a:bodyPr wrap="square" lIns="0" tIns="0" rIns="0" bIns="0" rtlCol="0" anchor="ctr"/>
          <a:lstStyle/>
          <a:p>
            <a:pPr indent="0" marL="0">
              <a:buNone/>
            </a:pPr>
            <a:r>
              <a:rPr lang="en-US" sz="1100" b="1" spc="200" kern="0" dirty="0">
                <a:solidFill>
                  <a:srgbClr val="2DD4A7"/>
                </a:solidFill>
                <a:latin typeface="Calibri" pitchFamily="34" charset="0"/>
                <a:ea typeface="Calibri" pitchFamily="34" charset="-122"/>
                <a:cs typeface="Calibri" pitchFamily="34" charset="-120"/>
              </a:rPr>
              <a:t>RESULTS</a:t>
            </a:r>
            <a:endParaRPr lang="en-US" sz="1100" dirty="0"/>
          </a:p>
        </p:txBody>
      </p:sp>
      <p:sp>
        <p:nvSpPr>
          <p:cNvPr id="3" name="Text 1"/>
          <p:cNvSpPr txBox="1"/>
          <p:nvPr/>
        </p:nvSpPr>
        <p:spPr>
          <a:xfrm>
            <a:off x="640080" y="658368"/>
            <a:ext cx="10881360" cy="566928"/>
          </a:xfrm>
          <a:prstGeom prst="rect">
            <a:avLst/>
          </a:prstGeom>
          <a:noFill/>
          <a:ln/>
        </p:spPr>
        <p:txBody>
          <a:bodyPr wrap="square" lIns="0" tIns="0" rIns="0" bIns="0" rtlCol="0" anchor="ctr"/>
          <a:lstStyle/>
          <a:p>
            <a:pPr indent="0" marL="0">
              <a:buNone/>
            </a:pPr>
            <a:r>
              <a:rPr lang="en-US" sz="3200" b="1" dirty="0">
                <a:solidFill>
                  <a:srgbClr val="E6EDF3"/>
                </a:solidFill>
                <a:latin typeface="Arial" pitchFamily="34" charset="0"/>
                <a:ea typeface="Arial" pitchFamily="34" charset="-122"/>
                <a:cs typeface="Arial" pitchFamily="34" charset="-120"/>
              </a:rPr>
              <a:t>What the data actually says</a:t>
            </a:r>
            <a:endParaRPr lang="en-US" sz="3200" dirty="0"/>
          </a:p>
        </p:txBody>
      </p:sp>
      <p:sp>
        <p:nvSpPr>
          <p:cNvPr id="4" name="Text 2"/>
          <p:cNvSpPr txBox="1"/>
          <p:nvPr/>
        </p:nvSpPr>
        <p:spPr>
          <a:xfrm>
            <a:off x="640080" y="1243584"/>
            <a:ext cx="10881360" cy="310896"/>
          </a:xfrm>
          <a:prstGeom prst="rect">
            <a:avLst/>
          </a:prstGeom>
          <a:noFill/>
          <a:ln/>
        </p:spPr>
        <p:txBody>
          <a:bodyPr wrap="square" lIns="0" tIns="0" rIns="0" bIns="0" rtlCol="0" anchor="ctr"/>
          <a:lstStyle/>
          <a:p>
            <a:pPr indent="0" marL="0">
              <a:buNone/>
            </a:pPr>
            <a:r>
              <a:rPr lang="en-US" sz="1350" dirty="0">
                <a:solidFill>
                  <a:srgbClr val="8B98A9"/>
                </a:solidFill>
                <a:latin typeface="Calibri" pitchFamily="34" charset="0"/>
                <a:ea typeface="Calibri" pitchFamily="34" charset="-122"/>
                <a:cs typeface="Calibri" pitchFamily="34" charset="-120"/>
              </a:rPr>
              <a:t>Four findings that fell out of the analysis, each reproducible from the database.</a:t>
            </a:r>
            <a:endParaRPr lang="en-US" sz="1350" dirty="0"/>
          </a:p>
        </p:txBody>
      </p:sp>
      <p:sp>
        <p:nvSpPr>
          <p:cNvPr id="5" name="Shape 3"/>
          <p:cNvSpPr/>
          <p:nvPr/>
        </p:nvSpPr>
        <p:spPr>
          <a:xfrm>
            <a:off x="640080" y="1828800"/>
            <a:ext cx="6766560" cy="2514600"/>
          </a:xfrm>
          <a:prstGeom prst="roundRect">
            <a:avLst>
              <a:gd name="adj" fmla="val 2182"/>
            </a:avLst>
          </a:prstGeom>
          <a:solidFill>
            <a:srgbClr val="161D27"/>
          </a:solidFill>
          <a:ln w="9525">
            <a:solidFill>
              <a:srgbClr val="2A3542"/>
            </a:solidFill>
            <a:prstDash val="solid"/>
          </a:ln>
        </p:spPr>
      </p:sp>
      <p:sp>
        <p:nvSpPr>
          <p:cNvPr id="6" name="Text 4"/>
          <p:cNvSpPr txBox="1"/>
          <p:nvPr/>
        </p:nvSpPr>
        <p:spPr>
          <a:xfrm>
            <a:off x="896112" y="1956816"/>
            <a:ext cx="6217920" cy="237744"/>
          </a:xfrm>
          <a:prstGeom prst="rect">
            <a:avLst/>
          </a:prstGeom>
          <a:noFill/>
          <a:ln/>
        </p:spPr>
        <p:txBody>
          <a:bodyPr wrap="square" lIns="0" tIns="0" rIns="0" bIns="0" rtlCol="0" anchor="ctr"/>
          <a:lstStyle/>
          <a:p>
            <a:pPr indent="0" marL="0">
              <a:buNone/>
            </a:pPr>
            <a:r>
              <a:rPr lang="en-US" sz="1050" b="1" dirty="0">
                <a:solidFill>
                  <a:srgbClr val="8B98A9"/>
                </a:solidFill>
                <a:latin typeface="Calibri" pitchFamily="34" charset="0"/>
                <a:ea typeface="Calibri" pitchFamily="34" charset="-122"/>
                <a:cs typeface="Calibri" pitchFamily="34" charset="-120"/>
              </a:rPr>
              <a:t>Goals per match, by edition</a:t>
            </a:r>
            <a:endParaRPr lang="en-US" sz="1050" dirty="0"/>
          </a:p>
        </p:txBody>
      </p:sp>
      <p:sp>
        <p:nvSpPr>
          <p:cNvPr id="7" name="Shape 5"/>
          <p:cNvSpPr/>
          <p:nvPr/>
        </p:nvSpPr>
        <p:spPr>
          <a:xfrm>
            <a:off x="1298448" y="3977640"/>
            <a:ext cx="5852160" cy="914"/>
          </a:xfrm>
          <a:prstGeom prst="line">
            <a:avLst/>
          </a:prstGeom>
          <a:noFill/>
          <a:ln w="6350">
            <a:solidFill>
              <a:srgbClr val="232D3A"/>
            </a:solidFill>
            <a:prstDash val="solid"/>
          </a:ln>
        </p:spPr>
      </p:sp>
      <p:sp>
        <p:nvSpPr>
          <p:cNvPr id="8" name="Text 6"/>
          <p:cNvSpPr txBox="1"/>
          <p:nvPr/>
        </p:nvSpPr>
        <p:spPr>
          <a:xfrm>
            <a:off x="841248" y="3881628"/>
            <a:ext cx="393192" cy="192024"/>
          </a:xfrm>
          <a:prstGeom prst="rect">
            <a:avLst/>
          </a:prstGeom>
          <a:noFill/>
          <a:ln/>
        </p:spPr>
        <p:txBody>
          <a:bodyPr wrap="square" lIns="0" tIns="0" rIns="0" bIns="0" rtlCol="0" anchor="ctr"/>
          <a:lstStyle/>
          <a:p>
            <a:pPr algn="r" indent="0" marL="0">
              <a:buNone/>
            </a:pPr>
            <a:r>
              <a:rPr lang="en-US" sz="750" dirty="0">
                <a:solidFill>
                  <a:srgbClr val="6B7A8C"/>
                </a:solidFill>
                <a:latin typeface="Calibri" pitchFamily="34" charset="0"/>
                <a:ea typeface="Calibri" pitchFamily="34" charset="-122"/>
                <a:cs typeface="Calibri" pitchFamily="34" charset="-120"/>
              </a:rPr>
              <a:t>2.0</a:t>
            </a:r>
            <a:endParaRPr lang="en-US" sz="750" dirty="0"/>
          </a:p>
        </p:txBody>
      </p:sp>
      <p:sp>
        <p:nvSpPr>
          <p:cNvPr id="9" name="Shape 7"/>
          <p:cNvSpPr/>
          <p:nvPr/>
        </p:nvSpPr>
        <p:spPr>
          <a:xfrm>
            <a:off x="1298448" y="3413760"/>
            <a:ext cx="5852160" cy="914"/>
          </a:xfrm>
          <a:prstGeom prst="line">
            <a:avLst/>
          </a:prstGeom>
          <a:noFill/>
          <a:ln w="6350">
            <a:solidFill>
              <a:srgbClr val="232D3A"/>
            </a:solidFill>
            <a:prstDash val="solid"/>
          </a:ln>
        </p:spPr>
      </p:sp>
      <p:sp>
        <p:nvSpPr>
          <p:cNvPr id="10" name="Text 8"/>
          <p:cNvSpPr txBox="1"/>
          <p:nvPr/>
        </p:nvSpPr>
        <p:spPr>
          <a:xfrm>
            <a:off x="841248" y="3317748"/>
            <a:ext cx="393192" cy="192024"/>
          </a:xfrm>
          <a:prstGeom prst="rect">
            <a:avLst/>
          </a:prstGeom>
          <a:noFill/>
          <a:ln/>
        </p:spPr>
        <p:txBody>
          <a:bodyPr wrap="square" lIns="0" tIns="0" rIns="0" bIns="0" rtlCol="0" anchor="ctr"/>
          <a:lstStyle/>
          <a:p>
            <a:pPr algn="r" indent="0" marL="0">
              <a:buNone/>
            </a:pPr>
            <a:r>
              <a:rPr lang="en-US" sz="750" dirty="0">
                <a:solidFill>
                  <a:srgbClr val="6B7A8C"/>
                </a:solidFill>
                <a:latin typeface="Calibri" pitchFamily="34" charset="0"/>
                <a:ea typeface="Calibri" pitchFamily="34" charset="-122"/>
                <a:cs typeface="Calibri" pitchFamily="34" charset="-120"/>
              </a:rPr>
              <a:t>3.2</a:t>
            </a:r>
            <a:endParaRPr lang="en-US" sz="750" dirty="0"/>
          </a:p>
        </p:txBody>
      </p:sp>
      <p:sp>
        <p:nvSpPr>
          <p:cNvPr id="11" name="Shape 9"/>
          <p:cNvSpPr/>
          <p:nvPr/>
        </p:nvSpPr>
        <p:spPr>
          <a:xfrm>
            <a:off x="1298448" y="2849880"/>
            <a:ext cx="5852160" cy="914"/>
          </a:xfrm>
          <a:prstGeom prst="line">
            <a:avLst/>
          </a:prstGeom>
          <a:noFill/>
          <a:ln w="6350">
            <a:solidFill>
              <a:srgbClr val="232D3A"/>
            </a:solidFill>
            <a:prstDash val="solid"/>
          </a:ln>
        </p:spPr>
      </p:sp>
      <p:sp>
        <p:nvSpPr>
          <p:cNvPr id="12" name="Text 10"/>
          <p:cNvSpPr txBox="1"/>
          <p:nvPr/>
        </p:nvSpPr>
        <p:spPr>
          <a:xfrm>
            <a:off x="841248" y="2753868"/>
            <a:ext cx="393192" cy="192024"/>
          </a:xfrm>
          <a:prstGeom prst="rect">
            <a:avLst/>
          </a:prstGeom>
          <a:noFill/>
          <a:ln/>
        </p:spPr>
        <p:txBody>
          <a:bodyPr wrap="square" lIns="0" tIns="0" rIns="0" bIns="0" rtlCol="0" anchor="ctr"/>
          <a:lstStyle/>
          <a:p>
            <a:pPr algn="r" indent="0" marL="0">
              <a:buNone/>
            </a:pPr>
            <a:r>
              <a:rPr lang="en-US" sz="750" dirty="0">
                <a:solidFill>
                  <a:srgbClr val="6B7A8C"/>
                </a:solidFill>
                <a:latin typeface="Calibri" pitchFamily="34" charset="0"/>
                <a:ea typeface="Calibri" pitchFamily="34" charset="-122"/>
                <a:cs typeface="Calibri" pitchFamily="34" charset="-120"/>
              </a:rPr>
              <a:t>4.3</a:t>
            </a:r>
            <a:endParaRPr lang="en-US" sz="750" dirty="0"/>
          </a:p>
        </p:txBody>
      </p:sp>
      <p:sp>
        <p:nvSpPr>
          <p:cNvPr id="13" name="Shape 11"/>
          <p:cNvSpPr/>
          <p:nvPr/>
        </p:nvSpPr>
        <p:spPr>
          <a:xfrm>
            <a:off x="1298448" y="2286000"/>
            <a:ext cx="5852160" cy="914"/>
          </a:xfrm>
          <a:prstGeom prst="line">
            <a:avLst/>
          </a:prstGeom>
          <a:noFill/>
          <a:ln w="6350">
            <a:solidFill>
              <a:srgbClr val="232D3A"/>
            </a:solidFill>
            <a:prstDash val="solid"/>
          </a:ln>
        </p:spPr>
      </p:sp>
      <p:sp>
        <p:nvSpPr>
          <p:cNvPr id="14" name="Text 12"/>
          <p:cNvSpPr txBox="1"/>
          <p:nvPr/>
        </p:nvSpPr>
        <p:spPr>
          <a:xfrm>
            <a:off x="841248" y="2189988"/>
            <a:ext cx="393192" cy="192024"/>
          </a:xfrm>
          <a:prstGeom prst="rect">
            <a:avLst/>
          </a:prstGeom>
          <a:noFill/>
          <a:ln/>
        </p:spPr>
        <p:txBody>
          <a:bodyPr wrap="square" lIns="0" tIns="0" rIns="0" bIns="0" rtlCol="0" anchor="ctr"/>
          <a:lstStyle/>
          <a:p>
            <a:pPr algn="r" indent="0" marL="0">
              <a:buNone/>
            </a:pPr>
            <a:r>
              <a:rPr lang="en-US" sz="750" dirty="0">
                <a:solidFill>
                  <a:srgbClr val="6B7A8C"/>
                </a:solidFill>
                <a:latin typeface="Calibri" pitchFamily="34" charset="0"/>
                <a:ea typeface="Calibri" pitchFamily="34" charset="-122"/>
                <a:cs typeface="Calibri" pitchFamily="34" charset="-120"/>
              </a:rPr>
              <a:t>5.5</a:t>
            </a:r>
            <a:endParaRPr lang="en-US" sz="750" dirty="0"/>
          </a:p>
        </p:txBody>
      </p:sp>
      <p:sp>
        <p:nvSpPr>
          <p:cNvPr id="15" name="Shape 13"/>
          <p:cNvSpPr/>
          <p:nvPr/>
        </p:nvSpPr>
        <p:spPr>
          <a:xfrm flipV="1">
            <a:off x="1298448" y="2952989"/>
            <a:ext cx="266007" cy="111165"/>
          </a:xfrm>
          <a:prstGeom prst="line">
            <a:avLst/>
          </a:prstGeom>
          <a:noFill/>
          <a:ln w="28575">
            <a:solidFill>
              <a:srgbClr val="2DD4A7"/>
            </a:solidFill>
            <a:prstDash val="solid"/>
          </a:ln>
        </p:spPr>
      </p:sp>
      <p:sp>
        <p:nvSpPr>
          <p:cNvPr id="16" name="Shape 14"/>
          <p:cNvSpPr/>
          <p:nvPr/>
        </p:nvSpPr>
        <p:spPr>
          <a:xfrm flipV="1">
            <a:off x="1564455" y="2687160"/>
            <a:ext cx="266007" cy="265829"/>
          </a:xfrm>
          <a:prstGeom prst="line">
            <a:avLst/>
          </a:prstGeom>
          <a:noFill/>
          <a:ln w="28575">
            <a:solidFill>
              <a:srgbClr val="2DD4A7"/>
            </a:solidFill>
            <a:prstDash val="solid"/>
          </a:ln>
        </p:spPr>
      </p:sp>
      <p:sp>
        <p:nvSpPr>
          <p:cNvPr id="17" name="Shape 15"/>
          <p:cNvSpPr/>
          <p:nvPr/>
        </p:nvSpPr>
        <p:spPr>
          <a:xfrm>
            <a:off x="1830463" y="2687160"/>
            <a:ext cx="266007" cy="323828"/>
          </a:xfrm>
          <a:prstGeom prst="line">
            <a:avLst/>
          </a:prstGeom>
          <a:noFill/>
          <a:ln w="28575">
            <a:solidFill>
              <a:srgbClr val="2DD4A7"/>
            </a:solidFill>
            <a:prstDash val="solid"/>
          </a:ln>
        </p:spPr>
      </p:sp>
      <p:sp>
        <p:nvSpPr>
          <p:cNvPr id="18" name="Shape 16"/>
          <p:cNvSpPr/>
          <p:nvPr/>
        </p:nvSpPr>
        <p:spPr>
          <a:xfrm flipV="1">
            <a:off x="2096470" y="2343999"/>
            <a:ext cx="266007" cy="666989"/>
          </a:xfrm>
          <a:prstGeom prst="line">
            <a:avLst/>
          </a:prstGeom>
          <a:noFill/>
          <a:ln w="28575">
            <a:solidFill>
              <a:srgbClr val="2DD4A7"/>
            </a:solidFill>
            <a:prstDash val="solid"/>
          </a:ln>
        </p:spPr>
      </p:sp>
      <p:sp>
        <p:nvSpPr>
          <p:cNvPr id="19" name="Shape 17"/>
          <p:cNvSpPr/>
          <p:nvPr/>
        </p:nvSpPr>
        <p:spPr>
          <a:xfrm>
            <a:off x="2362477" y="2343999"/>
            <a:ext cx="266007" cy="860320"/>
          </a:xfrm>
          <a:prstGeom prst="line">
            <a:avLst/>
          </a:prstGeom>
          <a:noFill/>
          <a:ln w="28575">
            <a:solidFill>
              <a:srgbClr val="2DD4A7"/>
            </a:solidFill>
            <a:prstDash val="solid"/>
          </a:ln>
        </p:spPr>
      </p:sp>
      <p:sp>
        <p:nvSpPr>
          <p:cNvPr id="20" name="Shape 18"/>
          <p:cNvSpPr/>
          <p:nvPr/>
        </p:nvSpPr>
        <p:spPr>
          <a:xfrm>
            <a:off x="2628484" y="3204319"/>
            <a:ext cx="266007" cy="396327"/>
          </a:xfrm>
          <a:prstGeom prst="line">
            <a:avLst/>
          </a:prstGeom>
          <a:noFill/>
          <a:ln w="28575">
            <a:solidFill>
              <a:srgbClr val="2DD4A7"/>
            </a:solidFill>
            <a:prstDash val="solid"/>
          </a:ln>
        </p:spPr>
      </p:sp>
      <p:sp>
        <p:nvSpPr>
          <p:cNvPr id="21" name="Shape 19"/>
          <p:cNvSpPr/>
          <p:nvPr/>
        </p:nvSpPr>
        <p:spPr>
          <a:xfrm>
            <a:off x="2894492" y="3600646"/>
            <a:ext cx="266007" cy="914"/>
          </a:xfrm>
          <a:prstGeom prst="line">
            <a:avLst/>
          </a:prstGeom>
          <a:noFill/>
          <a:ln w="28575">
            <a:solidFill>
              <a:srgbClr val="2DD4A7"/>
            </a:solidFill>
            <a:prstDash val="solid"/>
          </a:ln>
        </p:spPr>
      </p:sp>
      <p:sp>
        <p:nvSpPr>
          <p:cNvPr id="22" name="Shape 20"/>
          <p:cNvSpPr/>
          <p:nvPr/>
        </p:nvSpPr>
        <p:spPr>
          <a:xfrm flipV="1">
            <a:off x="3160499" y="3508814"/>
            <a:ext cx="266007" cy="91832"/>
          </a:xfrm>
          <a:prstGeom prst="line">
            <a:avLst/>
          </a:prstGeom>
          <a:noFill/>
          <a:ln w="28575">
            <a:solidFill>
              <a:srgbClr val="2DD4A7"/>
            </a:solidFill>
            <a:prstDash val="solid"/>
          </a:ln>
        </p:spPr>
      </p:sp>
      <p:sp>
        <p:nvSpPr>
          <p:cNvPr id="23" name="Shape 21"/>
          <p:cNvSpPr/>
          <p:nvPr/>
        </p:nvSpPr>
        <p:spPr>
          <a:xfrm>
            <a:off x="3426506" y="3508814"/>
            <a:ext cx="266007" cy="202997"/>
          </a:xfrm>
          <a:prstGeom prst="line">
            <a:avLst/>
          </a:prstGeom>
          <a:noFill/>
          <a:ln w="28575">
            <a:solidFill>
              <a:srgbClr val="2DD4A7"/>
            </a:solidFill>
            <a:prstDash val="solid"/>
          </a:ln>
        </p:spPr>
      </p:sp>
      <p:sp>
        <p:nvSpPr>
          <p:cNvPr id="24" name="Shape 22"/>
          <p:cNvSpPr/>
          <p:nvPr/>
        </p:nvSpPr>
        <p:spPr>
          <a:xfrm flipV="1">
            <a:off x="3692513" y="3648979"/>
            <a:ext cx="266007" cy="62832"/>
          </a:xfrm>
          <a:prstGeom prst="line">
            <a:avLst/>
          </a:prstGeom>
          <a:noFill/>
          <a:ln w="28575">
            <a:solidFill>
              <a:srgbClr val="2DD4A7"/>
            </a:solidFill>
            <a:prstDash val="solid"/>
          </a:ln>
        </p:spPr>
      </p:sp>
      <p:sp>
        <p:nvSpPr>
          <p:cNvPr id="25" name="Shape 23"/>
          <p:cNvSpPr/>
          <p:nvPr/>
        </p:nvSpPr>
        <p:spPr>
          <a:xfrm flipV="1">
            <a:off x="3958521" y="3586146"/>
            <a:ext cx="266007" cy="62832"/>
          </a:xfrm>
          <a:prstGeom prst="line">
            <a:avLst/>
          </a:prstGeom>
          <a:noFill/>
          <a:ln w="28575">
            <a:solidFill>
              <a:srgbClr val="2DD4A7"/>
            </a:solidFill>
            <a:prstDash val="solid"/>
          </a:ln>
        </p:spPr>
      </p:sp>
      <p:sp>
        <p:nvSpPr>
          <p:cNvPr id="26" name="Shape 24"/>
          <p:cNvSpPr/>
          <p:nvPr/>
        </p:nvSpPr>
        <p:spPr>
          <a:xfrm>
            <a:off x="4224528" y="3586146"/>
            <a:ext cx="266007" cy="130498"/>
          </a:xfrm>
          <a:prstGeom prst="line">
            <a:avLst/>
          </a:prstGeom>
          <a:noFill/>
          <a:ln w="28575">
            <a:solidFill>
              <a:srgbClr val="2DD4A7"/>
            </a:solidFill>
            <a:prstDash val="solid"/>
          </a:ln>
        </p:spPr>
      </p:sp>
      <p:sp>
        <p:nvSpPr>
          <p:cNvPr id="27" name="Shape 25"/>
          <p:cNvSpPr/>
          <p:nvPr/>
        </p:nvSpPr>
        <p:spPr>
          <a:xfrm>
            <a:off x="4490535" y="3716644"/>
            <a:ext cx="266007" cy="159497"/>
          </a:xfrm>
          <a:prstGeom prst="line">
            <a:avLst/>
          </a:prstGeom>
          <a:noFill/>
          <a:ln w="28575">
            <a:solidFill>
              <a:srgbClr val="2DD4A7"/>
            </a:solidFill>
            <a:prstDash val="solid"/>
          </a:ln>
        </p:spPr>
      </p:sp>
      <p:sp>
        <p:nvSpPr>
          <p:cNvPr id="28" name="Shape 26"/>
          <p:cNvSpPr/>
          <p:nvPr/>
        </p:nvSpPr>
        <p:spPr>
          <a:xfrm flipV="1">
            <a:off x="4756543" y="3634479"/>
            <a:ext cx="266007" cy="241663"/>
          </a:xfrm>
          <a:prstGeom prst="line">
            <a:avLst/>
          </a:prstGeom>
          <a:noFill/>
          <a:ln w="28575">
            <a:solidFill>
              <a:srgbClr val="2DD4A7"/>
            </a:solidFill>
            <a:prstDash val="solid"/>
          </a:ln>
        </p:spPr>
      </p:sp>
      <p:sp>
        <p:nvSpPr>
          <p:cNvPr id="29" name="Shape 27"/>
          <p:cNvSpPr/>
          <p:nvPr/>
        </p:nvSpPr>
        <p:spPr>
          <a:xfrm>
            <a:off x="5022550" y="3634479"/>
            <a:ext cx="266007" cy="19333"/>
          </a:xfrm>
          <a:prstGeom prst="line">
            <a:avLst/>
          </a:prstGeom>
          <a:noFill/>
          <a:ln w="28575">
            <a:solidFill>
              <a:srgbClr val="2DD4A7"/>
            </a:solidFill>
            <a:prstDash val="solid"/>
          </a:ln>
        </p:spPr>
      </p:sp>
      <p:sp>
        <p:nvSpPr>
          <p:cNvPr id="30" name="Shape 28"/>
          <p:cNvSpPr/>
          <p:nvPr/>
        </p:nvSpPr>
        <p:spPr>
          <a:xfrm>
            <a:off x="5288557" y="3653812"/>
            <a:ext cx="266007" cy="72499"/>
          </a:xfrm>
          <a:prstGeom prst="line">
            <a:avLst/>
          </a:prstGeom>
          <a:noFill/>
          <a:ln w="28575">
            <a:solidFill>
              <a:srgbClr val="2DD4A7"/>
            </a:solidFill>
            <a:prstDash val="solid"/>
          </a:ln>
        </p:spPr>
      </p:sp>
      <p:sp>
        <p:nvSpPr>
          <p:cNvPr id="31" name="Shape 29"/>
          <p:cNvSpPr/>
          <p:nvPr/>
        </p:nvSpPr>
        <p:spPr>
          <a:xfrm>
            <a:off x="5554564" y="3726311"/>
            <a:ext cx="266007" cy="106332"/>
          </a:xfrm>
          <a:prstGeom prst="line">
            <a:avLst/>
          </a:prstGeom>
          <a:noFill/>
          <a:ln w="28575">
            <a:solidFill>
              <a:srgbClr val="2DD4A7"/>
            </a:solidFill>
            <a:prstDash val="solid"/>
          </a:ln>
        </p:spPr>
      </p:sp>
      <p:sp>
        <p:nvSpPr>
          <p:cNvPr id="32" name="Shape 30"/>
          <p:cNvSpPr/>
          <p:nvPr/>
        </p:nvSpPr>
        <p:spPr>
          <a:xfrm>
            <a:off x="5820572" y="3832642"/>
            <a:ext cx="266007" cy="14500"/>
          </a:xfrm>
          <a:prstGeom prst="line">
            <a:avLst/>
          </a:prstGeom>
          <a:noFill/>
          <a:ln w="28575">
            <a:solidFill>
              <a:srgbClr val="2DD4A7"/>
            </a:solidFill>
            <a:prstDash val="solid"/>
          </a:ln>
        </p:spPr>
      </p:sp>
      <p:sp>
        <p:nvSpPr>
          <p:cNvPr id="33" name="Shape 31"/>
          <p:cNvSpPr/>
          <p:nvPr/>
        </p:nvSpPr>
        <p:spPr>
          <a:xfrm flipV="1">
            <a:off x="6086579" y="3653812"/>
            <a:ext cx="266007" cy="193330"/>
          </a:xfrm>
          <a:prstGeom prst="line">
            <a:avLst/>
          </a:prstGeom>
          <a:noFill/>
          <a:ln w="28575">
            <a:solidFill>
              <a:srgbClr val="2DD4A7"/>
            </a:solidFill>
            <a:prstDash val="solid"/>
          </a:ln>
        </p:spPr>
      </p:sp>
      <p:sp>
        <p:nvSpPr>
          <p:cNvPr id="34" name="Shape 32"/>
          <p:cNvSpPr/>
          <p:nvPr/>
        </p:nvSpPr>
        <p:spPr>
          <a:xfrm>
            <a:off x="6352586" y="3653812"/>
            <a:ext cx="266007" cy="14500"/>
          </a:xfrm>
          <a:prstGeom prst="line">
            <a:avLst/>
          </a:prstGeom>
          <a:noFill/>
          <a:ln w="28575">
            <a:solidFill>
              <a:srgbClr val="2DD4A7"/>
            </a:solidFill>
            <a:prstDash val="solid"/>
          </a:ln>
        </p:spPr>
      </p:sp>
      <p:sp>
        <p:nvSpPr>
          <p:cNvPr id="35" name="Shape 33"/>
          <p:cNvSpPr/>
          <p:nvPr/>
        </p:nvSpPr>
        <p:spPr>
          <a:xfrm flipV="1">
            <a:off x="6618593" y="3644145"/>
            <a:ext cx="266007" cy="24166"/>
          </a:xfrm>
          <a:prstGeom prst="line">
            <a:avLst/>
          </a:prstGeom>
          <a:noFill/>
          <a:ln w="28575">
            <a:solidFill>
              <a:srgbClr val="2DD4A7"/>
            </a:solidFill>
            <a:prstDash val="solid"/>
          </a:ln>
        </p:spPr>
      </p:sp>
      <p:sp>
        <p:nvSpPr>
          <p:cNvPr id="36" name="Shape 34"/>
          <p:cNvSpPr/>
          <p:nvPr/>
        </p:nvSpPr>
        <p:spPr>
          <a:xfrm flipV="1">
            <a:off x="6884601" y="3513647"/>
            <a:ext cx="266007" cy="130498"/>
          </a:xfrm>
          <a:prstGeom prst="line">
            <a:avLst/>
          </a:prstGeom>
          <a:noFill/>
          <a:ln w="28575">
            <a:solidFill>
              <a:srgbClr val="2DD4A7"/>
            </a:solidFill>
            <a:prstDash val="solid"/>
          </a:ln>
        </p:spPr>
      </p:sp>
      <p:sp>
        <p:nvSpPr>
          <p:cNvPr id="37" name="Shape 35"/>
          <p:cNvSpPr/>
          <p:nvPr/>
        </p:nvSpPr>
        <p:spPr>
          <a:xfrm>
            <a:off x="1263701" y="3029407"/>
            <a:ext cx="69494" cy="69494"/>
          </a:xfrm>
          <a:prstGeom prst="ellipse">
            <a:avLst/>
          </a:prstGeom>
          <a:solidFill>
            <a:srgbClr val="2DD4A7"/>
          </a:solidFill>
          <a:ln w="9525">
            <a:solidFill>
              <a:srgbClr val="0D1117"/>
            </a:solidFill>
            <a:prstDash val="solid"/>
          </a:ln>
        </p:spPr>
      </p:sp>
      <p:sp>
        <p:nvSpPr>
          <p:cNvPr id="38" name="Text 36"/>
          <p:cNvSpPr txBox="1"/>
          <p:nvPr/>
        </p:nvSpPr>
        <p:spPr>
          <a:xfrm>
            <a:off x="1005840" y="4105656"/>
            <a:ext cx="585216" cy="182880"/>
          </a:xfrm>
          <a:prstGeom prst="rect">
            <a:avLst/>
          </a:prstGeom>
          <a:noFill/>
          <a:ln/>
        </p:spPr>
        <p:txBody>
          <a:bodyPr wrap="square" lIns="0" tIns="0" rIns="0" bIns="0" rtlCol="0" anchor="t"/>
          <a:lstStyle/>
          <a:p>
            <a:pPr algn="ctr" indent="0" marL="0">
              <a:buNone/>
            </a:pPr>
            <a:r>
              <a:rPr lang="en-US" sz="750" dirty="0">
                <a:solidFill>
                  <a:srgbClr val="6B7A8C"/>
                </a:solidFill>
                <a:latin typeface="Calibri" pitchFamily="34" charset="0"/>
                <a:ea typeface="Calibri" pitchFamily="34" charset="-122"/>
                <a:cs typeface="Calibri" pitchFamily="34" charset="-120"/>
              </a:rPr>
              <a:t>1930</a:t>
            </a:r>
            <a:endParaRPr lang="en-US" sz="750" dirty="0"/>
          </a:p>
        </p:txBody>
      </p:sp>
      <p:sp>
        <p:nvSpPr>
          <p:cNvPr id="39" name="Shape 37"/>
          <p:cNvSpPr/>
          <p:nvPr/>
        </p:nvSpPr>
        <p:spPr>
          <a:xfrm>
            <a:off x="1529708" y="2918242"/>
            <a:ext cx="69494" cy="69494"/>
          </a:xfrm>
          <a:prstGeom prst="ellipse">
            <a:avLst/>
          </a:prstGeom>
          <a:solidFill>
            <a:srgbClr val="2DD4A7"/>
          </a:solidFill>
          <a:ln w="9525">
            <a:solidFill>
              <a:srgbClr val="0D1117"/>
            </a:solidFill>
            <a:prstDash val="solid"/>
          </a:ln>
        </p:spPr>
      </p:sp>
      <p:sp>
        <p:nvSpPr>
          <p:cNvPr id="40" name="Shape 38"/>
          <p:cNvSpPr/>
          <p:nvPr/>
        </p:nvSpPr>
        <p:spPr>
          <a:xfrm>
            <a:off x="1795715" y="2652413"/>
            <a:ext cx="69494" cy="69494"/>
          </a:xfrm>
          <a:prstGeom prst="ellipse">
            <a:avLst/>
          </a:prstGeom>
          <a:solidFill>
            <a:srgbClr val="2DD4A7"/>
          </a:solidFill>
          <a:ln w="9525">
            <a:solidFill>
              <a:srgbClr val="0D1117"/>
            </a:solidFill>
            <a:prstDash val="solid"/>
          </a:ln>
        </p:spPr>
      </p:sp>
      <p:sp>
        <p:nvSpPr>
          <p:cNvPr id="41" name="Shape 39"/>
          <p:cNvSpPr/>
          <p:nvPr/>
        </p:nvSpPr>
        <p:spPr>
          <a:xfrm>
            <a:off x="2061723" y="2976241"/>
            <a:ext cx="69494" cy="69494"/>
          </a:xfrm>
          <a:prstGeom prst="ellipse">
            <a:avLst/>
          </a:prstGeom>
          <a:solidFill>
            <a:srgbClr val="2DD4A7"/>
          </a:solidFill>
          <a:ln w="9525">
            <a:solidFill>
              <a:srgbClr val="0D1117"/>
            </a:solidFill>
            <a:prstDash val="solid"/>
          </a:ln>
        </p:spPr>
      </p:sp>
      <p:sp>
        <p:nvSpPr>
          <p:cNvPr id="42" name="Shape 40"/>
          <p:cNvSpPr/>
          <p:nvPr/>
        </p:nvSpPr>
        <p:spPr>
          <a:xfrm>
            <a:off x="2327730" y="2309252"/>
            <a:ext cx="69494" cy="69494"/>
          </a:xfrm>
          <a:prstGeom prst="ellipse">
            <a:avLst/>
          </a:prstGeom>
          <a:solidFill>
            <a:srgbClr val="2DD4A7"/>
          </a:solidFill>
          <a:ln w="9525">
            <a:solidFill>
              <a:srgbClr val="0D1117"/>
            </a:solidFill>
            <a:prstDash val="solid"/>
          </a:ln>
        </p:spPr>
      </p:sp>
      <p:sp>
        <p:nvSpPr>
          <p:cNvPr id="43" name="Text 41"/>
          <p:cNvSpPr txBox="1"/>
          <p:nvPr/>
        </p:nvSpPr>
        <p:spPr>
          <a:xfrm>
            <a:off x="2069869" y="4105656"/>
            <a:ext cx="585216" cy="182880"/>
          </a:xfrm>
          <a:prstGeom prst="rect">
            <a:avLst/>
          </a:prstGeom>
          <a:noFill/>
          <a:ln/>
        </p:spPr>
        <p:txBody>
          <a:bodyPr wrap="square" lIns="0" tIns="0" rIns="0" bIns="0" rtlCol="0" anchor="t"/>
          <a:lstStyle/>
          <a:p>
            <a:pPr algn="ctr" indent="0" marL="0">
              <a:buNone/>
            </a:pPr>
            <a:r>
              <a:rPr lang="en-US" sz="750" dirty="0">
                <a:solidFill>
                  <a:srgbClr val="6B7A8C"/>
                </a:solidFill>
                <a:latin typeface="Calibri" pitchFamily="34" charset="0"/>
                <a:ea typeface="Calibri" pitchFamily="34" charset="-122"/>
                <a:cs typeface="Calibri" pitchFamily="34" charset="-120"/>
              </a:rPr>
              <a:t>1954</a:t>
            </a:r>
            <a:endParaRPr lang="en-US" sz="750" dirty="0"/>
          </a:p>
        </p:txBody>
      </p:sp>
      <p:sp>
        <p:nvSpPr>
          <p:cNvPr id="44" name="Shape 42"/>
          <p:cNvSpPr/>
          <p:nvPr/>
        </p:nvSpPr>
        <p:spPr>
          <a:xfrm>
            <a:off x="2593737" y="3169572"/>
            <a:ext cx="69494" cy="69494"/>
          </a:xfrm>
          <a:prstGeom prst="ellipse">
            <a:avLst/>
          </a:prstGeom>
          <a:solidFill>
            <a:srgbClr val="2DD4A7"/>
          </a:solidFill>
          <a:ln w="9525">
            <a:solidFill>
              <a:srgbClr val="0D1117"/>
            </a:solidFill>
            <a:prstDash val="solid"/>
          </a:ln>
        </p:spPr>
      </p:sp>
      <p:sp>
        <p:nvSpPr>
          <p:cNvPr id="45" name="Shape 43"/>
          <p:cNvSpPr/>
          <p:nvPr/>
        </p:nvSpPr>
        <p:spPr>
          <a:xfrm>
            <a:off x="2859744" y="3565899"/>
            <a:ext cx="69494" cy="69494"/>
          </a:xfrm>
          <a:prstGeom prst="ellipse">
            <a:avLst/>
          </a:prstGeom>
          <a:solidFill>
            <a:srgbClr val="2DD4A7"/>
          </a:solidFill>
          <a:ln w="9525">
            <a:solidFill>
              <a:srgbClr val="0D1117"/>
            </a:solidFill>
            <a:prstDash val="solid"/>
          </a:ln>
        </p:spPr>
      </p:sp>
      <p:sp>
        <p:nvSpPr>
          <p:cNvPr id="46" name="Shape 44"/>
          <p:cNvSpPr/>
          <p:nvPr/>
        </p:nvSpPr>
        <p:spPr>
          <a:xfrm>
            <a:off x="3125752" y="3565899"/>
            <a:ext cx="69494" cy="69494"/>
          </a:xfrm>
          <a:prstGeom prst="ellipse">
            <a:avLst/>
          </a:prstGeom>
          <a:solidFill>
            <a:srgbClr val="2DD4A7"/>
          </a:solidFill>
          <a:ln w="9525">
            <a:solidFill>
              <a:srgbClr val="0D1117"/>
            </a:solidFill>
            <a:prstDash val="solid"/>
          </a:ln>
        </p:spPr>
      </p:sp>
      <p:sp>
        <p:nvSpPr>
          <p:cNvPr id="47" name="Shape 45"/>
          <p:cNvSpPr/>
          <p:nvPr/>
        </p:nvSpPr>
        <p:spPr>
          <a:xfrm>
            <a:off x="3391759" y="3474067"/>
            <a:ext cx="69494" cy="69494"/>
          </a:xfrm>
          <a:prstGeom prst="ellipse">
            <a:avLst/>
          </a:prstGeom>
          <a:solidFill>
            <a:srgbClr val="2DD4A7"/>
          </a:solidFill>
          <a:ln w="9525">
            <a:solidFill>
              <a:srgbClr val="0D1117"/>
            </a:solidFill>
            <a:prstDash val="solid"/>
          </a:ln>
        </p:spPr>
      </p:sp>
      <p:sp>
        <p:nvSpPr>
          <p:cNvPr id="48" name="Text 46"/>
          <p:cNvSpPr txBox="1"/>
          <p:nvPr/>
        </p:nvSpPr>
        <p:spPr>
          <a:xfrm>
            <a:off x="3133898" y="4105656"/>
            <a:ext cx="585216" cy="182880"/>
          </a:xfrm>
          <a:prstGeom prst="rect">
            <a:avLst/>
          </a:prstGeom>
          <a:noFill/>
          <a:ln/>
        </p:spPr>
        <p:txBody>
          <a:bodyPr wrap="square" lIns="0" tIns="0" rIns="0" bIns="0" rtlCol="0" anchor="t"/>
          <a:lstStyle/>
          <a:p>
            <a:pPr algn="ctr" indent="0" marL="0">
              <a:buNone/>
            </a:pPr>
            <a:r>
              <a:rPr lang="en-US" sz="750" dirty="0">
                <a:solidFill>
                  <a:srgbClr val="6B7A8C"/>
                </a:solidFill>
                <a:latin typeface="Calibri" pitchFamily="34" charset="0"/>
                <a:ea typeface="Calibri" pitchFamily="34" charset="-122"/>
                <a:cs typeface="Calibri" pitchFamily="34" charset="-120"/>
              </a:rPr>
              <a:t>1970</a:t>
            </a:r>
            <a:endParaRPr lang="en-US" sz="750" dirty="0"/>
          </a:p>
        </p:txBody>
      </p:sp>
      <p:sp>
        <p:nvSpPr>
          <p:cNvPr id="49" name="Shape 47"/>
          <p:cNvSpPr/>
          <p:nvPr/>
        </p:nvSpPr>
        <p:spPr>
          <a:xfrm>
            <a:off x="3657766" y="3677064"/>
            <a:ext cx="69494" cy="69494"/>
          </a:xfrm>
          <a:prstGeom prst="ellipse">
            <a:avLst/>
          </a:prstGeom>
          <a:solidFill>
            <a:srgbClr val="2DD4A7"/>
          </a:solidFill>
          <a:ln w="9525">
            <a:solidFill>
              <a:srgbClr val="0D1117"/>
            </a:solidFill>
            <a:prstDash val="solid"/>
          </a:ln>
        </p:spPr>
      </p:sp>
      <p:sp>
        <p:nvSpPr>
          <p:cNvPr id="50" name="Shape 48"/>
          <p:cNvSpPr/>
          <p:nvPr/>
        </p:nvSpPr>
        <p:spPr>
          <a:xfrm>
            <a:off x="3923774" y="3614231"/>
            <a:ext cx="69494" cy="69494"/>
          </a:xfrm>
          <a:prstGeom prst="ellipse">
            <a:avLst/>
          </a:prstGeom>
          <a:solidFill>
            <a:srgbClr val="2DD4A7"/>
          </a:solidFill>
          <a:ln w="9525">
            <a:solidFill>
              <a:srgbClr val="0D1117"/>
            </a:solidFill>
            <a:prstDash val="solid"/>
          </a:ln>
        </p:spPr>
      </p:sp>
      <p:sp>
        <p:nvSpPr>
          <p:cNvPr id="51" name="Shape 49"/>
          <p:cNvSpPr/>
          <p:nvPr/>
        </p:nvSpPr>
        <p:spPr>
          <a:xfrm>
            <a:off x="4189781" y="3551399"/>
            <a:ext cx="69494" cy="69494"/>
          </a:xfrm>
          <a:prstGeom prst="ellipse">
            <a:avLst/>
          </a:prstGeom>
          <a:solidFill>
            <a:srgbClr val="2DD4A7"/>
          </a:solidFill>
          <a:ln w="9525">
            <a:solidFill>
              <a:srgbClr val="0D1117"/>
            </a:solidFill>
            <a:prstDash val="solid"/>
          </a:ln>
        </p:spPr>
      </p:sp>
      <p:sp>
        <p:nvSpPr>
          <p:cNvPr id="52" name="Shape 50"/>
          <p:cNvSpPr/>
          <p:nvPr/>
        </p:nvSpPr>
        <p:spPr>
          <a:xfrm>
            <a:off x="4455788" y="3681897"/>
            <a:ext cx="69494" cy="69494"/>
          </a:xfrm>
          <a:prstGeom prst="ellipse">
            <a:avLst/>
          </a:prstGeom>
          <a:solidFill>
            <a:srgbClr val="2DD4A7"/>
          </a:solidFill>
          <a:ln w="9525">
            <a:solidFill>
              <a:srgbClr val="0D1117"/>
            </a:solidFill>
            <a:prstDash val="solid"/>
          </a:ln>
        </p:spPr>
      </p:sp>
      <p:sp>
        <p:nvSpPr>
          <p:cNvPr id="53" name="Text 51"/>
          <p:cNvSpPr txBox="1"/>
          <p:nvPr/>
        </p:nvSpPr>
        <p:spPr>
          <a:xfrm>
            <a:off x="4197927" y="4105656"/>
            <a:ext cx="585216" cy="182880"/>
          </a:xfrm>
          <a:prstGeom prst="rect">
            <a:avLst/>
          </a:prstGeom>
          <a:noFill/>
          <a:ln/>
        </p:spPr>
        <p:txBody>
          <a:bodyPr wrap="square" lIns="0" tIns="0" rIns="0" bIns="0" rtlCol="0" anchor="t"/>
          <a:lstStyle/>
          <a:p>
            <a:pPr algn="ctr" indent="0" marL="0">
              <a:buNone/>
            </a:pPr>
            <a:r>
              <a:rPr lang="en-US" sz="750" dirty="0">
                <a:solidFill>
                  <a:srgbClr val="6B7A8C"/>
                </a:solidFill>
                <a:latin typeface="Calibri" pitchFamily="34" charset="0"/>
                <a:ea typeface="Calibri" pitchFamily="34" charset="-122"/>
                <a:cs typeface="Calibri" pitchFamily="34" charset="-120"/>
              </a:rPr>
              <a:t>1986</a:t>
            </a:r>
            <a:endParaRPr lang="en-US" sz="750" dirty="0"/>
          </a:p>
        </p:txBody>
      </p:sp>
      <p:sp>
        <p:nvSpPr>
          <p:cNvPr id="54" name="Shape 52"/>
          <p:cNvSpPr/>
          <p:nvPr/>
        </p:nvSpPr>
        <p:spPr>
          <a:xfrm>
            <a:off x="4721795" y="3841394"/>
            <a:ext cx="69494" cy="69494"/>
          </a:xfrm>
          <a:prstGeom prst="ellipse">
            <a:avLst/>
          </a:prstGeom>
          <a:solidFill>
            <a:srgbClr val="2DD4A7"/>
          </a:solidFill>
          <a:ln w="9525">
            <a:solidFill>
              <a:srgbClr val="0D1117"/>
            </a:solidFill>
            <a:prstDash val="solid"/>
          </a:ln>
        </p:spPr>
      </p:sp>
      <p:sp>
        <p:nvSpPr>
          <p:cNvPr id="55" name="Shape 53"/>
          <p:cNvSpPr/>
          <p:nvPr/>
        </p:nvSpPr>
        <p:spPr>
          <a:xfrm>
            <a:off x="4987803" y="3599732"/>
            <a:ext cx="69494" cy="69494"/>
          </a:xfrm>
          <a:prstGeom prst="ellipse">
            <a:avLst/>
          </a:prstGeom>
          <a:solidFill>
            <a:srgbClr val="2DD4A7"/>
          </a:solidFill>
          <a:ln w="9525">
            <a:solidFill>
              <a:srgbClr val="0D1117"/>
            </a:solidFill>
            <a:prstDash val="solid"/>
          </a:ln>
        </p:spPr>
      </p:sp>
      <p:sp>
        <p:nvSpPr>
          <p:cNvPr id="56" name="Shape 54"/>
          <p:cNvSpPr/>
          <p:nvPr/>
        </p:nvSpPr>
        <p:spPr>
          <a:xfrm>
            <a:off x="5253810" y="3619065"/>
            <a:ext cx="69494" cy="69494"/>
          </a:xfrm>
          <a:prstGeom prst="ellipse">
            <a:avLst/>
          </a:prstGeom>
          <a:solidFill>
            <a:srgbClr val="2DD4A7"/>
          </a:solidFill>
          <a:ln w="9525">
            <a:solidFill>
              <a:srgbClr val="0D1117"/>
            </a:solidFill>
            <a:prstDash val="solid"/>
          </a:ln>
        </p:spPr>
      </p:sp>
      <p:sp>
        <p:nvSpPr>
          <p:cNvPr id="57" name="Shape 55"/>
          <p:cNvSpPr/>
          <p:nvPr/>
        </p:nvSpPr>
        <p:spPr>
          <a:xfrm>
            <a:off x="5519817" y="3691563"/>
            <a:ext cx="69494" cy="69494"/>
          </a:xfrm>
          <a:prstGeom prst="ellipse">
            <a:avLst/>
          </a:prstGeom>
          <a:solidFill>
            <a:srgbClr val="2DD4A7"/>
          </a:solidFill>
          <a:ln w="9525">
            <a:solidFill>
              <a:srgbClr val="0D1117"/>
            </a:solidFill>
            <a:prstDash val="solid"/>
          </a:ln>
        </p:spPr>
      </p:sp>
      <p:sp>
        <p:nvSpPr>
          <p:cNvPr id="58" name="Text 56"/>
          <p:cNvSpPr txBox="1"/>
          <p:nvPr/>
        </p:nvSpPr>
        <p:spPr>
          <a:xfrm>
            <a:off x="5261956" y="4105656"/>
            <a:ext cx="585216" cy="182880"/>
          </a:xfrm>
          <a:prstGeom prst="rect">
            <a:avLst/>
          </a:prstGeom>
          <a:noFill/>
          <a:ln/>
        </p:spPr>
        <p:txBody>
          <a:bodyPr wrap="square" lIns="0" tIns="0" rIns="0" bIns="0" rtlCol="0" anchor="t"/>
          <a:lstStyle/>
          <a:p>
            <a:pPr algn="ctr" indent="0" marL="0">
              <a:buNone/>
            </a:pPr>
            <a:r>
              <a:rPr lang="en-US" sz="750" dirty="0">
                <a:solidFill>
                  <a:srgbClr val="6B7A8C"/>
                </a:solidFill>
                <a:latin typeface="Calibri" pitchFamily="34" charset="0"/>
                <a:ea typeface="Calibri" pitchFamily="34" charset="-122"/>
                <a:cs typeface="Calibri" pitchFamily="34" charset="-120"/>
              </a:rPr>
              <a:t>2002</a:t>
            </a:r>
            <a:endParaRPr lang="en-US" sz="750" dirty="0"/>
          </a:p>
        </p:txBody>
      </p:sp>
      <p:sp>
        <p:nvSpPr>
          <p:cNvPr id="59" name="Shape 57"/>
          <p:cNvSpPr/>
          <p:nvPr/>
        </p:nvSpPr>
        <p:spPr>
          <a:xfrm>
            <a:off x="5785824" y="3797895"/>
            <a:ext cx="69494" cy="69494"/>
          </a:xfrm>
          <a:prstGeom prst="ellipse">
            <a:avLst/>
          </a:prstGeom>
          <a:solidFill>
            <a:srgbClr val="2DD4A7"/>
          </a:solidFill>
          <a:ln w="9525">
            <a:solidFill>
              <a:srgbClr val="0D1117"/>
            </a:solidFill>
            <a:prstDash val="solid"/>
          </a:ln>
        </p:spPr>
      </p:sp>
      <p:sp>
        <p:nvSpPr>
          <p:cNvPr id="60" name="Shape 58"/>
          <p:cNvSpPr/>
          <p:nvPr/>
        </p:nvSpPr>
        <p:spPr>
          <a:xfrm>
            <a:off x="6051832" y="3812395"/>
            <a:ext cx="69494" cy="69494"/>
          </a:xfrm>
          <a:prstGeom prst="ellipse">
            <a:avLst/>
          </a:prstGeom>
          <a:solidFill>
            <a:srgbClr val="2DD4A7"/>
          </a:solidFill>
          <a:ln w="9525">
            <a:solidFill>
              <a:srgbClr val="0D1117"/>
            </a:solidFill>
            <a:prstDash val="solid"/>
          </a:ln>
        </p:spPr>
      </p:sp>
      <p:sp>
        <p:nvSpPr>
          <p:cNvPr id="61" name="Shape 59"/>
          <p:cNvSpPr/>
          <p:nvPr/>
        </p:nvSpPr>
        <p:spPr>
          <a:xfrm>
            <a:off x="6317839" y="3619065"/>
            <a:ext cx="69494" cy="69494"/>
          </a:xfrm>
          <a:prstGeom prst="ellipse">
            <a:avLst/>
          </a:prstGeom>
          <a:solidFill>
            <a:srgbClr val="2DD4A7"/>
          </a:solidFill>
          <a:ln w="9525">
            <a:solidFill>
              <a:srgbClr val="0D1117"/>
            </a:solidFill>
            <a:prstDash val="solid"/>
          </a:ln>
        </p:spPr>
      </p:sp>
      <p:sp>
        <p:nvSpPr>
          <p:cNvPr id="62" name="Shape 60"/>
          <p:cNvSpPr/>
          <p:nvPr/>
        </p:nvSpPr>
        <p:spPr>
          <a:xfrm>
            <a:off x="6583846" y="3633564"/>
            <a:ext cx="69494" cy="69494"/>
          </a:xfrm>
          <a:prstGeom prst="ellipse">
            <a:avLst/>
          </a:prstGeom>
          <a:solidFill>
            <a:srgbClr val="2DD4A7"/>
          </a:solidFill>
          <a:ln w="9525">
            <a:solidFill>
              <a:srgbClr val="0D1117"/>
            </a:solidFill>
            <a:prstDash val="solid"/>
          </a:ln>
        </p:spPr>
      </p:sp>
      <p:sp>
        <p:nvSpPr>
          <p:cNvPr id="63" name="Text 61"/>
          <p:cNvSpPr txBox="1"/>
          <p:nvPr/>
        </p:nvSpPr>
        <p:spPr>
          <a:xfrm>
            <a:off x="6325985" y="4105656"/>
            <a:ext cx="585216" cy="182880"/>
          </a:xfrm>
          <a:prstGeom prst="rect">
            <a:avLst/>
          </a:prstGeom>
          <a:noFill/>
          <a:ln/>
        </p:spPr>
        <p:txBody>
          <a:bodyPr wrap="square" lIns="0" tIns="0" rIns="0" bIns="0" rtlCol="0" anchor="t"/>
          <a:lstStyle/>
          <a:p>
            <a:pPr algn="ctr" indent="0" marL="0">
              <a:buNone/>
            </a:pPr>
            <a:r>
              <a:rPr lang="en-US" sz="750" dirty="0">
                <a:solidFill>
                  <a:srgbClr val="6B7A8C"/>
                </a:solidFill>
                <a:latin typeface="Calibri" pitchFamily="34" charset="0"/>
                <a:ea typeface="Calibri" pitchFamily="34" charset="-122"/>
                <a:cs typeface="Calibri" pitchFamily="34" charset="-120"/>
              </a:rPr>
              <a:t>2018</a:t>
            </a:r>
            <a:endParaRPr lang="en-US" sz="750" dirty="0"/>
          </a:p>
        </p:txBody>
      </p:sp>
      <p:sp>
        <p:nvSpPr>
          <p:cNvPr id="64" name="Shape 62"/>
          <p:cNvSpPr/>
          <p:nvPr/>
        </p:nvSpPr>
        <p:spPr>
          <a:xfrm>
            <a:off x="6849854" y="3609398"/>
            <a:ext cx="69494" cy="69494"/>
          </a:xfrm>
          <a:prstGeom prst="ellipse">
            <a:avLst/>
          </a:prstGeom>
          <a:solidFill>
            <a:srgbClr val="2DD4A7"/>
          </a:solidFill>
          <a:ln w="9525">
            <a:solidFill>
              <a:srgbClr val="0D1117"/>
            </a:solidFill>
            <a:prstDash val="solid"/>
          </a:ln>
        </p:spPr>
      </p:sp>
      <p:sp>
        <p:nvSpPr>
          <p:cNvPr id="65" name="Shape 63"/>
          <p:cNvSpPr/>
          <p:nvPr/>
        </p:nvSpPr>
        <p:spPr>
          <a:xfrm>
            <a:off x="7115861" y="3478900"/>
            <a:ext cx="69494" cy="69494"/>
          </a:xfrm>
          <a:prstGeom prst="ellipse">
            <a:avLst/>
          </a:prstGeom>
          <a:solidFill>
            <a:srgbClr val="2DD4A7"/>
          </a:solidFill>
          <a:ln w="9525">
            <a:solidFill>
              <a:srgbClr val="0D1117"/>
            </a:solidFill>
            <a:prstDash val="solid"/>
          </a:ln>
        </p:spPr>
      </p:sp>
      <p:sp>
        <p:nvSpPr>
          <p:cNvPr id="66" name="Text 64"/>
          <p:cNvSpPr txBox="1"/>
          <p:nvPr/>
        </p:nvSpPr>
        <p:spPr>
          <a:xfrm>
            <a:off x="6858000" y="4105656"/>
            <a:ext cx="585216" cy="182880"/>
          </a:xfrm>
          <a:prstGeom prst="rect">
            <a:avLst/>
          </a:prstGeom>
          <a:noFill/>
          <a:ln/>
        </p:spPr>
        <p:txBody>
          <a:bodyPr wrap="square" lIns="0" tIns="0" rIns="0" bIns="0" rtlCol="0" anchor="t"/>
          <a:lstStyle/>
          <a:p>
            <a:pPr algn="ctr" indent="0" marL="0">
              <a:buNone/>
            </a:pPr>
            <a:r>
              <a:rPr lang="en-US" sz="750" dirty="0">
                <a:solidFill>
                  <a:srgbClr val="6B7A8C"/>
                </a:solidFill>
                <a:latin typeface="Calibri" pitchFamily="34" charset="0"/>
                <a:ea typeface="Calibri" pitchFamily="34" charset="-122"/>
                <a:cs typeface="Calibri" pitchFamily="34" charset="-120"/>
              </a:rPr>
              <a:t>2026</a:t>
            </a:r>
            <a:endParaRPr lang="en-US" sz="750" dirty="0"/>
          </a:p>
        </p:txBody>
      </p:sp>
      <p:sp>
        <p:nvSpPr>
          <p:cNvPr id="67" name="Shape 65"/>
          <p:cNvSpPr/>
          <p:nvPr/>
        </p:nvSpPr>
        <p:spPr>
          <a:xfrm>
            <a:off x="7635240" y="1828800"/>
            <a:ext cx="3913632" cy="1216152"/>
          </a:xfrm>
          <a:prstGeom prst="roundRect">
            <a:avLst>
              <a:gd name="adj" fmla="val 4511"/>
            </a:avLst>
          </a:prstGeom>
          <a:solidFill>
            <a:srgbClr val="1C2531"/>
          </a:solidFill>
          <a:ln w="9525">
            <a:solidFill>
              <a:srgbClr val="2A3542"/>
            </a:solidFill>
            <a:prstDash val="solid"/>
          </a:ln>
        </p:spPr>
      </p:sp>
      <p:sp>
        <p:nvSpPr>
          <p:cNvPr id="68" name="Text 66"/>
          <p:cNvSpPr txBox="1"/>
          <p:nvPr/>
        </p:nvSpPr>
        <p:spPr>
          <a:xfrm>
            <a:off x="7891272" y="1956816"/>
            <a:ext cx="1371600" cy="457200"/>
          </a:xfrm>
          <a:prstGeom prst="rect">
            <a:avLst/>
          </a:prstGeom>
          <a:noFill/>
          <a:ln/>
        </p:spPr>
        <p:txBody>
          <a:bodyPr wrap="square" lIns="0" tIns="0" rIns="0" bIns="0" rtlCol="0" anchor="ctr"/>
          <a:lstStyle/>
          <a:p>
            <a:pPr indent="0" marL="0">
              <a:buNone/>
            </a:pPr>
            <a:r>
              <a:rPr lang="en-US" sz="2600" b="1" dirty="0">
                <a:solidFill>
                  <a:srgbClr val="F5C451"/>
                </a:solidFill>
                <a:latin typeface="Arial" pitchFamily="34" charset="0"/>
                <a:ea typeface="Arial" pitchFamily="34" charset="-122"/>
                <a:cs typeface="Arial" pitchFamily="34" charset="-120"/>
              </a:rPr>
              <a:t>5.38</a:t>
            </a:r>
            <a:endParaRPr lang="en-US" sz="2600" dirty="0"/>
          </a:p>
        </p:txBody>
      </p:sp>
      <p:sp>
        <p:nvSpPr>
          <p:cNvPr id="69" name="Text 67"/>
          <p:cNvSpPr txBox="1"/>
          <p:nvPr/>
        </p:nvSpPr>
        <p:spPr>
          <a:xfrm>
            <a:off x="7891272" y="2432304"/>
            <a:ext cx="3429000" cy="502920"/>
          </a:xfrm>
          <a:prstGeom prst="rect">
            <a:avLst/>
          </a:prstGeom>
          <a:noFill/>
          <a:ln/>
        </p:spPr>
        <p:txBody>
          <a:bodyPr wrap="square" lIns="0" tIns="0" rIns="0" bIns="0" rtlCol="0" anchor="t"/>
          <a:lstStyle/>
          <a:p>
            <a:pPr indent="0" marL="0">
              <a:lnSpc>
                <a:spcPct val="114000"/>
              </a:lnSpc>
              <a:buNone/>
            </a:pPr>
            <a:r>
              <a:rPr lang="en-US" sz="1050" dirty="0">
                <a:solidFill>
                  <a:srgbClr val="8B98A9"/>
                </a:solidFill>
                <a:latin typeface="Calibri" pitchFamily="34" charset="0"/>
                <a:ea typeface="Calibri" pitchFamily="34" charset="-122"/>
                <a:cs typeface="Calibri" pitchFamily="34" charset="-120"/>
              </a:rPr>
              <a:t>1954 is the highest-scoring World Cup ever. No edition since 1962 has reached 3.0.</a:t>
            </a:r>
            <a:endParaRPr lang="en-US" sz="1050" dirty="0"/>
          </a:p>
        </p:txBody>
      </p:sp>
      <p:sp>
        <p:nvSpPr>
          <p:cNvPr id="70" name="Shape 68"/>
          <p:cNvSpPr/>
          <p:nvPr/>
        </p:nvSpPr>
        <p:spPr>
          <a:xfrm>
            <a:off x="7635240" y="3127248"/>
            <a:ext cx="3913632" cy="1216152"/>
          </a:xfrm>
          <a:prstGeom prst="roundRect">
            <a:avLst>
              <a:gd name="adj" fmla="val 4511"/>
            </a:avLst>
          </a:prstGeom>
          <a:solidFill>
            <a:srgbClr val="1C2531"/>
          </a:solidFill>
          <a:ln w="9525">
            <a:solidFill>
              <a:srgbClr val="2A3542"/>
            </a:solidFill>
            <a:prstDash val="solid"/>
          </a:ln>
        </p:spPr>
      </p:sp>
      <p:sp>
        <p:nvSpPr>
          <p:cNvPr id="71" name="Text 69"/>
          <p:cNvSpPr txBox="1"/>
          <p:nvPr/>
        </p:nvSpPr>
        <p:spPr>
          <a:xfrm>
            <a:off x="7891272" y="3255264"/>
            <a:ext cx="1371600" cy="457200"/>
          </a:xfrm>
          <a:prstGeom prst="rect">
            <a:avLst/>
          </a:prstGeom>
          <a:noFill/>
          <a:ln/>
        </p:spPr>
        <p:txBody>
          <a:bodyPr wrap="square" lIns="0" tIns="0" rIns="0" bIns="0" rtlCol="0" anchor="ctr"/>
          <a:lstStyle/>
          <a:p>
            <a:pPr indent="0" marL="0">
              <a:buNone/>
            </a:pPr>
            <a:r>
              <a:rPr lang="en-US" sz="2600" b="1" dirty="0">
                <a:solidFill>
                  <a:srgbClr val="2DD4A7"/>
                </a:solidFill>
                <a:latin typeface="Arial" pitchFamily="34" charset="0"/>
                <a:ea typeface="Arial" pitchFamily="34" charset="-122"/>
                <a:cs typeface="Arial" pitchFamily="34" charset="-120"/>
              </a:rPr>
              <a:t>61.2%</a:t>
            </a:r>
            <a:endParaRPr lang="en-US" sz="2600" dirty="0"/>
          </a:p>
        </p:txBody>
      </p:sp>
      <p:sp>
        <p:nvSpPr>
          <p:cNvPr id="72" name="Text 70"/>
          <p:cNvSpPr txBox="1"/>
          <p:nvPr/>
        </p:nvSpPr>
        <p:spPr>
          <a:xfrm>
            <a:off x="7891272" y="3730752"/>
            <a:ext cx="3429000" cy="502920"/>
          </a:xfrm>
          <a:prstGeom prst="rect">
            <a:avLst/>
          </a:prstGeom>
          <a:noFill/>
          <a:ln/>
        </p:spPr>
        <p:txBody>
          <a:bodyPr wrap="square" lIns="0" tIns="0" rIns="0" bIns="0" rtlCol="0" anchor="t"/>
          <a:lstStyle/>
          <a:p>
            <a:pPr indent="0" marL="0">
              <a:lnSpc>
                <a:spcPct val="114000"/>
              </a:lnSpc>
              <a:buNone/>
            </a:pPr>
            <a:r>
              <a:rPr lang="en-US" sz="1050" dirty="0">
                <a:solidFill>
                  <a:srgbClr val="8B98A9"/>
                </a:solidFill>
                <a:latin typeface="Calibri" pitchFamily="34" charset="0"/>
                <a:ea typeface="Calibri" pitchFamily="34" charset="-122"/>
                <a:cs typeface="Calibri" pitchFamily="34" charset="-120"/>
              </a:rPr>
              <a:t>Host nations win 61.2% of their matches; visiting nations win 37.4%.</a:t>
            </a:r>
            <a:endParaRPr lang="en-US" sz="1050" dirty="0"/>
          </a:p>
        </p:txBody>
      </p:sp>
      <p:sp>
        <p:nvSpPr>
          <p:cNvPr id="73" name="Shape 71"/>
          <p:cNvSpPr/>
          <p:nvPr/>
        </p:nvSpPr>
        <p:spPr>
          <a:xfrm>
            <a:off x="640080" y="4526280"/>
            <a:ext cx="5376672" cy="1325880"/>
          </a:xfrm>
          <a:prstGeom prst="roundRect">
            <a:avLst>
              <a:gd name="adj" fmla="val 4138"/>
            </a:avLst>
          </a:prstGeom>
          <a:solidFill>
            <a:srgbClr val="1C2531"/>
          </a:solidFill>
          <a:ln w="9525">
            <a:solidFill>
              <a:srgbClr val="2A3542"/>
            </a:solidFill>
            <a:prstDash val="solid"/>
          </a:ln>
        </p:spPr>
      </p:sp>
      <p:sp>
        <p:nvSpPr>
          <p:cNvPr id="74" name="Text 72"/>
          <p:cNvSpPr txBox="1"/>
          <p:nvPr/>
        </p:nvSpPr>
        <p:spPr>
          <a:xfrm>
            <a:off x="932688" y="4681728"/>
            <a:ext cx="2743200" cy="457200"/>
          </a:xfrm>
          <a:prstGeom prst="rect">
            <a:avLst/>
          </a:prstGeom>
          <a:noFill/>
          <a:ln/>
        </p:spPr>
        <p:txBody>
          <a:bodyPr wrap="square" lIns="0" tIns="0" rIns="0" bIns="0" rtlCol="0" anchor="ctr"/>
          <a:lstStyle/>
          <a:p>
            <a:pPr indent="0" marL="0">
              <a:buNone/>
            </a:pPr>
            <a:r>
              <a:rPr lang="en-US" sz="2600" b="1" dirty="0">
                <a:solidFill>
                  <a:srgbClr val="5AA9F5"/>
                </a:solidFill>
                <a:latin typeface="Arial" pitchFamily="34" charset="0"/>
                <a:ea typeface="Arial" pitchFamily="34" charset="-122"/>
                <a:cs typeface="Arial" pitchFamily="34" charset="-120"/>
              </a:rPr>
              <a:t>+32%</a:t>
            </a:r>
            <a:endParaRPr lang="en-US" sz="2600" dirty="0"/>
          </a:p>
        </p:txBody>
      </p:sp>
      <p:sp>
        <p:nvSpPr>
          <p:cNvPr id="75" name="Text 73"/>
          <p:cNvSpPr txBox="1"/>
          <p:nvPr/>
        </p:nvSpPr>
        <p:spPr>
          <a:xfrm>
            <a:off x="932688" y="5193792"/>
            <a:ext cx="4800600" cy="914400"/>
          </a:xfrm>
          <a:prstGeom prst="rect">
            <a:avLst/>
          </a:prstGeom>
          <a:noFill/>
          <a:ln/>
        </p:spPr>
        <p:txBody>
          <a:bodyPr wrap="square" lIns="0" tIns="0" rIns="0" bIns="0" rtlCol="0" anchor="t"/>
          <a:lstStyle/>
          <a:p>
            <a:pPr indent="0" marL="0">
              <a:lnSpc>
                <a:spcPct val="116000"/>
              </a:lnSpc>
              <a:buNone/>
            </a:pPr>
            <a:r>
              <a:rPr lang="en-US" sz="1150" dirty="0">
                <a:solidFill>
                  <a:srgbClr val="8B98A9"/>
                </a:solidFill>
                <a:latin typeface="Calibri" pitchFamily="34" charset="0"/>
                <a:ea typeface="Calibri" pitchFamily="34" charset="-122"/>
                <a:cs typeface="Calibri" pitchFamily="34" charset="-120"/>
              </a:rPr>
              <a:t>The second half produces 32% more goals than the first — 1,595 against 1,207. The closing 15 minutes are the single most productive window.</a:t>
            </a:r>
            <a:endParaRPr lang="en-US" sz="1150" dirty="0"/>
          </a:p>
        </p:txBody>
      </p:sp>
      <p:sp>
        <p:nvSpPr>
          <p:cNvPr id="76" name="Shape 74"/>
          <p:cNvSpPr/>
          <p:nvPr/>
        </p:nvSpPr>
        <p:spPr>
          <a:xfrm>
            <a:off x="6172200" y="4526280"/>
            <a:ext cx="5376672" cy="1325880"/>
          </a:xfrm>
          <a:prstGeom prst="roundRect">
            <a:avLst>
              <a:gd name="adj" fmla="val 4138"/>
            </a:avLst>
          </a:prstGeom>
          <a:solidFill>
            <a:srgbClr val="1C2531"/>
          </a:solidFill>
          <a:ln w="9525">
            <a:solidFill>
              <a:srgbClr val="2A3542"/>
            </a:solidFill>
            <a:prstDash val="solid"/>
          </a:ln>
        </p:spPr>
      </p:sp>
      <p:sp>
        <p:nvSpPr>
          <p:cNvPr id="77" name="Text 75"/>
          <p:cNvSpPr txBox="1"/>
          <p:nvPr/>
        </p:nvSpPr>
        <p:spPr>
          <a:xfrm>
            <a:off x="6464808" y="4681728"/>
            <a:ext cx="2743200" cy="457200"/>
          </a:xfrm>
          <a:prstGeom prst="rect">
            <a:avLst/>
          </a:prstGeom>
          <a:noFill/>
          <a:ln/>
        </p:spPr>
        <p:txBody>
          <a:bodyPr wrap="square" lIns="0" tIns="0" rIns="0" bIns="0" rtlCol="0" anchor="ctr"/>
          <a:lstStyle/>
          <a:p>
            <a:pPr indent="0" marL="0">
              <a:buNone/>
            </a:pPr>
            <a:r>
              <a:rPr lang="en-US" sz="2600" b="1" dirty="0">
                <a:solidFill>
                  <a:srgbClr val="A78BFA"/>
                </a:solidFill>
                <a:latin typeface="Arial" pitchFamily="34" charset="0"/>
                <a:ea typeface="Arial" pitchFamily="34" charset="-122"/>
                <a:cs typeface="Arial" pitchFamily="34" charset="-120"/>
              </a:rPr>
              <a:t>27% → 2%</a:t>
            </a:r>
            <a:endParaRPr lang="en-US" sz="2600" dirty="0"/>
          </a:p>
        </p:txBody>
      </p:sp>
      <p:sp>
        <p:nvSpPr>
          <p:cNvPr id="78" name="Text 76"/>
          <p:cNvSpPr txBox="1"/>
          <p:nvPr/>
        </p:nvSpPr>
        <p:spPr>
          <a:xfrm>
            <a:off x="6464808" y="5193792"/>
            <a:ext cx="4800600" cy="914400"/>
          </a:xfrm>
          <a:prstGeom prst="rect">
            <a:avLst/>
          </a:prstGeom>
          <a:noFill/>
          <a:ln/>
        </p:spPr>
        <p:txBody>
          <a:bodyPr wrap="square" lIns="0" tIns="0" rIns="0" bIns="0" rtlCol="0" anchor="t"/>
          <a:lstStyle/>
          <a:p>
            <a:pPr indent="0" marL="0">
              <a:lnSpc>
                <a:spcPct val="116000"/>
              </a:lnSpc>
              <a:buNone/>
            </a:pPr>
            <a:r>
              <a:rPr lang="en-US" sz="1150" dirty="0">
                <a:solidFill>
                  <a:srgbClr val="8B98A9"/>
                </a:solidFill>
                <a:latin typeface="Calibri" pitchFamily="34" charset="0"/>
                <a:ea typeface="Calibri" pitchFamily="34" charset="-122"/>
                <a:cs typeface="Calibri" pitchFamily="34" charset="-120"/>
              </a:rPr>
              <a:t>Draw rate collapses as the rating gap widens. This is why the predictor needs a calibrated draw model, not a fixed 25%.</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117"/>
        </a:solidFill>
      </p:bgPr>
    </p:bg>
    <p:spTree>
      <p:nvGrpSpPr>
        <p:cNvPr id="1" name=""/>
        <p:cNvGrpSpPr/>
        <p:nvPr/>
      </p:nvGrpSpPr>
      <p:grpSpPr>
        <a:xfrm>
          <a:off x="0" y="0"/>
          <a:ext cx="0" cy="0"/>
          <a:chOff x="0" y="0"/>
          <a:chExt cx="0" cy="0"/>
        </a:xfrm>
      </p:grpSpPr>
      <p:sp>
        <p:nvSpPr>
          <p:cNvPr id="2" name="Text 0"/>
          <p:cNvSpPr txBox="1"/>
          <p:nvPr/>
        </p:nvSpPr>
        <p:spPr>
          <a:xfrm>
            <a:off x="640080" y="384048"/>
            <a:ext cx="10058400" cy="256032"/>
          </a:xfrm>
          <a:prstGeom prst="rect">
            <a:avLst/>
          </a:prstGeom>
          <a:noFill/>
          <a:ln/>
        </p:spPr>
        <p:txBody>
          <a:bodyPr wrap="square" lIns="0" tIns="0" rIns="0" bIns="0" rtlCol="0" anchor="ctr"/>
          <a:lstStyle/>
          <a:p>
            <a:pPr indent="0" marL="0">
              <a:buNone/>
            </a:pPr>
            <a:r>
              <a:rPr lang="en-US" sz="1100" b="1" spc="200" kern="0" dirty="0">
                <a:solidFill>
                  <a:srgbClr val="2DD4A7"/>
                </a:solidFill>
                <a:latin typeface="Calibri" pitchFamily="34" charset="0"/>
                <a:ea typeface="Calibri" pitchFamily="34" charset="-122"/>
                <a:cs typeface="Calibri" pitchFamily="34" charset="-120"/>
              </a:rPr>
              <a:t>HONEST CLOSE</a:t>
            </a:r>
            <a:endParaRPr lang="en-US" sz="1100" dirty="0"/>
          </a:p>
        </p:txBody>
      </p:sp>
      <p:sp>
        <p:nvSpPr>
          <p:cNvPr id="3" name="Text 1"/>
          <p:cNvSpPr txBox="1"/>
          <p:nvPr/>
        </p:nvSpPr>
        <p:spPr>
          <a:xfrm>
            <a:off x="640080" y="658368"/>
            <a:ext cx="10881360" cy="566928"/>
          </a:xfrm>
          <a:prstGeom prst="rect">
            <a:avLst/>
          </a:prstGeom>
          <a:noFill/>
          <a:ln/>
        </p:spPr>
        <p:txBody>
          <a:bodyPr wrap="square" lIns="0" tIns="0" rIns="0" bIns="0" rtlCol="0" anchor="ctr"/>
          <a:lstStyle/>
          <a:p>
            <a:pPr indent="0" marL="0">
              <a:buNone/>
            </a:pPr>
            <a:r>
              <a:rPr lang="en-US" sz="3200" b="1" dirty="0">
                <a:solidFill>
                  <a:srgbClr val="E6EDF3"/>
                </a:solidFill>
                <a:latin typeface="Arial" pitchFamily="34" charset="0"/>
                <a:ea typeface="Arial" pitchFamily="34" charset="-122"/>
                <a:cs typeface="Arial" pitchFamily="34" charset="-120"/>
              </a:rPr>
              <a:t>What it does not do, and what comes next</a:t>
            </a:r>
            <a:endParaRPr lang="en-US" sz="3200" dirty="0"/>
          </a:p>
        </p:txBody>
      </p:sp>
      <p:sp>
        <p:nvSpPr>
          <p:cNvPr id="4" name="Text 2"/>
          <p:cNvSpPr txBox="1"/>
          <p:nvPr/>
        </p:nvSpPr>
        <p:spPr>
          <a:xfrm>
            <a:off x="640080" y="1243584"/>
            <a:ext cx="10881360" cy="310896"/>
          </a:xfrm>
          <a:prstGeom prst="rect">
            <a:avLst/>
          </a:prstGeom>
          <a:noFill/>
          <a:ln/>
        </p:spPr>
        <p:txBody>
          <a:bodyPr wrap="square" lIns="0" tIns="0" rIns="0" bIns="0" rtlCol="0" anchor="ctr"/>
          <a:lstStyle/>
          <a:p>
            <a:pPr indent="0" marL="0">
              <a:buNone/>
            </a:pPr>
            <a:r>
              <a:rPr lang="en-US" sz="1350" dirty="0">
                <a:solidFill>
                  <a:srgbClr val="8B98A9"/>
                </a:solidFill>
                <a:latin typeface="Calibri" pitchFamily="34" charset="0"/>
                <a:ea typeface="Calibri" pitchFamily="34" charset="-122"/>
                <a:cs typeface="Calibri" pitchFamily="34" charset="-120"/>
              </a:rPr>
              <a:t>Volunteering the limits is stronger than being caught by them.</a:t>
            </a:r>
            <a:endParaRPr lang="en-US" sz="1350" dirty="0"/>
          </a:p>
        </p:txBody>
      </p:sp>
      <p:sp>
        <p:nvSpPr>
          <p:cNvPr id="5" name="Shape 3"/>
          <p:cNvSpPr/>
          <p:nvPr/>
        </p:nvSpPr>
        <p:spPr>
          <a:xfrm>
            <a:off x="640080" y="1828800"/>
            <a:ext cx="5349240" cy="2606040"/>
          </a:xfrm>
          <a:prstGeom prst="roundRect">
            <a:avLst>
              <a:gd name="adj" fmla="val 2105"/>
            </a:avLst>
          </a:prstGeom>
          <a:solidFill>
            <a:srgbClr val="1C2531"/>
          </a:solidFill>
          <a:ln w="9525">
            <a:solidFill>
              <a:srgbClr val="2A3542"/>
            </a:solidFill>
            <a:prstDash val="solid"/>
          </a:ln>
        </p:spPr>
      </p:sp>
      <p:sp>
        <p:nvSpPr>
          <p:cNvPr id="6" name="Text 4"/>
          <p:cNvSpPr txBox="1"/>
          <p:nvPr/>
        </p:nvSpPr>
        <p:spPr>
          <a:xfrm>
            <a:off x="932688" y="2011680"/>
            <a:ext cx="4754880" cy="256032"/>
          </a:xfrm>
          <a:prstGeom prst="rect">
            <a:avLst/>
          </a:prstGeom>
          <a:noFill/>
          <a:ln/>
        </p:spPr>
        <p:txBody>
          <a:bodyPr wrap="square" lIns="0" tIns="0" rIns="0" bIns="0" rtlCol="0" anchor="ctr"/>
          <a:lstStyle/>
          <a:p>
            <a:pPr indent="0" marL="0">
              <a:buNone/>
            </a:pPr>
            <a:r>
              <a:rPr lang="en-US" sz="1450" b="1" dirty="0">
                <a:solidFill>
                  <a:srgbClr val="F2686B"/>
                </a:solidFill>
                <a:latin typeface="Arial" pitchFamily="34" charset="0"/>
                <a:ea typeface="Arial" pitchFamily="34" charset="-122"/>
                <a:cs typeface="Arial" pitchFamily="34" charset="-120"/>
              </a:rPr>
              <a:t>Limitations</a:t>
            </a:r>
            <a:endParaRPr lang="en-US" sz="1450" dirty="0"/>
          </a:p>
        </p:txBody>
      </p:sp>
      <p:sp>
        <p:nvSpPr>
          <p:cNvPr id="7" name="Text 5"/>
          <p:cNvSpPr txBox="1"/>
          <p:nvPr/>
        </p:nvSpPr>
        <p:spPr>
          <a:xfrm>
            <a:off x="932688" y="2359152"/>
            <a:ext cx="4754880" cy="1920240"/>
          </a:xfrm>
          <a:prstGeom prst="rect">
            <a:avLst/>
          </a:prstGeom>
          <a:noFill/>
          <a:ln/>
        </p:spPr>
        <p:txBody>
          <a:bodyPr wrap="square" lIns="0" tIns="0" rIns="0" bIns="0" rtlCol="0" anchor="t"/>
          <a:lstStyle/>
          <a:p>
            <a:pPr marL="342900" indent="-342900">
              <a:lnSpc>
                <a:spcPct val="110000"/>
              </a:lnSpc>
              <a:spcAft>
                <a:spcPts val="700"/>
              </a:spcAft>
              <a:buSzPct val="100000"/>
              <a:buChar char="•"/>
            </a:pPr>
            <a:r>
              <a:rPr lang="en-US" sz="1100" dirty="0">
                <a:solidFill>
                  <a:srgbClr val="8B98A9"/>
                </a:solidFill>
                <a:latin typeface="Calibri" pitchFamily="34" charset="0"/>
                <a:ea typeface="Calibri" pitchFamily="34" charset="-122"/>
                <a:cs typeface="Calibri" pitchFamily="34" charset="-120"/>
              </a:rPr>
              <a:t>Elo uses only results — no squads, injuries or rest. That is the real accuracy ceiling.</a:t>
            </a:r>
            <a:endParaRPr lang="en-US" sz="1100" dirty="0"/>
          </a:p>
          <a:p>
            <a:pPr marL="342900" indent="-342900">
              <a:lnSpc>
                <a:spcPct val="110000"/>
              </a:lnSpc>
              <a:spcAft>
                <a:spcPts val="700"/>
              </a:spcAft>
              <a:buSzPct val="100000"/>
              <a:buChar char="•"/>
            </a:pPr>
            <a:r>
              <a:rPr lang="en-US" sz="1100" dirty="0">
                <a:solidFill>
                  <a:srgbClr val="8B98A9"/>
                </a:solidFill>
                <a:latin typeface="Calibri" pitchFamily="34" charset="0"/>
                <a:ea typeface="Calibri" pitchFamily="34" charset="-122"/>
                <a:cs typeface="Calibri" pitchFamily="34" charset="-120"/>
              </a:rPr>
              <a:t>West Germany and Germany stay separate, as the source records them.</a:t>
            </a:r>
            <a:endParaRPr lang="en-US" sz="1100" dirty="0"/>
          </a:p>
          <a:p>
            <a:pPr marL="342900" indent="-342900">
              <a:lnSpc>
                <a:spcPct val="110000"/>
              </a:lnSpc>
              <a:spcAft>
                <a:spcPts val="700"/>
              </a:spcAft>
              <a:buSzPct val="100000"/>
              <a:buChar char="•"/>
            </a:pPr>
            <a:r>
              <a:rPr lang="en-US" sz="1100" dirty="0">
                <a:solidFill>
                  <a:srgbClr val="8B98A9"/>
                </a:solidFill>
                <a:latin typeface="Calibri" pitchFamily="34" charset="0"/>
                <a:ea typeface="Calibri" pitchFamily="34" charset="-122"/>
                <a:cs typeface="Calibri" pitchFamily="34" charset="-120"/>
              </a:rPr>
              <a:t>The source has no match-stage labels, so group and knockout football cannot be split.</a:t>
            </a:r>
            <a:endParaRPr lang="en-US" sz="1100" dirty="0"/>
          </a:p>
          <a:p>
            <a:pPr marL="342900" indent="-342900">
              <a:lnSpc>
                <a:spcPct val="110000"/>
              </a:lnSpc>
              <a:spcAft>
                <a:spcPts val="700"/>
              </a:spcAft>
              <a:buSzPct val="100000"/>
              <a:buChar char="•"/>
            </a:pPr>
            <a:r>
              <a:rPr lang="en-US" sz="1100" dirty="0">
                <a:solidFill>
                  <a:srgbClr val="8B98A9"/>
                </a:solidFill>
                <a:latin typeface="Calibri" pitchFamily="34" charset="0"/>
                <a:ea typeface="Calibri" pitchFamily="34" charset="-122"/>
                <a:cs typeface="Calibri" pitchFamily="34" charset="-120"/>
              </a:rPr>
              <a:t>Draw calibration is global, not per-era, though draw rates have drifted since 1872.</a:t>
            </a:r>
            <a:endParaRPr lang="en-US" sz="1100" dirty="0"/>
          </a:p>
        </p:txBody>
      </p:sp>
      <p:sp>
        <p:nvSpPr>
          <p:cNvPr id="8" name="Shape 6"/>
          <p:cNvSpPr/>
          <p:nvPr/>
        </p:nvSpPr>
        <p:spPr>
          <a:xfrm>
            <a:off x="6263640" y="1828800"/>
            <a:ext cx="5285232" cy="2606040"/>
          </a:xfrm>
          <a:prstGeom prst="roundRect">
            <a:avLst>
              <a:gd name="adj" fmla="val 2105"/>
            </a:avLst>
          </a:prstGeom>
          <a:solidFill>
            <a:srgbClr val="1C2531"/>
          </a:solidFill>
          <a:ln w="9525">
            <a:solidFill>
              <a:srgbClr val="2A3542"/>
            </a:solidFill>
            <a:prstDash val="solid"/>
          </a:ln>
        </p:spPr>
      </p:sp>
      <p:sp>
        <p:nvSpPr>
          <p:cNvPr id="9" name="Text 7"/>
          <p:cNvSpPr txBox="1"/>
          <p:nvPr/>
        </p:nvSpPr>
        <p:spPr>
          <a:xfrm>
            <a:off x="6556248" y="2011680"/>
            <a:ext cx="4754880" cy="256032"/>
          </a:xfrm>
          <a:prstGeom prst="rect">
            <a:avLst/>
          </a:prstGeom>
          <a:noFill/>
          <a:ln/>
        </p:spPr>
        <p:txBody>
          <a:bodyPr wrap="square" lIns="0" tIns="0" rIns="0" bIns="0" rtlCol="0" anchor="ctr"/>
          <a:lstStyle/>
          <a:p>
            <a:pPr indent="0" marL="0">
              <a:buNone/>
            </a:pPr>
            <a:r>
              <a:rPr lang="en-US" sz="1450" b="1" dirty="0">
                <a:solidFill>
                  <a:srgbClr val="2DD4A7"/>
                </a:solidFill>
                <a:latin typeface="Arial" pitchFamily="34" charset="0"/>
                <a:ea typeface="Arial" pitchFamily="34" charset="-122"/>
                <a:cs typeface="Arial" pitchFamily="34" charset="-120"/>
              </a:rPr>
              <a:t>With more time</a:t>
            </a:r>
            <a:endParaRPr lang="en-US" sz="1450" dirty="0"/>
          </a:p>
        </p:txBody>
      </p:sp>
      <p:sp>
        <p:nvSpPr>
          <p:cNvPr id="10" name="Shape 8"/>
          <p:cNvSpPr/>
          <p:nvPr/>
        </p:nvSpPr>
        <p:spPr>
          <a:xfrm>
            <a:off x="6556248" y="2395728"/>
            <a:ext cx="274320" cy="274320"/>
          </a:xfrm>
          <a:prstGeom prst="ellipse">
            <a:avLst/>
          </a:prstGeom>
          <a:solidFill>
            <a:srgbClr val="2DD4A7"/>
          </a:solidFill>
          <a:ln w="12700">
            <a:solidFill>
              <a:srgbClr val="2DD4A7"/>
            </a:solidFill>
            <a:prstDash val="solid"/>
          </a:ln>
        </p:spPr>
      </p:sp>
      <p:sp>
        <p:nvSpPr>
          <p:cNvPr id="11" name="Text 9"/>
          <p:cNvSpPr txBox="1"/>
          <p:nvPr/>
        </p:nvSpPr>
        <p:spPr>
          <a:xfrm>
            <a:off x="6556248" y="2395728"/>
            <a:ext cx="274320" cy="274320"/>
          </a:xfrm>
          <a:prstGeom prst="rect">
            <a:avLst/>
          </a:prstGeom>
          <a:noFill/>
          <a:ln/>
        </p:spPr>
        <p:txBody>
          <a:bodyPr wrap="square" lIns="0" tIns="0" rIns="0" bIns="0" rtlCol="0" anchor="ctr"/>
          <a:lstStyle/>
          <a:p>
            <a:pPr algn="ctr" indent="0" marL="0">
              <a:buNone/>
            </a:pPr>
            <a:r>
              <a:rPr lang="en-US" sz="1300" b="1" dirty="0">
                <a:solidFill>
                  <a:srgbClr val="07130F"/>
                </a:solidFill>
                <a:latin typeface="Arial" pitchFamily="34" charset="0"/>
                <a:ea typeface="Arial" pitchFamily="34" charset="-122"/>
                <a:cs typeface="Arial" pitchFamily="34" charset="-120"/>
              </a:rPr>
              <a:t>1</a:t>
            </a:r>
            <a:endParaRPr lang="en-US" sz="1300" dirty="0"/>
          </a:p>
        </p:txBody>
      </p:sp>
      <p:sp>
        <p:nvSpPr>
          <p:cNvPr id="12" name="Text 10"/>
          <p:cNvSpPr txBox="1"/>
          <p:nvPr/>
        </p:nvSpPr>
        <p:spPr>
          <a:xfrm>
            <a:off x="6949440" y="2377440"/>
            <a:ext cx="4297680" cy="237744"/>
          </a:xfrm>
          <a:prstGeom prst="rect">
            <a:avLst/>
          </a:prstGeom>
          <a:noFill/>
          <a:ln/>
        </p:spPr>
        <p:txBody>
          <a:bodyPr wrap="square" lIns="0" tIns="0" rIns="0" bIns="0" rtlCol="0" anchor="ctr"/>
          <a:lstStyle/>
          <a:p>
            <a:pPr indent="0" marL="0">
              <a:buNone/>
            </a:pPr>
            <a:r>
              <a:rPr lang="en-US" sz="1250" b="1" dirty="0">
                <a:solidFill>
                  <a:srgbClr val="E6EDF3"/>
                </a:solidFill>
                <a:latin typeface="Arial" pitchFamily="34" charset="0"/>
                <a:ea typeface="Arial" pitchFamily="34" charset="-122"/>
                <a:cs typeface="Arial" pitchFamily="34" charset="-120"/>
              </a:rPr>
              <a:t>Match-stage labels</a:t>
            </a:r>
            <a:endParaRPr lang="en-US" sz="1250" dirty="0"/>
          </a:p>
        </p:txBody>
      </p:sp>
      <p:sp>
        <p:nvSpPr>
          <p:cNvPr id="13" name="Text 11"/>
          <p:cNvSpPr txBox="1"/>
          <p:nvPr/>
        </p:nvSpPr>
        <p:spPr>
          <a:xfrm>
            <a:off x="6949440" y="2615184"/>
            <a:ext cx="4297680" cy="256032"/>
          </a:xfrm>
          <a:prstGeom prst="rect">
            <a:avLst/>
          </a:prstGeom>
          <a:noFill/>
          <a:ln/>
        </p:spPr>
        <p:txBody>
          <a:bodyPr wrap="square" lIns="0" tIns="0" rIns="0" bIns="0" rtlCol="0" anchor="ctr"/>
          <a:lstStyle/>
          <a:p>
            <a:pPr indent="0" marL="0">
              <a:buNone/>
            </a:pPr>
            <a:r>
              <a:rPr lang="en-US" sz="1050" dirty="0">
                <a:solidFill>
                  <a:srgbClr val="8B98A9"/>
                </a:solidFill>
                <a:latin typeface="Calibri" pitchFamily="34" charset="0"/>
                <a:ea typeface="Calibri" pitchFamily="34" charset="-122"/>
                <a:cs typeface="Calibri" pitchFamily="34" charset="-120"/>
              </a:rPr>
              <a:t>separate group from knockout football</a:t>
            </a:r>
            <a:endParaRPr lang="en-US" sz="1050" dirty="0"/>
          </a:p>
        </p:txBody>
      </p:sp>
      <p:sp>
        <p:nvSpPr>
          <p:cNvPr id="14" name="Shape 12"/>
          <p:cNvSpPr/>
          <p:nvPr/>
        </p:nvSpPr>
        <p:spPr>
          <a:xfrm>
            <a:off x="6556248" y="3035808"/>
            <a:ext cx="274320" cy="274320"/>
          </a:xfrm>
          <a:prstGeom prst="ellipse">
            <a:avLst/>
          </a:prstGeom>
          <a:solidFill>
            <a:srgbClr val="2DD4A7"/>
          </a:solidFill>
          <a:ln w="12700">
            <a:solidFill>
              <a:srgbClr val="2DD4A7"/>
            </a:solidFill>
            <a:prstDash val="solid"/>
          </a:ln>
        </p:spPr>
      </p:sp>
      <p:sp>
        <p:nvSpPr>
          <p:cNvPr id="15" name="Text 13"/>
          <p:cNvSpPr txBox="1"/>
          <p:nvPr/>
        </p:nvSpPr>
        <p:spPr>
          <a:xfrm>
            <a:off x="6556248" y="3035808"/>
            <a:ext cx="274320" cy="274320"/>
          </a:xfrm>
          <a:prstGeom prst="rect">
            <a:avLst/>
          </a:prstGeom>
          <a:noFill/>
          <a:ln/>
        </p:spPr>
        <p:txBody>
          <a:bodyPr wrap="square" lIns="0" tIns="0" rIns="0" bIns="0" rtlCol="0" anchor="ctr"/>
          <a:lstStyle/>
          <a:p>
            <a:pPr algn="ctr" indent="0" marL="0">
              <a:buNone/>
            </a:pPr>
            <a:r>
              <a:rPr lang="en-US" sz="1300" b="1" dirty="0">
                <a:solidFill>
                  <a:srgbClr val="07130F"/>
                </a:solidFill>
                <a:latin typeface="Arial" pitchFamily="34" charset="0"/>
                <a:ea typeface="Arial" pitchFamily="34" charset="-122"/>
                <a:cs typeface="Arial" pitchFamily="34" charset="-120"/>
              </a:rPr>
              <a:t>2</a:t>
            </a:r>
            <a:endParaRPr lang="en-US" sz="1300" dirty="0"/>
          </a:p>
        </p:txBody>
      </p:sp>
      <p:sp>
        <p:nvSpPr>
          <p:cNvPr id="16" name="Text 14"/>
          <p:cNvSpPr txBox="1"/>
          <p:nvPr/>
        </p:nvSpPr>
        <p:spPr>
          <a:xfrm>
            <a:off x="6949440" y="3017520"/>
            <a:ext cx="4297680" cy="237744"/>
          </a:xfrm>
          <a:prstGeom prst="rect">
            <a:avLst/>
          </a:prstGeom>
          <a:noFill/>
          <a:ln/>
        </p:spPr>
        <p:txBody>
          <a:bodyPr wrap="square" lIns="0" tIns="0" rIns="0" bIns="0" rtlCol="0" anchor="ctr"/>
          <a:lstStyle/>
          <a:p>
            <a:pPr indent="0" marL="0">
              <a:buNone/>
            </a:pPr>
            <a:r>
              <a:rPr lang="en-US" sz="1250" b="1" dirty="0">
                <a:solidFill>
                  <a:srgbClr val="E6EDF3"/>
                </a:solidFill>
                <a:latin typeface="Arial" pitchFamily="34" charset="0"/>
                <a:ea typeface="Arial" pitchFamily="34" charset="-122"/>
                <a:cs typeface="Arial" pitchFamily="34" charset="-120"/>
              </a:rPr>
              <a:t>Era-adjusted ratings</a:t>
            </a:r>
            <a:endParaRPr lang="en-US" sz="1250" dirty="0"/>
          </a:p>
        </p:txBody>
      </p:sp>
      <p:sp>
        <p:nvSpPr>
          <p:cNvPr id="17" name="Text 15"/>
          <p:cNvSpPr txBox="1"/>
          <p:nvPr/>
        </p:nvSpPr>
        <p:spPr>
          <a:xfrm>
            <a:off x="6949440" y="3255264"/>
            <a:ext cx="4297680" cy="256032"/>
          </a:xfrm>
          <a:prstGeom prst="rect">
            <a:avLst/>
          </a:prstGeom>
          <a:noFill/>
          <a:ln/>
        </p:spPr>
        <p:txBody>
          <a:bodyPr wrap="square" lIns="0" tIns="0" rIns="0" bIns="0" rtlCol="0" anchor="ctr"/>
          <a:lstStyle/>
          <a:p>
            <a:pPr indent="0" marL="0">
              <a:buNone/>
            </a:pPr>
            <a:r>
              <a:rPr lang="en-US" sz="1050" dirty="0">
                <a:solidFill>
                  <a:srgbClr val="8B98A9"/>
                </a:solidFill>
                <a:latin typeface="Calibri" pitchFamily="34" charset="0"/>
                <a:ea typeface="Calibri" pitchFamily="34" charset="-122"/>
                <a:cs typeface="Calibri" pitchFamily="34" charset="-120"/>
              </a:rPr>
              <a:t>a 2000 rating today is not a 2000 rating in 1950</a:t>
            </a:r>
            <a:endParaRPr lang="en-US" sz="1050" dirty="0"/>
          </a:p>
        </p:txBody>
      </p:sp>
      <p:sp>
        <p:nvSpPr>
          <p:cNvPr id="18" name="Shape 16"/>
          <p:cNvSpPr/>
          <p:nvPr/>
        </p:nvSpPr>
        <p:spPr>
          <a:xfrm>
            <a:off x="6556248" y="3675888"/>
            <a:ext cx="274320" cy="274320"/>
          </a:xfrm>
          <a:prstGeom prst="ellipse">
            <a:avLst/>
          </a:prstGeom>
          <a:solidFill>
            <a:srgbClr val="2DD4A7"/>
          </a:solidFill>
          <a:ln w="12700">
            <a:solidFill>
              <a:srgbClr val="2DD4A7"/>
            </a:solidFill>
            <a:prstDash val="solid"/>
          </a:ln>
        </p:spPr>
      </p:sp>
      <p:sp>
        <p:nvSpPr>
          <p:cNvPr id="19" name="Text 17"/>
          <p:cNvSpPr txBox="1"/>
          <p:nvPr/>
        </p:nvSpPr>
        <p:spPr>
          <a:xfrm>
            <a:off x="6556248" y="3675888"/>
            <a:ext cx="274320" cy="274320"/>
          </a:xfrm>
          <a:prstGeom prst="rect">
            <a:avLst/>
          </a:prstGeom>
          <a:noFill/>
          <a:ln/>
        </p:spPr>
        <p:txBody>
          <a:bodyPr wrap="square" lIns="0" tIns="0" rIns="0" bIns="0" rtlCol="0" anchor="ctr"/>
          <a:lstStyle/>
          <a:p>
            <a:pPr algn="ctr" indent="0" marL="0">
              <a:buNone/>
            </a:pPr>
            <a:r>
              <a:rPr lang="en-US" sz="1300" b="1" dirty="0">
                <a:solidFill>
                  <a:srgbClr val="07130F"/>
                </a:solidFill>
                <a:latin typeface="Arial" pitchFamily="34" charset="0"/>
                <a:ea typeface="Arial" pitchFamily="34" charset="-122"/>
                <a:cs typeface="Arial" pitchFamily="34" charset="-120"/>
              </a:rPr>
              <a:t>3</a:t>
            </a:r>
            <a:endParaRPr lang="en-US" sz="1300" dirty="0"/>
          </a:p>
        </p:txBody>
      </p:sp>
      <p:sp>
        <p:nvSpPr>
          <p:cNvPr id="20" name="Text 18"/>
          <p:cNvSpPr txBox="1"/>
          <p:nvPr/>
        </p:nvSpPr>
        <p:spPr>
          <a:xfrm>
            <a:off x="6949440" y="3657600"/>
            <a:ext cx="4297680" cy="237744"/>
          </a:xfrm>
          <a:prstGeom prst="rect">
            <a:avLst/>
          </a:prstGeom>
          <a:noFill/>
          <a:ln/>
        </p:spPr>
        <p:txBody>
          <a:bodyPr wrap="square" lIns="0" tIns="0" rIns="0" bIns="0" rtlCol="0" anchor="ctr"/>
          <a:lstStyle/>
          <a:p>
            <a:pPr indent="0" marL="0">
              <a:buNone/>
            </a:pPr>
            <a:r>
              <a:rPr lang="en-US" sz="1250" b="1" dirty="0">
                <a:solidFill>
                  <a:srgbClr val="E6EDF3"/>
                </a:solidFill>
                <a:latin typeface="Arial" pitchFamily="34" charset="0"/>
                <a:ea typeface="Arial" pitchFamily="34" charset="-122"/>
                <a:cs typeface="Arial" pitchFamily="34" charset="-120"/>
              </a:rPr>
              <a:t>Tournament simulator</a:t>
            </a:r>
            <a:endParaRPr lang="en-US" sz="1250" dirty="0"/>
          </a:p>
        </p:txBody>
      </p:sp>
      <p:sp>
        <p:nvSpPr>
          <p:cNvPr id="21" name="Text 19"/>
          <p:cNvSpPr txBox="1"/>
          <p:nvPr/>
        </p:nvSpPr>
        <p:spPr>
          <a:xfrm>
            <a:off x="6949440" y="3895344"/>
            <a:ext cx="4297680" cy="256032"/>
          </a:xfrm>
          <a:prstGeom prst="rect">
            <a:avLst/>
          </a:prstGeom>
          <a:noFill/>
          <a:ln/>
        </p:spPr>
        <p:txBody>
          <a:bodyPr wrap="square" lIns="0" tIns="0" rIns="0" bIns="0" rtlCol="0" anchor="ctr"/>
          <a:lstStyle/>
          <a:p>
            <a:pPr indent="0" marL="0">
              <a:buNone/>
            </a:pPr>
            <a:r>
              <a:rPr lang="en-US" sz="1050" dirty="0">
                <a:solidFill>
                  <a:srgbClr val="8B98A9"/>
                </a:solidFill>
                <a:latin typeface="Calibri" pitchFamily="34" charset="0"/>
                <a:ea typeface="Calibri" pitchFamily="34" charset="-122"/>
                <a:cs typeface="Calibri" pitchFamily="34" charset="-120"/>
              </a:rPr>
              <a:t>run the bracket 10,000 times for each team's title odds</a:t>
            </a:r>
            <a:endParaRPr lang="en-US" sz="1050" dirty="0"/>
          </a:p>
        </p:txBody>
      </p:sp>
      <p:sp>
        <p:nvSpPr>
          <p:cNvPr id="22" name="Shape 20"/>
          <p:cNvSpPr/>
          <p:nvPr/>
        </p:nvSpPr>
        <p:spPr>
          <a:xfrm>
            <a:off x="640080" y="4663440"/>
            <a:ext cx="10908792" cy="1645920"/>
          </a:xfrm>
          <a:prstGeom prst="roundRect">
            <a:avLst>
              <a:gd name="adj" fmla="val 3333"/>
            </a:avLst>
          </a:prstGeom>
          <a:solidFill>
            <a:srgbClr val="161D27"/>
          </a:solidFill>
          <a:ln w="9525">
            <a:solidFill>
              <a:srgbClr val="2A3542"/>
            </a:solidFill>
            <a:prstDash val="solid"/>
          </a:ln>
        </p:spPr>
      </p:sp>
      <p:sp>
        <p:nvSpPr>
          <p:cNvPr id="23" name="Text 21"/>
          <p:cNvSpPr txBox="1"/>
          <p:nvPr/>
        </p:nvSpPr>
        <p:spPr>
          <a:xfrm>
            <a:off x="1005840" y="4864608"/>
            <a:ext cx="1645920" cy="475488"/>
          </a:xfrm>
          <a:prstGeom prst="rect">
            <a:avLst/>
          </a:prstGeom>
          <a:noFill/>
          <a:ln/>
        </p:spPr>
        <p:txBody>
          <a:bodyPr wrap="square" lIns="0" tIns="0" rIns="0" bIns="0" rtlCol="0" anchor="ctr"/>
          <a:lstStyle/>
          <a:p>
            <a:pPr indent="0" marL="0">
              <a:buNone/>
            </a:pPr>
            <a:r>
              <a:rPr lang="en-US" sz="2400" b="1" dirty="0">
                <a:solidFill>
                  <a:srgbClr val="2DD4A7"/>
                </a:solidFill>
                <a:latin typeface="Arial" pitchFamily="34" charset="0"/>
                <a:ea typeface="Arial" pitchFamily="34" charset="-122"/>
                <a:cs typeface="Arial" pitchFamily="34" charset="-120"/>
              </a:rPr>
              <a:t>49,547</a:t>
            </a:r>
            <a:endParaRPr lang="en-US" sz="2400" dirty="0"/>
          </a:p>
        </p:txBody>
      </p:sp>
      <p:sp>
        <p:nvSpPr>
          <p:cNvPr id="24" name="Text 22"/>
          <p:cNvSpPr txBox="1"/>
          <p:nvPr/>
        </p:nvSpPr>
        <p:spPr>
          <a:xfrm>
            <a:off x="1005840" y="5340096"/>
            <a:ext cx="1645920" cy="237744"/>
          </a:xfrm>
          <a:prstGeom prst="rect">
            <a:avLst/>
          </a:prstGeom>
          <a:noFill/>
          <a:ln/>
        </p:spPr>
        <p:txBody>
          <a:bodyPr wrap="square" lIns="0" tIns="0" rIns="0" bIns="0" rtlCol="0" anchor="ctr"/>
          <a:lstStyle/>
          <a:p>
            <a:pPr indent="0" marL="0">
              <a:buNone/>
            </a:pPr>
            <a:r>
              <a:rPr lang="en-US" sz="1050" b="1" spc="110" kern="0" dirty="0">
                <a:solidFill>
                  <a:srgbClr val="8B98A9"/>
                </a:solidFill>
                <a:latin typeface="Calibri" pitchFamily="34" charset="0"/>
                <a:ea typeface="Calibri" pitchFamily="34" charset="-122"/>
                <a:cs typeface="Calibri" pitchFamily="34" charset="-120"/>
              </a:rPr>
              <a:t>MATCHES ANALYSED</a:t>
            </a:r>
            <a:endParaRPr lang="en-US" sz="1050" dirty="0"/>
          </a:p>
        </p:txBody>
      </p:sp>
      <p:sp>
        <p:nvSpPr>
          <p:cNvPr id="25" name="Text 23"/>
          <p:cNvSpPr txBox="1"/>
          <p:nvPr/>
        </p:nvSpPr>
        <p:spPr>
          <a:xfrm>
            <a:off x="2761488" y="4864608"/>
            <a:ext cx="1645920" cy="475488"/>
          </a:xfrm>
          <a:prstGeom prst="rect">
            <a:avLst/>
          </a:prstGeom>
          <a:noFill/>
          <a:ln/>
        </p:spPr>
        <p:txBody>
          <a:bodyPr wrap="square" lIns="0" tIns="0" rIns="0" bIns="0" rtlCol="0" anchor="ctr"/>
          <a:lstStyle/>
          <a:p>
            <a:pPr indent="0" marL="0">
              <a:buNone/>
            </a:pPr>
            <a:r>
              <a:rPr lang="en-US" sz="2400" b="1" dirty="0">
                <a:solidFill>
                  <a:srgbClr val="E6EDF3"/>
                </a:solidFill>
                <a:latin typeface="Arial" pitchFamily="34" charset="0"/>
                <a:ea typeface="Arial" pitchFamily="34" charset="-122"/>
                <a:cs typeface="Arial" pitchFamily="34" charset="-120"/>
              </a:rPr>
              <a:t>23</a:t>
            </a:r>
            <a:endParaRPr lang="en-US" sz="2400" dirty="0"/>
          </a:p>
        </p:txBody>
      </p:sp>
      <p:sp>
        <p:nvSpPr>
          <p:cNvPr id="26" name="Text 24"/>
          <p:cNvSpPr txBox="1"/>
          <p:nvPr/>
        </p:nvSpPr>
        <p:spPr>
          <a:xfrm>
            <a:off x="2761488" y="5340096"/>
            <a:ext cx="1645920" cy="237744"/>
          </a:xfrm>
          <a:prstGeom prst="rect">
            <a:avLst/>
          </a:prstGeom>
          <a:noFill/>
          <a:ln/>
        </p:spPr>
        <p:txBody>
          <a:bodyPr wrap="square" lIns="0" tIns="0" rIns="0" bIns="0" rtlCol="0" anchor="ctr"/>
          <a:lstStyle/>
          <a:p>
            <a:pPr indent="0" marL="0">
              <a:buNone/>
            </a:pPr>
            <a:r>
              <a:rPr lang="en-US" sz="1050" b="1" spc="110" kern="0" dirty="0">
                <a:solidFill>
                  <a:srgbClr val="8B98A9"/>
                </a:solidFill>
                <a:latin typeface="Calibri" pitchFamily="34" charset="0"/>
                <a:ea typeface="Calibri" pitchFamily="34" charset="-122"/>
                <a:cs typeface="Calibri" pitchFamily="34" charset="-120"/>
              </a:rPr>
              <a:t>WORLD CUPS</a:t>
            </a:r>
            <a:endParaRPr lang="en-US" sz="1050" dirty="0"/>
          </a:p>
        </p:txBody>
      </p:sp>
      <p:sp>
        <p:nvSpPr>
          <p:cNvPr id="27" name="Text 25"/>
          <p:cNvSpPr txBox="1"/>
          <p:nvPr/>
        </p:nvSpPr>
        <p:spPr>
          <a:xfrm>
            <a:off x="4517136" y="4864608"/>
            <a:ext cx="1645920" cy="475488"/>
          </a:xfrm>
          <a:prstGeom prst="rect">
            <a:avLst/>
          </a:prstGeom>
          <a:noFill/>
          <a:ln/>
        </p:spPr>
        <p:txBody>
          <a:bodyPr wrap="square" lIns="0" tIns="0" rIns="0" bIns="0" rtlCol="0" anchor="ctr"/>
          <a:lstStyle/>
          <a:p>
            <a:pPr indent="0" marL="0">
              <a:buNone/>
            </a:pPr>
            <a:r>
              <a:rPr lang="en-US" sz="2400" b="1" dirty="0">
                <a:solidFill>
                  <a:srgbClr val="E6EDF3"/>
                </a:solidFill>
                <a:latin typeface="Arial" pitchFamily="34" charset="0"/>
                <a:ea typeface="Arial" pitchFamily="34" charset="-122"/>
                <a:cs typeface="Arial" pitchFamily="34" charset="-120"/>
              </a:rPr>
              <a:t>337</a:t>
            </a:r>
            <a:endParaRPr lang="en-US" sz="2400" dirty="0"/>
          </a:p>
        </p:txBody>
      </p:sp>
      <p:sp>
        <p:nvSpPr>
          <p:cNvPr id="28" name="Text 26"/>
          <p:cNvSpPr txBox="1"/>
          <p:nvPr/>
        </p:nvSpPr>
        <p:spPr>
          <a:xfrm>
            <a:off x="4517136" y="5340096"/>
            <a:ext cx="1645920" cy="237744"/>
          </a:xfrm>
          <a:prstGeom prst="rect">
            <a:avLst/>
          </a:prstGeom>
          <a:noFill/>
          <a:ln/>
        </p:spPr>
        <p:txBody>
          <a:bodyPr wrap="square" lIns="0" tIns="0" rIns="0" bIns="0" rtlCol="0" anchor="ctr"/>
          <a:lstStyle/>
          <a:p>
            <a:pPr indent="0" marL="0">
              <a:buNone/>
            </a:pPr>
            <a:r>
              <a:rPr lang="en-US" sz="1050" b="1" spc="110" kern="0" dirty="0">
                <a:solidFill>
                  <a:srgbClr val="8B98A9"/>
                </a:solidFill>
                <a:latin typeface="Calibri" pitchFamily="34" charset="0"/>
                <a:ea typeface="Calibri" pitchFamily="34" charset="-122"/>
                <a:cs typeface="Calibri" pitchFamily="34" charset="-120"/>
              </a:rPr>
              <a:t>NATIONS RATED</a:t>
            </a:r>
            <a:endParaRPr lang="en-US" sz="1050" dirty="0"/>
          </a:p>
        </p:txBody>
      </p:sp>
      <p:sp>
        <p:nvSpPr>
          <p:cNvPr id="29" name="Text 27"/>
          <p:cNvSpPr txBox="1"/>
          <p:nvPr/>
        </p:nvSpPr>
        <p:spPr>
          <a:xfrm>
            <a:off x="6272784" y="4864608"/>
            <a:ext cx="1645920" cy="475488"/>
          </a:xfrm>
          <a:prstGeom prst="rect">
            <a:avLst/>
          </a:prstGeom>
          <a:noFill/>
          <a:ln/>
        </p:spPr>
        <p:txBody>
          <a:bodyPr wrap="square" lIns="0" tIns="0" rIns="0" bIns="0" rtlCol="0" anchor="ctr"/>
          <a:lstStyle/>
          <a:p>
            <a:pPr indent="0" marL="0">
              <a:buNone/>
            </a:pPr>
            <a:r>
              <a:rPr lang="en-US" sz="2400" b="1" dirty="0">
                <a:solidFill>
                  <a:srgbClr val="F5C451"/>
                </a:solidFill>
                <a:latin typeface="Arial" pitchFamily="34" charset="0"/>
                <a:ea typeface="Arial" pitchFamily="34" charset="-122"/>
                <a:cs typeface="Arial" pitchFamily="34" charset="-120"/>
              </a:rPr>
              <a:t>60.1%</a:t>
            </a:r>
            <a:endParaRPr lang="en-US" sz="2400" dirty="0"/>
          </a:p>
        </p:txBody>
      </p:sp>
      <p:sp>
        <p:nvSpPr>
          <p:cNvPr id="30" name="Text 28"/>
          <p:cNvSpPr txBox="1"/>
          <p:nvPr/>
        </p:nvSpPr>
        <p:spPr>
          <a:xfrm>
            <a:off x="6272784" y="5340096"/>
            <a:ext cx="1645920" cy="237744"/>
          </a:xfrm>
          <a:prstGeom prst="rect">
            <a:avLst/>
          </a:prstGeom>
          <a:noFill/>
          <a:ln/>
        </p:spPr>
        <p:txBody>
          <a:bodyPr wrap="square" lIns="0" tIns="0" rIns="0" bIns="0" rtlCol="0" anchor="ctr"/>
          <a:lstStyle/>
          <a:p>
            <a:pPr indent="0" marL="0">
              <a:buNone/>
            </a:pPr>
            <a:r>
              <a:rPr lang="en-US" sz="1050" b="1" spc="110" kern="0" dirty="0">
                <a:solidFill>
                  <a:srgbClr val="8B98A9"/>
                </a:solidFill>
                <a:latin typeface="Calibri" pitchFamily="34" charset="0"/>
                <a:ea typeface="Calibri" pitchFamily="34" charset="-122"/>
                <a:cs typeface="Calibri" pitchFamily="34" charset="-120"/>
              </a:rPr>
              <a:t>HELD-OUT ACCURACY</a:t>
            </a:r>
            <a:endParaRPr lang="en-US" sz="1050" dirty="0"/>
          </a:p>
        </p:txBody>
      </p:sp>
      <p:sp>
        <p:nvSpPr>
          <p:cNvPr id="31" name="Text 29"/>
          <p:cNvSpPr txBox="1"/>
          <p:nvPr/>
        </p:nvSpPr>
        <p:spPr>
          <a:xfrm>
            <a:off x="8028432" y="4864608"/>
            <a:ext cx="1645920" cy="475488"/>
          </a:xfrm>
          <a:prstGeom prst="rect">
            <a:avLst/>
          </a:prstGeom>
          <a:noFill/>
          <a:ln/>
        </p:spPr>
        <p:txBody>
          <a:bodyPr wrap="square" lIns="0" tIns="0" rIns="0" bIns="0" rtlCol="0" anchor="ctr"/>
          <a:lstStyle/>
          <a:p>
            <a:pPr indent="0" marL="0">
              <a:buNone/>
            </a:pPr>
            <a:r>
              <a:rPr lang="en-US" sz="2400" b="1" dirty="0">
                <a:solidFill>
                  <a:srgbClr val="E6EDF3"/>
                </a:solidFill>
                <a:latin typeface="Arial" pitchFamily="34" charset="0"/>
                <a:ea typeface="Arial" pitchFamily="34" charset="-122"/>
                <a:cs typeface="Arial" pitchFamily="34" charset="-120"/>
              </a:rPr>
              <a:t>91</a:t>
            </a:r>
            <a:endParaRPr lang="en-US" sz="2400" dirty="0"/>
          </a:p>
        </p:txBody>
      </p:sp>
      <p:sp>
        <p:nvSpPr>
          <p:cNvPr id="32" name="Text 30"/>
          <p:cNvSpPr txBox="1"/>
          <p:nvPr/>
        </p:nvSpPr>
        <p:spPr>
          <a:xfrm>
            <a:off x="8028432" y="5340096"/>
            <a:ext cx="1645920" cy="237744"/>
          </a:xfrm>
          <a:prstGeom prst="rect">
            <a:avLst/>
          </a:prstGeom>
          <a:noFill/>
          <a:ln/>
        </p:spPr>
        <p:txBody>
          <a:bodyPr wrap="square" lIns="0" tIns="0" rIns="0" bIns="0" rtlCol="0" anchor="ctr"/>
          <a:lstStyle/>
          <a:p>
            <a:pPr indent="0" marL="0">
              <a:buNone/>
            </a:pPr>
            <a:r>
              <a:rPr lang="en-US" sz="1050" b="1" spc="110" kern="0" dirty="0">
                <a:solidFill>
                  <a:srgbClr val="8B98A9"/>
                </a:solidFill>
                <a:latin typeface="Calibri" pitchFamily="34" charset="0"/>
                <a:ea typeface="Calibri" pitchFamily="34" charset="-122"/>
                <a:cs typeface="Calibri" pitchFamily="34" charset="-120"/>
              </a:rPr>
              <a:t>TESTS PASSING</a:t>
            </a:r>
            <a:endParaRPr lang="en-US" sz="1050" dirty="0"/>
          </a:p>
        </p:txBody>
      </p:sp>
      <p:sp>
        <p:nvSpPr>
          <p:cNvPr id="33" name="Text 31"/>
          <p:cNvSpPr txBox="1"/>
          <p:nvPr/>
        </p:nvSpPr>
        <p:spPr>
          <a:xfrm>
            <a:off x="9784080" y="4864608"/>
            <a:ext cx="1645920" cy="475488"/>
          </a:xfrm>
          <a:prstGeom prst="rect">
            <a:avLst/>
          </a:prstGeom>
          <a:noFill/>
          <a:ln/>
        </p:spPr>
        <p:txBody>
          <a:bodyPr wrap="square" lIns="0" tIns="0" rIns="0" bIns="0" rtlCol="0" anchor="ctr"/>
          <a:lstStyle/>
          <a:p>
            <a:pPr indent="0" marL="0">
              <a:buNone/>
            </a:pPr>
            <a:r>
              <a:rPr lang="en-US" sz="2400" b="1" dirty="0">
                <a:solidFill>
                  <a:srgbClr val="5AA9F5"/>
                </a:solidFill>
                <a:latin typeface="Arial" pitchFamily="34" charset="0"/>
                <a:ea typeface="Arial" pitchFamily="34" charset="-122"/>
                <a:cs typeface="Arial" pitchFamily="34" charset="-120"/>
              </a:rPr>
              <a:t>~5s</a:t>
            </a:r>
            <a:endParaRPr lang="en-US" sz="2400" dirty="0"/>
          </a:p>
        </p:txBody>
      </p:sp>
      <p:sp>
        <p:nvSpPr>
          <p:cNvPr id="34" name="Text 32"/>
          <p:cNvSpPr txBox="1"/>
          <p:nvPr/>
        </p:nvSpPr>
        <p:spPr>
          <a:xfrm>
            <a:off x="9784080" y="5340096"/>
            <a:ext cx="1645920" cy="237744"/>
          </a:xfrm>
          <a:prstGeom prst="rect">
            <a:avLst/>
          </a:prstGeom>
          <a:noFill/>
          <a:ln/>
        </p:spPr>
        <p:txBody>
          <a:bodyPr wrap="square" lIns="0" tIns="0" rIns="0" bIns="0" rtlCol="0" anchor="ctr"/>
          <a:lstStyle/>
          <a:p>
            <a:pPr indent="0" marL="0">
              <a:buNone/>
            </a:pPr>
            <a:r>
              <a:rPr lang="en-US" sz="1050" b="1" spc="110" kern="0" dirty="0">
                <a:solidFill>
                  <a:srgbClr val="8B98A9"/>
                </a:solidFill>
                <a:latin typeface="Calibri" pitchFamily="34" charset="0"/>
                <a:ea typeface="Calibri" pitchFamily="34" charset="-122"/>
                <a:cs typeface="Calibri" pitchFamily="34" charset="-120"/>
              </a:rPr>
              <a:t>FULL REBUILD</a:t>
            </a:r>
            <a:endParaRPr lang="en-US" sz="1050" dirty="0"/>
          </a:p>
        </p:txBody>
      </p:sp>
      <p:sp>
        <p:nvSpPr>
          <p:cNvPr id="35" name="Text 33"/>
          <p:cNvSpPr txBox="1"/>
          <p:nvPr/>
        </p:nvSpPr>
        <p:spPr>
          <a:xfrm>
            <a:off x="1005840" y="5797296"/>
            <a:ext cx="10241280" cy="274320"/>
          </a:xfrm>
          <a:prstGeom prst="rect">
            <a:avLst/>
          </a:prstGeom>
          <a:noFill/>
          <a:ln/>
        </p:spPr>
        <p:txBody>
          <a:bodyPr wrap="square" lIns="0" tIns="0" rIns="0" bIns="0" rtlCol="0" anchor="ctr"/>
          <a:lstStyle/>
          <a:p>
            <a:pPr indent="0" marL="0">
              <a:buNone/>
            </a:pPr>
            <a:r>
              <a:rPr lang="en-US" sz="1050" dirty="0">
                <a:solidFill>
                  <a:srgbClr val="6B7A8C"/>
                </a:solidFill>
                <a:latin typeface="Courier New" pitchFamily="34" charset="0"/>
                <a:ea typeface="Courier New" pitchFamily="34" charset="-122"/>
                <a:cs typeface="Courier New" pitchFamily="34" charset="-120"/>
              </a:rPr>
              <a:t>github.com/Majeedkhan05/world-cup-analytics        Python · pandas · Flask · SQLite · Chart.js · pytest</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World Cup Analytics</dc:title>
  <dc:subject>PptxGenJS Presentation</dc:subject>
  <dc:creator>Mohammed Majeed Khan</dc:creator>
  <cp:lastModifiedBy>Mohammed Majeed Khan</cp:lastModifiedBy>
  <cp:revision>1</cp:revision>
  <dcterms:created xsi:type="dcterms:W3CDTF">2026-09-04T07:32:27Z</dcterms:created>
  <dcterms:modified xsi:type="dcterms:W3CDTF">2026-09-04T07:32:27Z</dcterms:modified>
</cp:coreProperties>
</file>